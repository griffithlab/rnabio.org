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 id="2147483662" r:id="rId3"/>
  </p:sldMasterIdLst>
  <p:notesMasterIdLst>
    <p:notesMasterId r:id="rId31"/>
  </p:notesMasterIdLst>
  <p:sldIdLst>
    <p:sldId id="256" r:id="rId4"/>
    <p:sldId id="257" r:id="rId5"/>
    <p:sldId id="262" r:id="rId6"/>
    <p:sldId id="541" r:id="rId7"/>
    <p:sldId id="516" r:id="rId8"/>
    <p:sldId id="517" r:id="rId9"/>
    <p:sldId id="525" r:id="rId10"/>
    <p:sldId id="526" r:id="rId11"/>
    <p:sldId id="518" r:id="rId12"/>
    <p:sldId id="520" r:id="rId13"/>
    <p:sldId id="521" r:id="rId14"/>
    <p:sldId id="522" r:id="rId15"/>
    <p:sldId id="527" r:id="rId16"/>
    <p:sldId id="528" r:id="rId17"/>
    <p:sldId id="529" r:id="rId18"/>
    <p:sldId id="524" r:id="rId19"/>
    <p:sldId id="536" r:id="rId20"/>
    <p:sldId id="537" r:id="rId21"/>
    <p:sldId id="538" r:id="rId22"/>
    <p:sldId id="539" r:id="rId23"/>
    <p:sldId id="530" r:id="rId24"/>
    <p:sldId id="531" r:id="rId25"/>
    <p:sldId id="532" r:id="rId26"/>
    <p:sldId id="533" r:id="rId27"/>
    <p:sldId id="535" r:id="rId28"/>
    <p:sldId id="540" r:id="rId29"/>
    <p:sldId id="261" r:id="rId30"/>
  </p:sldIdLst>
  <p:sldSz cx="12192000" cy="6858000"/>
  <p:notesSz cx="6858000" cy="9144000"/>
  <p:embeddedFontLst>
    <p:embeddedFont>
      <p:font typeface="Segoe UI" panose="020B0502040204020203" pitchFamily="3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6" roundtripDataSignature="AMtx7mhVbweRC3svyl4ieGmmriuc70gDv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heme" Target="theme/theme1.xml"/><Relationship Id="rId21" Type="http://schemas.openxmlformats.org/officeDocument/2006/relationships/slide" Target="slides/slide18.xml"/><Relationship Id="rId34" Type="http://schemas.openxmlformats.org/officeDocument/2006/relationships/font" Target="fonts/font3.fntdata"/><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2.fntdata"/><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font" Target="fonts/font1.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customschemas.google.com/relationships/presentationmetadata" Target="meta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font" Target="fonts/font4.fntdata"/><Relationship Id="rId8" Type="http://schemas.openxmlformats.org/officeDocument/2006/relationships/slide" Target="slides/slide5.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 name="Google Shape;6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 name="Google Shape;6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 name="Google Shape;7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 name="Google Shape;8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p:cNvSpPr>
          <p:nvPr>
            <p:ph type="sldImg"/>
          </p:nvPr>
        </p:nvSpPr>
        <p:spPr bwMode="auto">
          <a:xfrm>
            <a:off x="457200" y="720725"/>
            <a:ext cx="6400800" cy="3600450"/>
          </a:xfrm>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4338"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dirty="0">
              <a:latin typeface="Calibri" charset="0"/>
              <a:ea typeface="ＭＳ Ｐゴシック" charset="0"/>
              <a:cs typeface="ＭＳ Ｐゴシック" charset="0"/>
            </a:endParaRPr>
          </a:p>
        </p:txBody>
      </p:sp>
      <p:sp>
        <p:nvSpPr>
          <p:cNvPr id="14339"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CBF8F477-1C66-7642-A3DF-D62E308FE274}" type="slidenum">
              <a:rPr lang="en-US" sz="1300">
                <a:latin typeface="Calibri" charset="0"/>
              </a:rPr>
              <a:pPr eaLnBrk="1" hangingPunct="1"/>
              <a:t>4</a:t>
            </a:fld>
            <a:endParaRPr lang="en-US" sz="1300">
              <a:latin typeface="Calibri" charset="0"/>
            </a:endParaRPr>
          </a:p>
        </p:txBody>
      </p:sp>
    </p:spTree>
    <p:extLst>
      <p:ext uri="{BB962C8B-B14F-4D97-AF65-F5344CB8AC3E}">
        <p14:creationId xmlns:p14="http://schemas.microsoft.com/office/powerpoint/2010/main" val="2918853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58FBEE90-0CDA-3447-B595-4F8759630F3A}" type="slidenum">
              <a:rPr lang="en-US" smtClean="0"/>
              <a:pPr>
                <a:defRPr/>
              </a:pPr>
              <a:t>6</a:t>
            </a:fld>
            <a:endParaRPr lang="en-US"/>
          </a:p>
        </p:txBody>
      </p:sp>
    </p:spTree>
    <p:extLst>
      <p:ext uri="{BB962C8B-B14F-4D97-AF65-F5344CB8AC3E}">
        <p14:creationId xmlns:p14="http://schemas.microsoft.com/office/powerpoint/2010/main" val="11905922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58FBEE90-0CDA-3447-B595-4F8759630F3A}" type="slidenum">
              <a:rPr lang="en-US" smtClean="0"/>
              <a:pPr>
                <a:defRPr/>
              </a:pPr>
              <a:t>7</a:t>
            </a:fld>
            <a:endParaRPr lang="en-US"/>
          </a:p>
        </p:txBody>
      </p:sp>
    </p:spTree>
    <p:extLst>
      <p:ext uri="{BB962C8B-B14F-4D97-AF65-F5344CB8AC3E}">
        <p14:creationId xmlns:p14="http://schemas.microsoft.com/office/powerpoint/2010/main" val="36520894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58FBEE90-0CDA-3447-B595-4F8759630F3A}" type="slidenum">
              <a:rPr lang="en-US" smtClean="0"/>
              <a:pPr>
                <a:defRPr/>
              </a:pPr>
              <a:t>8</a:t>
            </a:fld>
            <a:endParaRPr lang="en-US"/>
          </a:p>
        </p:txBody>
      </p:sp>
    </p:spTree>
    <p:extLst>
      <p:ext uri="{BB962C8B-B14F-4D97-AF65-F5344CB8AC3E}">
        <p14:creationId xmlns:p14="http://schemas.microsoft.com/office/powerpoint/2010/main" val="28672757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use TPM, the sum of all TPMs in each sample are the same. This makes it easier to compare the proportion of reads that mapped to a gene in each sample. In contrast, with RPKM and FPKM, the sum of the normalized reads in each sample may be different, and this makes it harder to compare samples directly.</a:t>
            </a:r>
          </a:p>
        </p:txBody>
      </p:sp>
      <p:sp>
        <p:nvSpPr>
          <p:cNvPr id="4" name="Slide Number Placeholder 3"/>
          <p:cNvSpPr>
            <a:spLocks noGrp="1"/>
          </p:cNvSpPr>
          <p:nvPr>
            <p:ph type="sldNum" sz="quarter" idx="10"/>
          </p:nvPr>
        </p:nvSpPr>
        <p:spPr/>
        <p:txBody>
          <a:bodyPr/>
          <a:lstStyle/>
          <a:p>
            <a:pPr>
              <a:defRPr/>
            </a:pPr>
            <a:fld id="{58FBEE90-0CDA-3447-B595-4F8759630F3A}" type="slidenum">
              <a:rPr lang="en-US" smtClean="0"/>
              <a:pPr>
                <a:defRPr/>
              </a:pPr>
              <a:t>9</a:t>
            </a:fld>
            <a:endParaRPr lang="en-US"/>
          </a:p>
        </p:txBody>
      </p:sp>
    </p:spTree>
    <p:extLst>
      <p:ext uri="{BB962C8B-B14F-4D97-AF65-F5344CB8AC3E}">
        <p14:creationId xmlns:p14="http://schemas.microsoft.com/office/powerpoint/2010/main" val="512950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ＭＳ Ｐゴシック" pitchFamily="-28" charset="-128"/>
                <a:cs typeface="ＭＳ Ｐゴシック" pitchFamily="-28" charset="-128"/>
              </a:rPr>
              <a:t>The StringTie algorithm: RNA-</a:t>
            </a:r>
            <a:r>
              <a:rPr lang="en-US" sz="1200" b="0" i="0" u="none" strike="noStrike" kern="1200" baseline="0" dirty="0" err="1">
                <a:solidFill>
                  <a:schemeClr val="tx1"/>
                </a:solidFill>
                <a:latin typeface="+mn-lt"/>
                <a:ea typeface="ＭＳ Ｐゴシック" pitchFamily="-28" charset="-128"/>
                <a:cs typeface="ＭＳ Ｐゴシック" pitchFamily="-28" charset="-128"/>
              </a:rPr>
              <a:t>seq</a:t>
            </a:r>
            <a:r>
              <a:rPr lang="en-US" sz="1200" b="0" i="0" u="none" strike="noStrike" kern="1200" baseline="0" dirty="0">
                <a:solidFill>
                  <a:schemeClr val="tx1"/>
                </a:solidFill>
                <a:latin typeface="+mn-lt"/>
                <a:ea typeface="ＭＳ Ｐゴシック" pitchFamily="-28" charset="-128"/>
                <a:cs typeface="ＭＳ Ｐゴシック" pitchFamily="-28" charset="-128"/>
              </a:rPr>
              <a:t> reads are assembled into super-reads (Step 1) and then super-reads plus un-assembled reads are mapped to the genome (Step 2). In Step 3, mapped reads and super-reads are used to build an alternative splice graph. We use the path from source (s) to sink (t) with the heaviest coverage to build a flow network corresponding to the transcript represented by that path (Step 4). The maximum flow in this network represents the coverage of one assembled transcript, which is removed from the splice graph (Step 5). Steps 4 and 5 are repeated until no more transcripts can be assembled. </a:t>
            </a:r>
            <a:endParaRPr lang="en-US" dirty="0"/>
          </a:p>
        </p:txBody>
      </p:sp>
      <p:sp>
        <p:nvSpPr>
          <p:cNvPr id="4" name="Slide Number Placeholder 3"/>
          <p:cNvSpPr>
            <a:spLocks noGrp="1"/>
          </p:cNvSpPr>
          <p:nvPr>
            <p:ph type="sldNum" sz="quarter" idx="10"/>
          </p:nvPr>
        </p:nvSpPr>
        <p:spPr/>
        <p:txBody>
          <a:bodyPr/>
          <a:lstStyle/>
          <a:p>
            <a:pPr>
              <a:defRPr/>
            </a:pPr>
            <a:fld id="{F3969550-FBCF-404B-9FAA-7B1DCDF2C4FF}" type="slidenum">
              <a:rPr lang="en-US" smtClean="0"/>
              <a:pPr>
                <a:defRPr/>
              </a:pPr>
              <a:t>10</a:t>
            </a:fld>
            <a:endParaRPr lang="en-US"/>
          </a:p>
        </p:txBody>
      </p:sp>
    </p:spTree>
    <p:extLst>
      <p:ext uri="{BB962C8B-B14F-4D97-AF65-F5344CB8AC3E}">
        <p14:creationId xmlns:p14="http://schemas.microsoft.com/office/powerpoint/2010/main" val="11974204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ＭＳ Ｐゴシック" pitchFamily="-28" charset="-128"/>
                <a:cs typeface="ＭＳ Ｐゴシック" pitchFamily="-28" charset="-128"/>
              </a:rPr>
              <a:t>Flow network associated with a transcript (shown with colored nodes). 15 fragments (shown in grey) align to the transcript. Two nodes in the flow network are connected if a fragment starts and ends at those nodes. E.g., nodes 1 and 5 are connected because fragment (a) starts at node 1 and ends at node 5. For each colored node in the transcript, two nodes are created in the flow network. Capacities on edges (not connecting source or sink) are shown in red. </a:t>
            </a:r>
          </a:p>
          <a:p>
            <a:endParaRPr lang="en-US" sz="1200" b="0" i="0" u="none" strike="noStrike" kern="1200" baseline="0" dirty="0">
              <a:solidFill>
                <a:schemeClr val="tx1"/>
              </a:solidFill>
              <a:latin typeface="+mn-lt"/>
              <a:ea typeface="ＭＳ Ｐゴシック" pitchFamily="-28" charset="-128"/>
              <a:cs typeface="ＭＳ Ｐゴシック" pitchFamily="-28" charset="-128"/>
            </a:endParaRPr>
          </a:p>
          <a:p>
            <a:r>
              <a:rPr lang="en-US" sz="1200" b="0" i="0" u="none" strike="noStrike" kern="1200" baseline="0" dirty="0">
                <a:solidFill>
                  <a:schemeClr val="tx1"/>
                </a:solidFill>
                <a:latin typeface="+mn-lt"/>
                <a:ea typeface="ＭＳ Ｐゴシック" pitchFamily="-28" charset="-128"/>
                <a:cs typeface="ＭＳ Ｐゴシック" pitchFamily="-28" charset="-128"/>
              </a:rPr>
              <a:t>In the first node (corresponding to exon1) there are 7 fragments. One of these fragments is connected to exon5 (starts at beginning of exon1 and ends at end of exon5), while 6 fragments are connected to exon3. In the second node (corresponding to exon3) there are 13 fragments, of which 3 are connected to exon 5. The final node (corresponding to exon5) has 4 supporting fragments. The maximum flow is clearly 1 – 3 – 5. </a:t>
            </a:r>
          </a:p>
          <a:p>
            <a:endParaRPr lang="en-US" sz="1200" b="0" i="0" u="none" strike="noStrike" kern="1200" baseline="0" dirty="0">
              <a:solidFill>
                <a:schemeClr val="tx1"/>
              </a:solidFill>
              <a:latin typeface="+mn-lt"/>
              <a:ea typeface="ＭＳ Ｐゴシック" pitchFamily="-28" charset="-128"/>
              <a:cs typeface="ＭＳ Ｐゴシック" pitchFamily="-28" charset="-128"/>
            </a:endParaRPr>
          </a:p>
          <a:p>
            <a:r>
              <a:rPr lang="en-US" sz="1200" b="0" i="0" u="none" strike="noStrike" kern="1200" baseline="0" dirty="0">
                <a:solidFill>
                  <a:schemeClr val="tx1"/>
                </a:solidFill>
                <a:latin typeface="+mn-lt"/>
                <a:ea typeface="ＭＳ Ｐゴシック" pitchFamily="-28" charset="-128"/>
                <a:cs typeface="ＭＳ Ｐゴシック" pitchFamily="-28" charset="-128"/>
              </a:rPr>
              <a:t>StringTie estimates the coverage level of the transcript by solving a maximum-flow problem that determines the maximum number of fragments that can be associated with the chosen transcript. </a:t>
            </a:r>
          </a:p>
          <a:p>
            <a:endParaRPr lang="en-US" sz="1200" b="0" i="0" u="none" strike="noStrike" kern="1200" baseline="0" dirty="0">
              <a:solidFill>
                <a:schemeClr val="tx1"/>
              </a:solidFill>
              <a:latin typeface="+mn-lt"/>
              <a:ea typeface="ＭＳ Ｐゴシック" pitchFamily="-28" charset="-128"/>
              <a:cs typeface="ＭＳ Ｐゴシック" pitchFamily="-28" charset="-128"/>
            </a:endParaRPr>
          </a:p>
          <a:p>
            <a:r>
              <a:rPr lang="en-US" dirty="0"/>
              <a:t>The maximum flow problem is a well-studied problem in optimization theory.</a:t>
            </a:r>
          </a:p>
        </p:txBody>
      </p:sp>
      <p:sp>
        <p:nvSpPr>
          <p:cNvPr id="4" name="Slide Number Placeholder 3"/>
          <p:cNvSpPr>
            <a:spLocks noGrp="1"/>
          </p:cNvSpPr>
          <p:nvPr>
            <p:ph type="sldNum" sz="quarter" idx="10"/>
          </p:nvPr>
        </p:nvSpPr>
        <p:spPr/>
        <p:txBody>
          <a:bodyPr/>
          <a:lstStyle/>
          <a:p>
            <a:pPr>
              <a:defRPr/>
            </a:pPr>
            <a:fld id="{F3969550-FBCF-404B-9FAA-7B1DCDF2C4FF}" type="slidenum">
              <a:rPr lang="en-US" smtClean="0"/>
              <a:pPr>
                <a:defRPr/>
              </a:pPr>
              <a:t>11</a:t>
            </a:fld>
            <a:endParaRPr lang="en-US"/>
          </a:p>
        </p:txBody>
      </p:sp>
    </p:spTree>
    <p:extLst>
      <p:ext uri="{BB962C8B-B14F-4D97-AF65-F5344CB8AC3E}">
        <p14:creationId xmlns:p14="http://schemas.microsoft.com/office/powerpoint/2010/main" val="16518079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C65747-E6F5-D94A-981D-658B04DED679}" type="slidenum">
              <a:rPr lang="en-US" smtClean="0"/>
              <a:t>12</a:t>
            </a:fld>
            <a:endParaRPr lang="en-US"/>
          </a:p>
        </p:txBody>
      </p:sp>
    </p:spTree>
    <p:extLst>
      <p:ext uri="{BB962C8B-B14F-4D97-AF65-F5344CB8AC3E}">
        <p14:creationId xmlns:p14="http://schemas.microsoft.com/office/powerpoint/2010/main" val="5767243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C65747-E6F5-D94A-981D-658B04DED679}" type="slidenum">
              <a:rPr lang="en-US" smtClean="0"/>
              <a:t>13</a:t>
            </a:fld>
            <a:endParaRPr lang="en-US"/>
          </a:p>
        </p:txBody>
      </p:sp>
    </p:spTree>
    <p:extLst>
      <p:ext uri="{BB962C8B-B14F-4D97-AF65-F5344CB8AC3E}">
        <p14:creationId xmlns:p14="http://schemas.microsoft.com/office/powerpoint/2010/main" val="23142459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1C65747-E6F5-D94A-981D-658B04DED679}" type="slidenum">
              <a:rPr lang="en-US" smtClean="0"/>
              <a:t>14</a:t>
            </a:fld>
            <a:endParaRPr lang="en-US"/>
          </a:p>
        </p:txBody>
      </p:sp>
    </p:spTree>
    <p:extLst>
      <p:ext uri="{BB962C8B-B14F-4D97-AF65-F5344CB8AC3E}">
        <p14:creationId xmlns:p14="http://schemas.microsoft.com/office/powerpoint/2010/main" val="3000588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recommend </a:t>
            </a:r>
            <a:r>
              <a:rPr lang="en-US" dirty="0" err="1"/>
              <a:t>intersection_strict</a:t>
            </a:r>
            <a:endParaRPr lang="en-US" dirty="0"/>
          </a:p>
        </p:txBody>
      </p:sp>
      <p:sp>
        <p:nvSpPr>
          <p:cNvPr id="4" name="Slide Number Placeholder 3"/>
          <p:cNvSpPr>
            <a:spLocks noGrp="1"/>
          </p:cNvSpPr>
          <p:nvPr>
            <p:ph type="sldNum" sz="quarter" idx="10"/>
          </p:nvPr>
        </p:nvSpPr>
        <p:spPr/>
        <p:txBody>
          <a:bodyPr/>
          <a:lstStyle/>
          <a:p>
            <a:pPr>
              <a:defRPr/>
            </a:pPr>
            <a:fld id="{F3969550-FBCF-404B-9FAA-7B1DCDF2C4FF}" type="slidenum">
              <a:rPr lang="en-US" smtClean="0"/>
              <a:pPr>
                <a:defRPr/>
              </a:pPr>
              <a:t>15</a:t>
            </a:fld>
            <a:endParaRPr lang="en-US"/>
          </a:p>
        </p:txBody>
      </p:sp>
    </p:spTree>
    <p:extLst>
      <p:ext uri="{BB962C8B-B14F-4D97-AF65-F5344CB8AC3E}">
        <p14:creationId xmlns:p14="http://schemas.microsoft.com/office/powerpoint/2010/main" val="39147539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C65747-E6F5-D94A-981D-658B04DED679}" type="slidenum">
              <a:rPr lang="en-US" smtClean="0"/>
              <a:t>23</a:t>
            </a:fld>
            <a:endParaRPr lang="en-US"/>
          </a:p>
        </p:txBody>
      </p:sp>
    </p:spTree>
    <p:extLst>
      <p:ext uri="{BB962C8B-B14F-4D97-AF65-F5344CB8AC3E}">
        <p14:creationId xmlns:p14="http://schemas.microsoft.com/office/powerpoint/2010/main" val="39715805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C65747-E6F5-D94A-981D-658B04DED679}" type="slidenum">
              <a:rPr lang="en-US" smtClean="0"/>
              <a:t>25</a:t>
            </a:fld>
            <a:endParaRPr lang="en-US"/>
          </a:p>
        </p:txBody>
      </p:sp>
    </p:spTree>
    <p:extLst>
      <p:ext uri="{BB962C8B-B14F-4D97-AF65-F5344CB8AC3E}">
        <p14:creationId xmlns:p14="http://schemas.microsoft.com/office/powerpoint/2010/main" val="36373360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2"/>
        <p:cNvGrpSpPr/>
        <p:nvPr/>
      </p:nvGrpSpPr>
      <p:grpSpPr>
        <a:xfrm>
          <a:off x="0" y="0"/>
          <a:ext cx="0" cy="0"/>
          <a:chOff x="0" y="0"/>
          <a:chExt cx="0" cy="0"/>
        </a:xfrm>
      </p:grpSpPr>
      <p:sp>
        <p:nvSpPr>
          <p:cNvPr id="13" name="Google Shape;13;p8"/>
          <p:cNvSpPr txBox="1">
            <a:spLocks noGrp="1"/>
          </p:cNvSpPr>
          <p:nvPr>
            <p:ph type="ctrTitle"/>
          </p:nvPr>
        </p:nvSpPr>
        <p:spPr>
          <a:xfrm>
            <a:off x="2548581" y="2505673"/>
            <a:ext cx="7094838" cy="102654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6000"/>
              <a:buFont typeface="Helvetica Neue Light"/>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8"/>
          <p:cNvSpPr txBox="1">
            <a:spLocks noGrp="1"/>
          </p:cNvSpPr>
          <p:nvPr>
            <p:ph type="subTitle" idx="1"/>
          </p:nvPr>
        </p:nvSpPr>
        <p:spPr>
          <a:xfrm>
            <a:off x="3690730" y="3532213"/>
            <a:ext cx="4810539" cy="1655762"/>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1000"/>
              </a:spcBef>
              <a:spcAft>
                <a:spcPts val="0"/>
              </a:spcAft>
              <a:buClr>
                <a:schemeClr val="lt1"/>
              </a:buClr>
              <a:buSzPts val="2400"/>
              <a:buNone/>
              <a:defRPr sz="2400">
                <a:solidFill>
                  <a:schemeClr val="lt1"/>
                </a:solidFill>
              </a:defRPr>
            </a:lvl1pPr>
            <a:lvl2pPr lvl="1" algn="ctr">
              <a:lnSpc>
                <a:spcPct val="100000"/>
              </a:lnSpc>
              <a:spcBef>
                <a:spcPts val="500"/>
              </a:spcBef>
              <a:spcAft>
                <a:spcPts val="0"/>
              </a:spcAft>
              <a:buClr>
                <a:schemeClr val="lt1"/>
              </a:buClr>
              <a:buSzPts val="2000"/>
              <a:buNone/>
              <a:defRPr sz="2000"/>
            </a:lvl2pPr>
            <a:lvl3pPr lvl="2" algn="ctr">
              <a:lnSpc>
                <a:spcPct val="100000"/>
              </a:lnSpc>
              <a:spcBef>
                <a:spcPts val="500"/>
              </a:spcBef>
              <a:spcAft>
                <a:spcPts val="0"/>
              </a:spcAft>
              <a:buClr>
                <a:schemeClr val="lt1"/>
              </a:buClr>
              <a:buSzPts val="1800"/>
              <a:buNone/>
              <a:defRPr sz="1800"/>
            </a:lvl3pPr>
            <a:lvl4pPr lvl="3" algn="ctr">
              <a:lnSpc>
                <a:spcPct val="100000"/>
              </a:lnSpc>
              <a:spcBef>
                <a:spcPts val="500"/>
              </a:spcBef>
              <a:spcAft>
                <a:spcPts val="0"/>
              </a:spcAft>
              <a:buClr>
                <a:schemeClr val="lt1"/>
              </a:buClr>
              <a:buSzPts val="1600"/>
              <a:buNone/>
              <a:defRPr sz="1600"/>
            </a:lvl4pPr>
            <a:lvl5pPr lvl="4" algn="ctr">
              <a:lnSpc>
                <a:spcPct val="10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1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Helvetica Neue"/>
              <a:buNone/>
              <a:defRPr sz="6000">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1000"/>
              </a:spcBef>
              <a:spcAft>
                <a:spcPts val="0"/>
              </a:spcAft>
              <a:buClr>
                <a:schemeClr val="dk1"/>
              </a:buClr>
              <a:buSzPts val="2400"/>
              <a:buNone/>
              <a:defRPr sz="2400">
                <a:latin typeface="Helvetica Neue"/>
                <a:ea typeface="Helvetica Neue"/>
                <a:cs typeface="Helvetica Neue"/>
                <a:sym typeface="Helvetica Neue"/>
              </a:defRPr>
            </a:lvl1pPr>
            <a:lvl2pPr lvl="1" algn="ctr">
              <a:lnSpc>
                <a:spcPct val="100000"/>
              </a:lnSpc>
              <a:spcBef>
                <a:spcPts val="500"/>
              </a:spcBef>
              <a:spcAft>
                <a:spcPts val="0"/>
              </a:spcAft>
              <a:buClr>
                <a:schemeClr val="dk1"/>
              </a:buClr>
              <a:buSzPts val="2000"/>
              <a:buNone/>
              <a:defRPr sz="2000"/>
            </a:lvl2pPr>
            <a:lvl3pPr lvl="2" algn="ctr">
              <a:lnSpc>
                <a:spcPct val="100000"/>
              </a:lnSpc>
              <a:spcBef>
                <a:spcPts val="500"/>
              </a:spcBef>
              <a:spcAft>
                <a:spcPts val="0"/>
              </a:spcAft>
              <a:buClr>
                <a:schemeClr val="dk1"/>
              </a:buClr>
              <a:buSzPts val="1800"/>
              <a:buNone/>
              <a:defRPr sz="1800"/>
            </a:lvl3pPr>
            <a:lvl4pPr lvl="3" algn="ctr">
              <a:lnSpc>
                <a:spcPct val="100000"/>
              </a:lnSpc>
              <a:spcBef>
                <a:spcPts val="500"/>
              </a:spcBef>
              <a:spcAft>
                <a:spcPts val="0"/>
              </a:spcAft>
              <a:buClr>
                <a:schemeClr val="dk1"/>
              </a:buClr>
              <a:buSzPts val="1600"/>
              <a:buNone/>
              <a:defRPr sz="1600"/>
            </a:lvl4pPr>
            <a:lvl5pPr lvl="4" algn="ctr">
              <a:lnSpc>
                <a:spcPct val="10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Clr>
                <a:schemeClr val="dk1"/>
              </a:buClr>
              <a:buSzPts val="1800"/>
              <a:buChar char="•"/>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Helvetica Neue Light"/>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rgbClr val="757575"/>
              </a:buClr>
              <a:buSzPts val="2400"/>
              <a:buNone/>
              <a:defRPr sz="2400">
                <a:solidFill>
                  <a:srgbClr val="757575"/>
                </a:solidFill>
              </a:defRPr>
            </a:lvl1pPr>
            <a:lvl2pPr marL="914400" lvl="1" indent="-228600" algn="l">
              <a:lnSpc>
                <a:spcPct val="100000"/>
              </a:lnSpc>
              <a:spcBef>
                <a:spcPts val="500"/>
              </a:spcBef>
              <a:spcAft>
                <a:spcPts val="0"/>
              </a:spcAft>
              <a:buClr>
                <a:srgbClr val="757575"/>
              </a:buClr>
              <a:buSzPts val="2000"/>
              <a:buNone/>
              <a:defRPr sz="2000">
                <a:solidFill>
                  <a:srgbClr val="757575"/>
                </a:solidFill>
              </a:defRPr>
            </a:lvl2pPr>
            <a:lvl3pPr marL="1371600" lvl="2" indent="-228600" algn="l">
              <a:lnSpc>
                <a:spcPct val="100000"/>
              </a:lnSpc>
              <a:spcBef>
                <a:spcPts val="500"/>
              </a:spcBef>
              <a:spcAft>
                <a:spcPts val="0"/>
              </a:spcAft>
              <a:buClr>
                <a:srgbClr val="757575"/>
              </a:buClr>
              <a:buSzPts val="1800"/>
              <a:buNone/>
              <a:defRPr sz="1800">
                <a:solidFill>
                  <a:srgbClr val="757575"/>
                </a:solidFill>
              </a:defRPr>
            </a:lvl3pPr>
            <a:lvl4pPr marL="1828800" lvl="3" indent="-228600" algn="l">
              <a:lnSpc>
                <a:spcPct val="100000"/>
              </a:lnSpc>
              <a:spcBef>
                <a:spcPts val="500"/>
              </a:spcBef>
              <a:spcAft>
                <a:spcPts val="0"/>
              </a:spcAft>
              <a:buClr>
                <a:srgbClr val="757575"/>
              </a:buClr>
              <a:buSzPts val="1600"/>
              <a:buNone/>
              <a:defRPr sz="1600">
                <a:solidFill>
                  <a:srgbClr val="757575"/>
                </a:solidFill>
              </a:defRPr>
            </a:lvl4pPr>
            <a:lvl5pPr marL="2286000" lvl="4" indent="-228600" algn="l">
              <a:lnSpc>
                <a:spcPct val="10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0"/>
        <p:cNvGrpSpPr/>
        <p:nvPr/>
      </p:nvGrpSpPr>
      <p:grpSpPr>
        <a:xfrm>
          <a:off x="0" y="0"/>
          <a:ext cx="0" cy="0"/>
          <a:chOff x="0" y="0"/>
          <a:chExt cx="0" cy="0"/>
        </a:xfrm>
      </p:grpSpPr>
      <p:sp>
        <p:nvSpPr>
          <p:cNvPr id="31" name="Google Shape;31;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Clr>
                <a:schemeClr val="dk1"/>
              </a:buClr>
              <a:buSzPts val="1800"/>
              <a:buChar char="•"/>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Clr>
                <a:schemeClr val="dk1"/>
              </a:buClr>
              <a:buSzPts val="1800"/>
              <a:buChar char="•"/>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4"/>
        <p:cNvGrpSpPr/>
        <p:nvPr/>
      </p:nvGrpSpPr>
      <p:grpSpPr>
        <a:xfrm>
          <a:off x="0" y="0"/>
          <a:ext cx="0" cy="0"/>
          <a:chOff x="0" y="0"/>
          <a:chExt cx="0" cy="0"/>
        </a:xfrm>
      </p:grpSpPr>
      <p:sp>
        <p:nvSpPr>
          <p:cNvPr id="35" name="Google Shape;35;p1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1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1000"/>
              </a:spcBef>
              <a:spcAft>
                <a:spcPts val="0"/>
              </a:spcAft>
              <a:buClr>
                <a:schemeClr val="dk1"/>
              </a:buClr>
              <a:buSzPts val="2400"/>
              <a:buNone/>
              <a:defRPr sz="2400" b="1"/>
            </a:lvl1pPr>
            <a:lvl2pPr marL="914400" lvl="1" indent="-228600" algn="l">
              <a:lnSpc>
                <a:spcPct val="100000"/>
              </a:lnSpc>
              <a:spcBef>
                <a:spcPts val="500"/>
              </a:spcBef>
              <a:spcAft>
                <a:spcPts val="0"/>
              </a:spcAft>
              <a:buClr>
                <a:schemeClr val="dk1"/>
              </a:buClr>
              <a:buSzPts val="2000"/>
              <a:buNone/>
              <a:defRPr sz="2000" b="1"/>
            </a:lvl2pPr>
            <a:lvl3pPr marL="1371600" lvl="2" indent="-228600" algn="l">
              <a:lnSpc>
                <a:spcPct val="100000"/>
              </a:lnSpc>
              <a:spcBef>
                <a:spcPts val="500"/>
              </a:spcBef>
              <a:spcAft>
                <a:spcPts val="0"/>
              </a:spcAft>
              <a:buClr>
                <a:schemeClr val="dk1"/>
              </a:buClr>
              <a:buSzPts val="1800"/>
              <a:buNone/>
              <a:defRPr sz="1800" b="1"/>
            </a:lvl3pPr>
            <a:lvl4pPr marL="1828800" lvl="3" indent="-228600" algn="l">
              <a:lnSpc>
                <a:spcPct val="100000"/>
              </a:lnSpc>
              <a:spcBef>
                <a:spcPts val="500"/>
              </a:spcBef>
              <a:spcAft>
                <a:spcPts val="0"/>
              </a:spcAft>
              <a:buClr>
                <a:schemeClr val="dk1"/>
              </a:buClr>
              <a:buSzPts val="1600"/>
              <a:buNone/>
              <a:defRPr sz="1600" b="1"/>
            </a:lvl4pPr>
            <a:lvl5pPr marL="2286000" lvl="4" indent="-228600" algn="l">
              <a:lnSpc>
                <a:spcPct val="10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7" name="Google Shape;37;p1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Clr>
                <a:schemeClr val="dk1"/>
              </a:buClr>
              <a:buSzPts val="1800"/>
              <a:buChar char="•"/>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1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1000"/>
              </a:spcBef>
              <a:spcAft>
                <a:spcPts val="0"/>
              </a:spcAft>
              <a:buClr>
                <a:schemeClr val="dk1"/>
              </a:buClr>
              <a:buSzPts val="2400"/>
              <a:buNone/>
              <a:defRPr sz="2400" b="1"/>
            </a:lvl1pPr>
            <a:lvl2pPr marL="914400" lvl="1" indent="-228600" algn="l">
              <a:lnSpc>
                <a:spcPct val="100000"/>
              </a:lnSpc>
              <a:spcBef>
                <a:spcPts val="500"/>
              </a:spcBef>
              <a:spcAft>
                <a:spcPts val="0"/>
              </a:spcAft>
              <a:buClr>
                <a:schemeClr val="dk1"/>
              </a:buClr>
              <a:buSzPts val="2000"/>
              <a:buNone/>
              <a:defRPr sz="2000" b="1"/>
            </a:lvl2pPr>
            <a:lvl3pPr marL="1371600" lvl="2" indent="-228600" algn="l">
              <a:lnSpc>
                <a:spcPct val="100000"/>
              </a:lnSpc>
              <a:spcBef>
                <a:spcPts val="500"/>
              </a:spcBef>
              <a:spcAft>
                <a:spcPts val="0"/>
              </a:spcAft>
              <a:buClr>
                <a:schemeClr val="dk1"/>
              </a:buClr>
              <a:buSzPts val="1800"/>
              <a:buNone/>
              <a:defRPr sz="1800" b="1"/>
            </a:lvl3pPr>
            <a:lvl4pPr marL="1828800" lvl="3" indent="-228600" algn="l">
              <a:lnSpc>
                <a:spcPct val="100000"/>
              </a:lnSpc>
              <a:spcBef>
                <a:spcPts val="500"/>
              </a:spcBef>
              <a:spcAft>
                <a:spcPts val="0"/>
              </a:spcAft>
              <a:buClr>
                <a:schemeClr val="dk1"/>
              </a:buClr>
              <a:buSzPts val="1600"/>
              <a:buNone/>
              <a:defRPr sz="1600" b="1"/>
            </a:lvl4pPr>
            <a:lvl5pPr marL="2286000" lvl="4" indent="-228600" algn="l">
              <a:lnSpc>
                <a:spcPct val="10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Clr>
                <a:schemeClr val="dk1"/>
              </a:buClr>
              <a:buSzPts val="1800"/>
              <a:buChar char="•"/>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2"/>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3"/>
        <p:cNvGrpSpPr/>
        <p:nvPr/>
      </p:nvGrpSpPr>
      <p:grpSpPr>
        <a:xfrm>
          <a:off x="0" y="0"/>
          <a:ext cx="0" cy="0"/>
          <a:chOff x="0" y="0"/>
          <a:chExt cx="0" cy="0"/>
        </a:xfrm>
      </p:grpSpPr>
      <p:sp>
        <p:nvSpPr>
          <p:cNvPr id="44" name="Google Shape;44;p1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Helvetica Neue Light"/>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1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1000"/>
              </a:spcBef>
              <a:spcAft>
                <a:spcPts val="0"/>
              </a:spcAft>
              <a:buClr>
                <a:schemeClr val="dk1"/>
              </a:buClr>
              <a:buSzPts val="3200"/>
              <a:buChar char="•"/>
              <a:defRPr sz="3200"/>
            </a:lvl1pPr>
            <a:lvl2pPr marL="914400" lvl="1" indent="-406400" algn="l">
              <a:lnSpc>
                <a:spcPct val="100000"/>
              </a:lnSpc>
              <a:spcBef>
                <a:spcPts val="500"/>
              </a:spcBef>
              <a:spcAft>
                <a:spcPts val="0"/>
              </a:spcAft>
              <a:buClr>
                <a:schemeClr val="dk1"/>
              </a:buClr>
              <a:buSzPts val="2800"/>
              <a:buChar char="•"/>
              <a:defRPr sz="2800"/>
            </a:lvl2pPr>
            <a:lvl3pPr marL="1371600" lvl="2" indent="-381000" algn="l">
              <a:lnSpc>
                <a:spcPct val="100000"/>
              </a:lnSpc>
              <a:spcBef>
                <a:spcPts val="500"/>
              </a:spcBef>
              <a:spcAft>
                <a:spcPts val="0"/>
              </a:spcAft>
              <a:buClr>
                <a:schemeClr val="dk1"/>
              </a:buClr>
              <a:buSzPts val="2400"/>
              <a:buChar char="•"/>
              <a:defRPr sz="2400"/>
            </a:lvl3pPr>
            <a:lvl4pPr marL="1828800" lvl="3" indent="-355600" algn="l">
              <a:lnSpc>
                <a:spcPct val="100000"/>
              </a:lnSpc>
              <a:spcBef>
                <a:spcPts val="500"/>
              </a:spcBef>
              <a:spcAft>
                <a:spcPts val="0"/>
              </a:spcAft>
              <a:buClr>
                <a:schemeClr val="dk1"/>
              </a:buClr>
              <a:buSzPts val="2000"/>
              <a:buChar char="•"/>
              <a:defRPr sz="2000"/>
            </a:lvl4pPr>
            <a:lvl5pPr marL="2286000" lvl="4" indent="-355600" algn="l">
              <a:lnSpc>
                <a:spcPct val="10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46" name="Google Shape;46;p1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600"/>
              <a:buNone/>
              <a:defRPr sz="1600"/>
            </a:lvl1pPr>
            <a:lvl2pPr marL="914400" lvl="1" indent="-228600" algn="l">
              <a:lnSpc>
                <a:spcPct val="100000"/>
              </a:lnSpc>
              <a:spcBef>
                <a:spcPts val="500"/>
              </a:spcBef>
              <a:spcAft>
                <a:spcPts val="0"/>
              </a:spcAft>
              <a:buClr>
                <a:schemeClr val="dk1"/>
              </a:buClr>
              <a:buSzPts val="1400"/>
              <a:buNone/>
              <a:defRPr sz="1400"/>
            </a:lvl2pPr>
            <a:lvl3pPr marL="1371600" lvl="2" indent="-228600" algn="l">
              <a:lnSpc>
                <a:spcPct val="100000"/>
              </a:lnSpc>
              <a:spcBef>
                <a:spcPts val="500"/>
              </a:spcBef>
              <a:spcAft>
                <a:spcPts val="0"/>
              </a:spcAft>
              <a:buClr>
                <a:schemeClr val="dk1"/>
              </a:buClr>
              <a:buSzPts val="1200"/>
              <a:buNone/>
              <a:defRPr sz="1200"/>
            </a:lvl3pPr>
            <a:lvl4pPr marL="1828800" lvl="3" indent="-228600" algn="l">
              <a:lnSpc>
                <a:spcPct val="100000"/>
              </a:lnSpc>
              <a:spcBef>
                <a:spcPts val="500"/>
              </a:spcBef>
              <a:spcAft>
                <a:spcPts val="0"/>
              </a:spcAft>
              <a:buClr>
                <a:schemeClr val="dk1"/>
              </a:buClr>
              <a:buSzPts val="1000"/>
              <a:buNone/>
              <a:defRPr sz="1000"/>
            </a:lvl4pPr>
            <a:lvl5pPr marL="2286000" lvl="4" indent="-228600" algn="l">
              <a:lnSpc>
                <a:spcPct val="10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Helvetica Neue Light"/>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20"/>
          <p:cNvSpPr>
            <a:spLocks noGrp="1"/>
          </p:cNvSpPr>
          <p:nvPr>
            <p:ph type="pic" idx="2"/>
          </p:nvPr>
        </p:nvSpPr>
        <p:spPr>
          <a:xfrm>
            <a:off x="5183188" y="987425"/>
            <a:ext cx="6172200" cy="4873625"/>
          </a:xfrm>
          <a:prstGeom prst="rect">
            <a:avLst/>
          </a:prstGeom>
          <a:noFill/>
          <a:ln>
            <a:noFill/>
          </a:ln>
        </p:spPr>
      </p:sp>
      <p:sp>
        <p:nvSpPr>
          <p:cNvPr id="50" name="Google Shape;50;p2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600"/>
              <a:buNone/>
              <a:defRPr sz="1600"/>
            </a:lvl1pPr>
            <a:lvl2pPr marL="914400" lvl="1" indent="-228600" algn="l">
              <a:lnSpc>
                <a:spcPct val="100000"/>
              </a:lnSpc>
              <a:spcBef>
                <a:spcPts val="500"/>
              </a:spcBef>
              <a:spcAft>
                <a:spcPts val="0"/>
              </a:spcAft>
              <a:buClr>
                <a:schemeClr val="dk1"/>
              </a:buClr>
              <a:buSzPts val="1400"/>
              <a:buNone/>
              <a:defRPr sz="1400"/>
            </a:lvl2pPr>
            <a:lvl3pPr marL="1371600" lvl="2" indent="-228600" algn="l">
              <a:lnSpc>
                <a:spcPct val="100000"/>
              </a:lnSpc>
              <a:spcBef>
                <a:spcPts val="500"/>
              </a:spcBef>
              <a:spcAft>
                <a:spcPts val="0"/>
              </a:spcAft>
              <a:buClr>
                <a:schemeClr val="dk1"/>
              </a:buClr>
              <a:buSzPts val="1200"/>
              <a:buNone/>
              <a:defRPr sz="1200"/>
            </a:lvl3pPr>
            <a:lvl4pPr marL="1828800" lvl="3" indent="-228600" algn="l">
              <a:lnSpc>
                <a:spcPct val="100000"/>
              </a:lnSpc>
              <a:spcBef>
                <a:spcPts val="500"/>
              </a:spcBef>
              <a:spcAft>
                <a:spcPts val="0"/>
              </a:spcAft>
              <a:buClr>
                <a:schemeClr val="dk1"/>
              </a:buClr>
              <a:buSzPts val="1000"/>
              <a:buNone/>
              <a:defRPr sz="1000"/>
            </a:lvl4pPr>
            <a:lvl5pPr marL="2286000" lvl="4" indent="-228600" algn="l">
              <a:lnSpc>
                <a:spcPct val="10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1"/>
        <p:cNvGrpSpPr/>
        <p:nvPr/>
      </p:nvGrpSpPr>
      <p:grpSpPr>
        <a:xfrm>
          <a:off x="0" y="0"/>
          <a:ext cx="0" cy="0"/>
          <a:chOff x="0" y="0"/>
          <a:chExt cx="0" cy="0"/>
        </a:xfrm>
      </p:grpSpPr>
      <p:sp>
        <p:nvSpPr>
          <p:cNvPr id="52" name="Google Shape;52;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2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Clr>
                <a:schemeClr val="dk1"/>
              </a:buClr>
              <a:buSzPts val="1800"/>
              <a:buChar char="•"/>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4"/>
        <p:cNvGrpSpPr/>
        <p:nvPr/>
      </p:nvGrpSpPr>
      <p:grpSpPr>
        <a:xfrm>
          <a:off x="0" y="0"/>
          <a:ext cx="0" cy="0"/>
          <a:chOff x="0" y="0"/>
          <a:chExt cx="0" cy="0"/>
        </a:xfrm>
      </p:grpSpPr>
      <p:sp>
        <p:nvSpPr>
          <p:cNvPr id="55" name="Google Shape;55;p2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Clr>
                <a:schemeClr val="dk1"/>
              </a:buClr>
              <a:buSzPts val="1800"/>
              <a:buChar char="•"/>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orkshop title slide">
  <p:cSld name="Workshop title slide">
    <p:spTree>
      <p:nvGrpSpPr>
        <p:cNvPr id="1" name="Shape 61"/>
        <p:cNvGrpSpPr/>
        <p:nvPr/>
      </p:nvGrpSpPr>
      <p:grpSpPr>
        <a:xfrm>
          <a:off x="0" y="0"/>
          <a:ext cx="0" cy="0"/>
          <a:chOff x="0" y="0"/>
          <a:chExt cx="0" cy="0"/>
        </a:xfrm>
      </p:grpSpPr>
      <p:sp>
        <p:nvSpPr>
          <p:cNvPr id="62" name="Google Shape;62;p12"/>
          <p:cNvSpPr txBox="1">
            <a:spLocks noGrp="1"/>
          </p:cNvSpPr>
          <p:nvPr>
            <p:ph type="ctrTitle"/>
          </p:nvPr>
        </p:nvSpPr>
        <p:spPr>
          <a:xfrm>
            <a:off x="640492" y="2250180"/>
            <a:ext cx="7094838" cy="102654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6000"/>
              <a:buFont typeface="Helvetica Neue Light"/>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63" name="Google Shape;63;p12" descr="A logo with white dots&#10;&#10;AI-generated content may be incorrect."/>
          <p:cNvPicPr preferRelativeResize="0"/>
          <p:nvPr/>
        </p:nvPicPr>
        <p:blipFill rotWithShape="1">
          <a:blip r:embed="rId2">
            <a:alphaModFix/>
          </a:blip>
          <a:srcRect/>
          <a:stretch/>
        </p:blipFill>
        <p:spPr>
          <a:xfrm>
            <a:off x="5980843" y="236128"/>
            <a:ext cx="2653569" cy="1326785"/>
          </a:xfrm>
          <a:prstGeom prst="rect">
            <a:avLst/>
          </a:prstGeom>
          <a:noFill/>
          <a:ln>
            <a:noFill/>
          </a:ln>
        </p:spPr>
      </p:pic>
      <p:sp>
        <p:nvSpPr>
          <p:cNvPr id="64" name="Google Shape;64;p12"/>
          <p:cNvSpPr txBox="1"/>
          <p:nvPr/>
        </p:nvSpPr>
        <p:spPr>
          <a:xfrm>
            <a:off x="0" y="6521547"/>
            <a:ext cx="4810539"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lt1"/>
                </a:solidFill>
                <a:latin typeface="Helvetica Neue"/>
                <a:ea typeface="Helvetica Neue"/>
                <a:cs typeface="Helvetica Neue"/>
                <a:sym typeface="Helvetica Neue"/>
              </a:rPr>
              <a:t>Canadian Bioinformatics Workshops | bioinformatics.ca</a:t>
            </a:r>
            <a:endParaRPr sz="1400">
              <a:solidFill>
                <a:schemeClr val="lt1"/>
              </a:solidFill>
              <a:latin typeface="Helvetica Neue"/>
              <a:ea typeface="Helvetica Neue"/>
              <a:cs typeface="Helvetica Neue"/>
              <a:sym typeface="Helvetica Neue"/>
            </a:endParaRPr>
          </a:p>
        </p:txBody>
      </p:sp>
      <p:sp>
        <p:nvSpPr>
          <p:cNvPr id="65" name="Google Shape;65;p12"/>
          <p:cNvSpPr txBox="1">
            <a:spLocks noGrp="1"/>
          </p:cNvSpPr>
          <p:nvPr>
            <p:ph type="subTitle" idx="1"/>
          </p:nvPr>
        </p:nvSpPr>
        <p:spPr>
          <a:xfrm>
            <a:off x="1782641" y="3276720"/>
            <a:ext cx="4810539" cy="1655762"/>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1000"/>
              </a:spcBef>
              <a:spcAft>
                <a:spcPts val="0"/>
              </a:spcAft>
              <a:buClr>
                <a:schemeClr val="lt1"/>
              </a:buClr>
              <a:buSzPts val="2400"/>
              <a:buNone/>
              <a:defRPr sz="2400">
                <a:solidFill>
                  <a:schemeClr val="lt1"/>
                </a:solidFill>
              </a:defRPr>
            </a:lvl1pPr>
            <a:lvl2pPr lvl="1" algn="ctr">
              <a:lnSpc>
                <a:spcPct val="100000"/>
              </a:lnSpc>
              <a:spcBef>
                <a:spcPts val="500"/>
              </a:spcBef>
              <a:spcAft>
                <a:spcPts val="0"/>
              </a:spcAft>
              <a:buClr>
                <a:schemeClr val="lt1"/>
              </a:buClr>
              <a:buSzPts val="2000"/>
              <a:buNone/>
              <a:defRPr sz="2000"/>
            </a:lvl2pPr>
            <a:lvl3pPr lvl="2" algn="ctr">
              <a:lnSpc>
                <a:spcPct val="100000"/>
              </a:lnSpc>
              <a:spcBef>
                <a:spcPts val="500"/>
              </a:spcBef>
              <a:spcAft>
                <a:spcPts val="0"/>
              </a:spcAft>
              <a:buClr>
                <a:schemeClr val="lt1"/>
              </a:buClr>
              <a:buSzPts val="1800"/>
              <a:buNone/>
              <a:defRPr sz="1800"/>
            </a:lvl3pPr>
            <a:lvl4pPr lvl="3" algn="ctr">
              <a:lnSpc>
                <a:spcPct val="100000"/>
              </a:lnSpc>
              <a:spcBef>
                <a:spcPts val="500"/>
              </a:spcBef>
              <a:spcAft>
                <a:spcPts val="0"/>
              </a:spcAft>
              <a:buClr>
                <a:schemeClr val="lt1"/>
              </a:buClr>
              <a:buSzPts val="1600"/>
              <a:buNone/>
              <a:defRPr sz="1600"/>
            </a:lvl4pPr>
            <a:lvl5pPr lvl="4" algn="ctr">
              <a:lnSpc>
                <a:spcPct val="10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1.pn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24393F"/>
            </a:gs>
            <a:gs pos="45000">
              <a:srgbClr val="70247F"/>
            </a:gs>
            <a:gs pos="100000">
              <a:srgbClr val="B40805"/>
            </a:gs>
          </a:gsLst>
          <a:path path="circle">
            <a:fillToRect l="100000" t="100000"/>
          </a:path>
          <a:tileRect r="-100000" b="-100000"/>
        </a:gradFill>
        <a:effectLst/>
      </p:bgPr>
    </p:bg>
    <p:spTree>
      <p:nvGrpSpPr>
        <p:cNvPr id="1" name="Shape 9"/>
        <p:cNvGrpSpPr/>
        <p:nvPr/>
      </p:nvGrpSpPr>
      <p:grpSpPr>
        <a:xfrm>
          <a:off x="0" y="0"/>
          <a:ext cx="0" cy="0"/>
          <a:chOff x="0" y="0"/>
          <a:chExt cx="0" cy="0"/>
        </a:xfrm>
      </p:grpSpPr>
      <p:sp>
        <p:nvSpPr>
          <p:cNvPr id="10" name="Google Shape;1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4400"/>
              <a:buFont typeface="Helvetica Neue Light"/>
              <a:buNone/>
              <a:defRPr sz="4400" b="0" i="0" u="none" strike="noStrike" cap="none">
                <a:solidFill>
                  <a:schemeClr val="lt1"/>
                </a:solidFill>
                <a:latin typeface="Helvetica Neue Light"/>
                <a:ea typeface="Helvetica Neue Light"/>
                <a:cs typeface="Helvetica Neue Light"/>
                <a:sym typeface="Helvetica Neue Ligh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chemeClr val="lt1"/>
              </a:buClr>
              <a:buSzPts val="2800"/>
              <a:buFont typeface="Arial"/>
              <a:buChar char="•"/>
              <a:defRPr sz="2800" b="0" i="0" u="none" strike="noStrike" cap="none">
                <a:solidFill>
                  <a:schemeClr val="lt1"/>
                </a:solidFill>
                <a:latin typeface="Helvetica Neue Light"/>
                <a:ea typeface="Helvetica Neue Light"/>
                <a:cs typeface="Helvetica Neue Light"/>
                <a:sym typeface="Helvetica Neue Light"/>
              </a:defRPr>
            </a:lvl1pPr>
            <a:lvl2pPr marL="914400" marR="0" lvl="1" indent="-381000" algn="l" rtl="0">
              <a:lnSpc>
                <a:spcPct val="100000"/>
              </a:lnSpc>
              <a:spcBef>
                <a:spcPts val="500"/>
              </a:spcBef>
              <a:spcAft>
                <a:spcPts val="0"/>
              </a:spcAft>
              <a:buClr>
                <a:schemeClr val="lt1"/>
              </a:buClr>
              <a:buSzPts val="2400"/>
              <a:buFont typeface="Arial"/>
              <a:buChar char="•"/>
              <a:defRPr sz="2400" b="0" i="0" u="none" strike="noStrike" cap="none">
                <a:solidFill>
                  <a:schemeClr val="lt1"/>
                </a:solidFill>
                <a:latin typeface="Helvetica Neue Light"/>
                <a:ea typeface="Helvetica Neue Light"/>
                <a:cs typeface="Helvetica Neue Light"/>
                <a:sym typeface="Helvetica Neue Light"/>
              </a:defRPr>
            </a:lvl2pPr>
            <a:lvl3pPr marL="1371600" marR="0" lvl="2" indent="-355600" algn="l" rtl="0">
              <a:lnSpc>
                <a:spcPct val="100000"/>
              </a:lnSpc>
              <a:spcBef>
                <a:spcPts val="500"/>
              </a:spcBef>
              <a:spcAft>
                <a:spcPts val="0"/>
              </a:spcAft>
              <a:buClr>
                <a:schemeClr val="lt1"/>
              </a:buClr>
              <a:buSzPts val="2000"/>
              <a:buFont typeface="Arial"/>
              <a:buChar char="•"/>
              <a:defRPr sz="2000" b="0" i="0" u="none" strike="noStrike" cap="none">
                <a:solidFill>
                  <a:schemeClr val="lt1"/>
                </a:solidFill>
                <a:latin typeface="Helvetica Neue Light"/>
                <a:ea typeface="Helvetica Neue Light"/>
                <a:cs typeface="Helvetica Neue Light"/>
                <a:sym typeface="Helvetica Neue Light"/>
              </a:defRPr>
            </a:lvl3pPr>
            <a:lvl4pPr marL="1828800" marR="0" lvl="3" indent="-342900" algn="l" rtl="0">
              <a:lnSpc>
                <a:spcPct val="100000"/>
              </a:lnSpc>
              <a:spcBef>
                <a:spcPts val="500"/>
              </a:spcBef>
              <a:spcAft>
                <a:spcPts val="0"/>
              </a:spcAft>
              <a:buClr>
                <a:schemeClr val="lt1"/>
              </a:buClr>
              <a:buSzPts val="1800"/>
              <a:buFont typeface="Arial"/>
              <a:buChar char="•"/>
              <a:defRPr sz="1800" b="0" i="0" u="none" strike="noStrike" cap="none">
                <a:solidFill>
                  <a:schemeClr val="lt1"/>
                </a:solidFill>
                <a:latin typeface="Helvetica Neue Light"/>
                <a:ea typeface="Helvetica Neue Light"/>
                <a:cs typeface="Helvetica Neue Light"/>
                <a:sym typeface="Helvetica Neue Light"/>
              </a:defRPr>
            </a:lvl4pPr>
            <a:lvl5pPr marL="2286000" marR="0" lvl="4" indent="-342900" algn="l" rtl="0">
              <a:lnSpc>
                <a:spcPct val="100000"/>
              </a:lnSpc>
              <a:spcBef>
                <a:spcPts val="500"/>
              </a:spcBef>
              <a:spcAft>
                <a:spcPts val="0"/>
              </a:spcAft>
              <a:buClr>
                <a:schemeClr val="lt1"/>
              </a:buClr>
              <a:buSzPts val="1800"/>
              <a:buFont typeface="Arial"/>
              <a:buChar char="•"/>
              <a:defRPr sz="1800" b="0" i="0" u="none" strike="noStrike" cap="none">
                <a:solidFill>
                  <a:schemeClr val="lt1"/>
                </a:solidFill>
                <a:latin typeface="Helvetica Neue Light"/>
                <a:ea typeface="Helvetica Neue Light"/>
                <a:cs typeface="Helvetica Neue Light"/>
                <a:sym typeface="Helvetica Neue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
        <p:cNvGrpSpPr/>
        <p:nvPr/>
      </p:nvGrpSpPr>
      <p:grpSpPr>
        <a:xfrm>
          <a:off x="0" y="0"/>
          <a:ext cx="0" cy="0"/>
          <a:chOff x="0" y="0"/>
          <a:chExt cx="0" cy="0"/>
        </a:xfrm>
      </p:grpSpPr>
      <p:sp>
        <p:nvSpPr>
          <p:cNvPr id="16" name="Google Shape;16;p9"/>
          <p:cNvSpPr/>
          <p:nvPr/>
        </p:nvSpPr>
        <p:spPr>
          <a:xfrm>
            <a:off x="0" y="6492874"/>
            <a:ext cx="12192000" cy="365126"/>
          </a:xfrm>
          <a:prstGeom prst="rect">
            <a:avLst/>
          </a:prstGeom>
          <a:solidFill>
            <a:srgbClr val="7024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 name="Google Shape;17;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Helvetica Neue Light"/>
              <a:buNone/>
              <a:defRPr sz="4400" b="0" i="0" u="none" strike="noStrike" cap="none">
                <a:solidFill>
                  <a:schemeClr val="dk1"/>
                </a:solidFill>
                <a:latin typeface="Helvetica Neue Light"/>
                <a:ea typeface="Helvetica Neue Light"/>
                <a:cs typeface="Helvetica Neue Light"/>
                <a:sym typeface="Helvetica Neue Ligh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8" name="Google Shape;18;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chemeClr val="dk1"/>
              </a:buClr>
              <a:buSzPts val="2800"/>
              <a:buFont typeface="Arial"/>
              <a:buChar char="•"/>
              <a:defRPr sz="2800" b="0" i="0" u="none" strike="noStrike" cap="none">
                <a:solidFill>
                  <a:schemeClr val="dk1"/>
                </a:solidFill>
                <a:latin typeface="Helvetica Neue Light"/>
                <a:ea typeface="Helvetica Neue Light"/>
                <a:cs typeface="Helvetica Neue Light"/>
                <a:sym typeface="Helvetica Neue Light"/>
              </a:defRPr>
            </a:lvl1pPr>
            <a:lvl2pPr marL="914400" marR="0" lvl="1" indent="-381000"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Helvetica Neue Light"/>
                <a:ea typeface="Helvetica Neue Light"/>
                <a:cs typeface="Helvetica Neue Light"/>
                <a:sym typeface="Helvetica Neue Light"/>
              </a:defRPr>
            </a:lvl2pPr>
            <a:lvl3pPr marL="1371600" marR="0" lvl="2" indent="-355600" algn="l" rtl="0">
              <a:lnSpc>
                <a:spcPct val="100000"/>
              </a:lnSpc>
              <a:spcBef>
                <a:spcPts val="500"/>
              </a:spcBef>
              <a:spcAft>
                <a:spcPts val="0"/>
              </a:spcAft>
              <a:buClr>
                <a:schemeClr val="dk1"/>
              </a:buClr>
              <a:buSzPts val="2000"/>
              <a:buFont typeface="Arial"/>
              <a:buChar char="•"/>
              <a:defRPr sz="2000" b="0" i="0" u="none" strike="noStrike" cap="none">
                <a:solidFill>
                  <a:schemeClr val="dk1"/>
                </a:solidFill>
                <a:latin typeface="Helvetica Neue Light"/>
                <a:ea typeface="Helvetica Neue Light"/>
                <a:cs typeface="Helvetica Neue Light"/>
                <a:sym typeface="Helvetica Neue Light"/>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Helvetica Neue Light"/>
                <a:ea typeface="Helvetica Neue Light"/>
                <a:cs typeface="Helvetica Neue Light"/>
                <a:sym typeface="Helvetica Neue Light"/>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Helvetica Neue Light"/>
                <a:ea typeface="Helvetica Neue Light"/>
                <a:cs typeface="Helvetica Neue Light"/>
                <a:sym typeface="Helvetica Neue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9" name="Google Shape;19;p9"/>
          <p:cNvSpPr txBox="1"/>
          <p:nvPr/>
        </p:nvSpPr>
        <p:spPr>
          <a:xfrm>
            <a:off x="0" y="6521547"/>
            <a:ext cx="4810539"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a:solidFill>
                  <a:schemeClr val="lt1"/>
                </a:solidFill>
                <a:latin typeface="Helvetica Neue Light"/>
                <a:ea typeface="Helvetica Neue Light"/>
                <a:cs typeface="Helvetica Neue Light"/>
                <a:sym typeface="Helvetica Neue Light"/>
              </a:rPr>
              <a:t>Canadian Bioinformatics Workshops | bioinformatics.ca</a:t>
            </a:r>
            <a:endParaRPr sz="1400" b="0" i="0">
              <a:solidFill>
                <a:schemeClr val="lt1"/>
              </a:solidFill>
              <a:latin typeface="Helvetica Neue Light"/>
              <a:ea typeface="Helvetica Neue Light"/>
              <a:cs typeface="Helvetica Neue Light"/>
              <a:sym typeface="Helvetica Neue Light"/>
            </a:endParaRPr>
          </a:p>
        </p:txBody>
      </p:sp>
      <p:pic>
        <p:nvPicPr>
          <p:cNvPr id="20" name="Google Shape;20;p9" descr="Purple circles on a black background&#10;&#10;AI-generated content may be incorrect."/>
          <p:cNvPicPr preferRelativeResize="0"/>
          <p:nvPr/>
        </p:nvPicPr>
        <p:blipFill rotWithShape="1">
          <a:blip r:embed="rId13">
            <a:alphaModFix/>
          </a:blip>
          <a:srcRect/>
          <a:stretch/>
        </p:blipFill>
        <p:spPr>
          <a:xfrm>
            <a:off x="11352340" y="0"/>
            <a:ext cx="839659" cy="83965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7"/>
        <p:cNvGrpSpPr/>
        <p:nvPr/>
      </p:nvGrpSpPr>
      <p:grpSpPr>
        <a:xfrm>
          <a:off x="0" y="0"/>
          <a:ext cx="0" cy="0"/>
          <a:chOff x="0" y="0"/>
          <a:chExt cx="0" cy="0"/>
        </a:xfrm>
      </p:grpSpPr>
      <p:sp>
        <p:nvSpPr>
          <p:cNvPr id="58" name="Google Shape;58;p11"/>
          <p:cNvSpPr/>
          <p:nvPr/>
        </p:nvSpPr>
        <p:spPr>
          <a:xfrm>
            <a:off x="0" y="0"/>
            <a:ext cx="8610601" cy="6858000"/>
          </a:xfrm>
          <a:prstGeom prst="rect">
            <a:avLst/>
          </a:prstGeom>
          <a:gradFill>
            <a:gsLst>
              <a:gs pos="0">
                <a:srgbClr val="24393F"/>
              </a:gs>
              <a:gs pos="54000">
                <a:srgbClr val="70247F"/>
              </a:gs>
              <a:gs pos="100000">
                <a:srgbClr val="B40805"/>
              </a:gs>
            </a:gsLst>
            <a:path path="circle">
              <a:fillToRect l="100000" t="100000"/>
            </a:path>
            <a:tileRect r="-100000" b="-10000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9" name="Google Shape;5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4400"/>
              <a:buFont typeface="Helvetica Neue Light"/>
              <a:buNone/>
              <a:defRPr sz="4400" b="0" i="0" u="none" strike="noStrike" cap="none">
                <a:solidFill>
                  <a:schemeClr val="lt1"/>
                </a:solidFill>
                <a:latin typeface="Helvetica Neue Light"/>
                <a:ea typeface="Helvetica Neue Light"/>
                <a:cs typeface="Helvetica Neue Light"/>
                <a:sym typeface="Helvetica Neue Ligh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chemeClr val="lt1"/>
              </a:buClr>
              <a:buSzPts val="2800"/>
              <a:buFont typeface="Arial"/>
              <a:buChar char="•"/>
              <a:defRPr sz="2800" b="0" i="0" u="none" strike="noStrike" cap="none">
                <a:solidFill>
                  <a:schemeClr val="lt1"/>
                </a:solidFill>
                <a:latin typeface="Helvetica Neue Light"/>
                <a:ea typeface="Helvetica Neue Light"/>
                <a:cs typeface="Helvetica Neue Light"/>
                <a:sym typeface="Helvetica Neue Light"/>
              </a:defRPr>
            </a:lvl1pPr>
            <a:lvl2pPr marL="914400" marR="0" lvl="1" indent="-381000" algn="l" rtl="0">
              <a:lnSpc>
                <a:spcPct val="100000"/>
              </a:lnSpc>
              <a:spcBef>
                <a:spcPts val="500"/>
              </a:spcBef>
              <a:spcAft>
                <a:spcPts val="0"/>
              </a:spcAft>
              <a:buClr>
                <a:schemeClr val="lt1"/>
              </a:buClr>
              <a:buSzPts val="2400"/>
              <a:buFont typeface="Arial"/>
              <a:buChar char="•"/>
              <a:defRPr sz="2400" b="0" i="0" u="none" strike="noStrike" cap="none">
                <a:solidFill>
                  <a:schemeClr val="lt1"/>
                </a:solidFill>
                <a:latin typeface="Helvetica Neue Light"/>
                <a:ea typeface="Helvetica Neue Light"/>
                <a:cs typeface="Helvetica Neue Light"/>
                <a:sym typeface="Helvetica Neue Light"/>
              </a:defRPr>
            </a:lvl2pPr>
            <a:lvl3pPr marL="1371600" marR="0" lvl="2" indent="-355600" algn="l" rtl="0">
              <a:lnSpc>
                <a:spcPct val="100000"/>
              </a:lnSpc>
              <a:spcBef>
                <a:spcPts val="500"/>
              </a:spcBef>
              <a:spcAft>
                <a:spcPts val="0"/>
              </a:spcAft>
              <a:buClr>
                <a:schemeClr val="lt1"/>
              </a:buClr>
              <a:buSzPts val="2000"/>
              <a:buFont typeface="Arial"/>
              <a:buChar char="•"/>
              <a:defRPr sz="2000" b="0" i="0" u="none" strike="noStrike" cap="none">
                <a:solidFill>
                  <a:schemeClr val="lt1"/>
                </a:solidFill>
                <a:latin typeface="Helvetica Neue Light"/>
                <a:ea typeface="Helvetica Neue Light"/>
                <a:cs typeface="Helvetica Neue Light"/>
                <a:sym typeface="Helvetica Neue Light"/>
              </a:defRPr>
            </a:lvl3pPr>
            <a:lvl4pPr marL="1828800" marR="0" lvl="3" indent="-342900" algn="l" rtl="0">
              <a:lnSpc>
                <a:spcPct val="100000"/>
              </a:lnSpc>
              <a:spcBef>
                <a:spcPts val="500"/>
              </a:spcBef>
              <a:spcAft>
                <a:spcPts val="0"/>
              </a:spcAft>
              <a:buClr>
                <a:schemeClr val="lt1"/>
              </a:buClr>
              <a:buSzPts val="1800"/>
              <a:buFont typeface="Arial"/>
              <a:buChar char="•"/>
              <a:defRPr sz="1800" b="0" i="0" u="none" strike="noStrike" cap="none">
                <a:solidFill>
                  <a:schemeClr val="lt1"/>
                </a:solidFill>
                <a:latin typeface="Helvetica Neue Light"/>
                <a:ea typeface="Helvetica Neue Light"/>
                <a:cs typeface="Helvetica Neue Light"/>
                <a:sym typeface="Helvetica Neue Light"/>
              </a:defRPr>
            </a:lvl4pPr>
            <a:lvl5pPr marL="2286000" marR="0" lvl="4" indent="-342900" algn="l" rtl="0">
              <a:lnSpc>
                <a:spcPct val="100000"/>
              </a:lnSpc>
              <a:spcBef>
                <a:spcPts val="500"/>
              </a:spcBef>
              <a:spcAft>
                <a:spcPts val="0"/>
              </a:spcAft>
              <a:buClr>
                <a:schemeClr val="lt1"/>
              </a:buClr>
              <a:buSzPts val="1800"/>
              <a:buFont typeface="Arial"/>
              <a:buChar char="•"/>
              <a:defRPr sz="1800" b="0" i="0" u="none" strike="noStrike" cap="none">
                <a:solidFill>
                  <a:schemeClr val="lt1"/>
                </a:solidFill>
                <a:latin typeface="Helvetica Neue Light"/>
                <a:ea typeface="Helvetica Neue Light"/>
                <a:cs typeface="Helvetica Neue Light"/>
                <a:sym typeface="Helvetica Neue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63"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www.biostars.org/p/11378/"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hyperlink" Target="http://www.biostars.org/p/68126/"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www.rna-seqblog.com/rpkm-fpkm-and-tpm-clearly-explained/"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hyperlink" Target="https://www.ncbi.nlm.nih.gov/pubmed/22872506"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cole-trapnell-lab.github.io/cufflinks/cuffcompare/index.html#cuffcompare-output-files"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hyperlink" Target="https://htseq.readthedocs.io/"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hyperlink" Target="http://seqanswers.com/forums/showthread.php?t=18068"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hyperlink" Target="http://biorxiv.org/content/early/2014/03/30/003665" TargetMode="Externa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png"/><Relationship Id="rId1" Type="http://schemas.openxmlformats.org/officeDocument/2006/relationships/slideLayout" Target="../slideLayouts/slideLayout3.xml"/><Relationship Id="rId5" Type="http://schemas.openxmlformats.org/officeDocument/2006/relationships/image" Target="../media/image16.jpg"/><Relationship Id="rId4" Type="http://schemas.openxmlformats.org/officeDocument/2006/relationships/image" Target="../media/image15.jpg"/></Relationships>
</file>

<file path=ppt/slides/_rels/slide19.xml.rels><?xml version="1.0" encoding="UTF-8" standalone="yes"?>
<Relationships xmlns="http://schemas.openxmlformats.org/package/2006/relationships"><Relationship Id="rId3" Type="http://schemas.openxmlformats.org/officeDocument/2006/relationships/hyperlink" Target="http://www.bioconductor.org/packages/release/bioc/html/edgeR.html" TargetMode="External"/><Relationship Id="rId2" Type="http://schemas.openxmlformats.org/officeDocument/2006/relationships/hyperlink" Target="http://www-huber.embl.de/users/anders/DESeq/" TargetMode="Externa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hyperlink" Target="http://www.biostars.org/p/1161/" TargetMode="External"/><Relationship Id="rId2" Type="http://schemas.openxmlformats.org/officeDocument/2006/relationships/hyperlink" Target="http://scotty.genetics.utah.edu/" TargetMode="External"/><Relationship Id="rId1" Type="http://schemas.openxmlformats.org/officeDocument/2006/relationships/slideLayout" Target="../slideLayouts/slideLayout3.xml"/><Relationship Id="rId4" Type="http://schemas.openxmlformats.org/officeDocument/2006/relationships/hyperlink" Target="http://www.biostars.org/p/68885/"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www.bioconductor.org/packages/release/bioc/html/multtest.html"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hyperlink" Target="http://www.bioconductor.org/help/search/index.html?q=pathway" TargetMode="External"/><Relationship Id="rId2" Type="http://schemas.openxmlformats.org/officeDocument/2006/relationships/hyperlink" Target="https://genviz.org/module-04-expression/0004/01/01/Expression_Profiling_and_Visualization/" TargetMode="Externa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24393F"/>
            </a:gs>
            <a:gs pos="24000">
              <a:srgbClr val="70247F"/>
            </a:gs>
            <a:gs pos="100000">
              <a:srgbClr val="B40805"/>
            </a:gs>
          </a:gsLst>
          <a:path path="circle">
            <a:fillToRect l="100000" t="100000"/>
          </a:path>
          <a:tileRect r="-100000" b="-100000"/>
        </a:gradFill>
        <a:effectLst/>
      </p:bgPr>
    </p:bg>
    <p:spTree>
      <p:nvGrpSpPr>
        <p:cNvPr id="1" name="Shape 70"/>
        <p:cNvGrpSpPr/>
        <p:nvPr/>
      </p:nvGrpSpPr>
      <p:grpSpPr>
        <a:xfrm>
          <a:off x="0" y="0"/>
          <a:ext cx="0" cy="0"/>
          <a:chOff x="0" y="0"/>
          <a:chExt cx="0" cy="0"/>
        </a:xfrm>
      </p:grpSpPr>
      <p:sp>
        <p:nvSpPr>
          <p:cNvPr id="71" name="Google Shape;71;p1"/>
          <p:cNvSpPr txBox="1">
            <a:spLocks noGrp="1"/>
          </p:cNvSpPr>
          <p:nvPr>
            <p:ph type="subTitle" idx="1"/>
          </p:nvPr>
        </p:nvSpPr>
        <p:spPr>
          <a:xfrm>
            <a:off x="6801238" y="3429000"/>
            <a:ext cx="4567235" cy="781755"/>
          </a:xfrm>
          <a:prstGeom prst="rect">
            <a:avLst/>
          </a:prstGeom>
          <a:noFill/>
          <a:ln>
            <a:noFill/>
          </a:ln>
        </p:spPr>
        <p:txBody>
          <a:bodyPr spcFirstLastPara="1" wrap="square" lIns="91425" tIns="45700" rIns="91425" bIns="45700" anchor="t" anchorCtr="0">
            <a:normAutofit fontScale="92500"/>
          </a:bodyPr>
          <a:lstStyle/>
          <a:p>
            <a:pPr marL="0" lvl="0" indent="0" algn="ctr" rtl="0">
              <a:lnSpc>
                <a:spcPct val="100000"/>
              </a:lnSpc>
              <a:spcBef>
                <a:spcPts val="0"/>
              </a:spcBef>
              <a:spcAft>
                <a:spcPts val="0"/>
              </a:spcAft>
              <a:buClr>
                <a:schemeClr val="lt1"/>
              </a:buClr>
              <a:buSzPct val="100000"/>
              <a:buNone/>
            </a:pPr>
            <a:r>
              <a:rPr lang="en-US" sz="4400" b="1">
                <a:latin typeface="Helvetica Neue"/>
                <a:ea typeface="Helvetica Neue"/>
                <a:cs typeface="Helvetica Neue"/>
                <a:sym typeface="Helvetica Neue"/>
              </a:rPr>
              <a:t>bioinformatics.ca</a:t>
            </a:r>
            <a:endParaRPr/>
          </a:p>
        </p:txBody>
      </p:sp>
      <p:pic>
        <p:nvPicPr>
          <p:cNvPr id="72" name="Google Shape;72;p1" descr="A logo with white dots&#10;&#10;AI-generated content may be incorrect."/>
          <p:cNvPicPr preferRelativeResize="0"/>
          <p:nvPr/>
        </p:nvPicPr>
        <p:blipFill rotWithShape="1">
          <a:blip r:embed="rId3">
            <a:alphaModFix/>
          </a:blip>
          <a:srcRect l="12297" r="12122"/>
          <a:stretch/>
        </p:blipFill>
        <p:spPr>
          <a:xfrm>
            <a:off x="670379" y="1341316"/>
            <a:ext cx="5766816" cy="3815097"/>
          </a:xfrm>
          <a:prstGeom prst="rect">
            <a:avLst/>
          </a:prstGeom>
          <a:noFill/>
          <a:ln>
            <a:noFill/>
          </a:ln>
        </p:spPr>
      </p:pic>
      <p:sp>
        <p:nvSpPr>
          <p:cNvPr id="73" name="Google Shape;73;p1"/>
          <p:cNvSpPr txBox="1"/>
          <p:nvPr/>
        </p:nvSpPr>
        <p:spPr>
          <a:xfrm>
            <a:off x="6648092" y="4210755"/>
            <a:ext cx="4873529" cy="416109"/>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lt1"/>
              </a:buClr>
              <a:buSzPts val="2800"/>
              <a:buFont typeface="Arial"/>
              <a:buNone/>
            </a:pPr>
            <a:r>
              <a:rPr lang="en-US" sz="2800" b="0" i="0" u="none" strike="noStrike" cap="none">
                <a:solidFill>
                  <a:schemeClr val="lt1"/>
                </a:solidFill>
                <a:latin typeface="Helvetica Neue Light"/>
                <a:ea typeface="Helvetica Neue Light"/>
                <a:cs typeface="Helvetica Neue Light"/>
                <a:sym typeface="Helvetica Neue Light"/>
              </a:rPr>
              <a:t>bioinformaticsdotca.github.io</a:t>
            </a:r>
            <a:endParaRPr/>
          </a:p>
        </p:txBody>
      </p:sp>
      <p:sp>
        <p:nvSpPr>
          <p:cNvPr id="74" name="Google Shape;74;p1"/>
          <p:cNvSpPr txBox="1"/>
          <p:nvPr/>
        </p:nvSpPr>
        <p:spPr>
          <a:xfrm>
            <a:off x="10523913" y="465513"/>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pic>
        <p:nvPicPr>
          <p:cNvPr id="79" name="Google Shape;79;p2"/>
          <p:cNvPicPr preferRelativeResize="0"/>
          <p:nvPr/>
        </p:nvPicPr>
        <p:blipFill rotWithShape="1">
          <a:blip r:embed="rId3">
            <a:alphaModFix/>
          </a:blip>
          <a:srcRect/>
          <a:stretch/>
        </p:blipFill>
        <p:spPr>
          <a:xfrm>
            <a:off x="4085493" y="271515"/>
            <a:ext cx="4021014" cy="603361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3"/>
          <p:cNvSpPr txBox="1">
            <a:spLocks noGrp="1"/>
          </p:cNvSpPr>
          <p:nvPr>
            <p:ph type="ctrTitle"/>
          </p:nvPr>
        </p:nvSpPr>
        <p:spPr>
          <a:xfrm>
            <a:off x="640492" y="2250180"/>
            <a:ext cx="7094838" cy="102654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6000"/>
              <a:buFont typeface="Helvetica Neue Light"/>
              <a:buNone/>
            </a:pPr>
            <a:r>
              <a:rPr lang="en-US" sz="4400" dirty="0">
                <a:latin typeface="Helvetica Neue" panose="02000503000000020004" pitchFamily="2" charset="0"/>
                <a:ea typeface="Helvetica Neue" panose="02000503000000020004" pitchFamily="2" charset="0"/>
                <a:cs typeface="Helvetica Neue" panose="02000503000000020004" pitchFamily="2" charset="0"/>
              </a:rPr>
              <a:t>Module 3: RNA Expression and Differential Expression</a:t>
            </a:r>
            <a:endParaRPr sz="44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5" name="Google Shape;85;p3"/>
          <p:cNvSpPr txBox="1">
            <a:spLocks noGrp="1"/>
          </p:cNvSpPr>
          <p:nvPr>
            <p:ph type="subTitle" idx="1"/>
          </p:nvPr>
        </p:nvSpPr>
        <p:spPr>
          <a:xfrm>
            <a:off x="1782641" y="3276720"/>
            <a:ext cx="4810539" cy="1655762"/>
          </a:xfrm>
          <a:prstGeom prst="rect">
            <a:avLst/>
          </a:prstGeom>
          <a:noFill/>
          <a:ln>
            <a:noFill/>
          </a:ln>
        </p:spPr>
        <p:txBody>
          <a:bodyPr spcFirstLastPara="1" wrap="square" lIns="91425" tIns="45700" rIns="91425" bIns="45700" anchor="t" anchorCtr="0">
            <a:normAutofit/>
          </a:bodyPr>
          <a:lstStyle/>
          <a:p>
            <a:pPr marL="0" lvl="0" indent="0">
              <a:spcBef>
                <a:spcPts val="0"/>
              </a:spcBef>
            </a:pPr>
            <a:r>
              <a:rPr lang="en-US" dirty="0">
                <a:latin typeface="Helvetica Neue" panose="02000503000000020004" pitchFamily="2" charset="0"/>
                <a:ea typeface="Helvetica Neue" panose="02000503000000020004" pitchFamily="2" charset="0"/>
                <a:cs typeface="Helvetica Neue" panose="02000503000000020004" pitchFamily="2" charset="0"/>
              </a:rPr>
              <a:t>Malachi Griffith &amp; Obi Griffith</a:t>
            </a:r>
          </a:p>
          <a:p>
            <a:pPr marL="0" lvl="0" indent="0"/>
            <a:r>
              <a:rPr lang="en-US" dirty="0">
                <a:latin typeface="Helvetica Neue" panose="02000503000000020004" pitchFamily="2" charset="0"/>
                <a:ea typeface="Helvetica Neue" panose="02000503000000020004" pitchFamily="2" charset="0"/>
                <a:cs typeface="Helvetica Neue" panose="02000503000000020004" pitchFamily="2" charset="0"/>
              </a:rPr>
              <a:t>RNA-seq Analysis</a:t>
            </a:r>
          </a:p>
          <a:p>
            <a:pPr marL="0" lvl="0" indent="0"/>
            <a:r>
              <a:rPr lang="en-US" dirty="0">
                <a:latin typeface="Helvetica Neue" panose="02000503000000020004" pitchFamily="2" charset="0"/>
                <a:ea typeface="Helvetica Neue" panose="02000503000000020004" pitchFamily="2" charset="0"/>
                <a:cs typeface="Helvetica Neue" panose="02000503000000020004" pitchFamily="2" charset="0"/>
              </a:rPr>
              <a:t>June 22-24, 2026</a:t>
            </a:r>
          </a:p>
          <a:p>
            <a:pPr marL="0" lvl="0" indent="0" algn="ctr" rtl="0">
              <a:lnSpc>
                <a:spcPct val="100000"/>
              </a:lnSpc>
              <a:spcBef>
                <a:spcPts val="1000"/>
              </a:spcBef>
              <a:spcAft>
                <a:spcPts val="0"/>
              </a:spcAft>
              <a:buClr>
                <a:schemeClr val="lt1"/>
              </a:buClr>
              <a:buSzPts val="2400"/>
              <a:buNone/>
            </a:pPr>
            <a:endParaRPr dirty="0">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2" name="Picture 1">
            <a:extLst>
              <a:ext uri="{FF2B5EF4-FFF2-40B4-BE49-F238E27FC236}">
                <a16:creationId xmlns:a16="http://schemas.microsoft.com/office/drawing/2014/main" id="{4E155135-A297-5C0B-4DF5-8B9DBC8B6A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90328" y="0"/>
            <a:ext cx="3401672" cy="1054782"/>
          </a:xfrm>
          <a:prstGeom prst="rect">
            <a:avLst/>
          </a:prstGeom>
        </p:spPr>
      </p:pic>
      <p:pic>
        <p:nvPicPr>
          <p:cNvPr id="3" name="Picture 2">
            <a:extLst>
              <a:ext uri="{FF2B5EF4-FFF2-40B4-BE49-F238E27FC236}">
                <a16:creationId xmlns:a16="http://schemas.microsoft.com/office/drawing/2014/main" id="{D85665F2-AE61-2B54-20BB-F165E55F9756}"/>
              </a:ext>
            </a:extLst>
          </p:cNvPr>
          <p:cNvPicPr>
            <a:picLocks noChangeAspect="1"/>
          </p:cNvPicPr>
          <p:nvPr/>
        </p:nvPicPr>
        <p:blipFill>
          <a:blip r:embed="rId4"/>
          <a:stretch>
            <a:fillRect/>
          </a:stretch>
        </p:blipFill>
        <p:spPr>
          <a:xfrm>
            <a:off x="8960452" y="1008315"/>
            <a:ext cx="2883202" cy="2883202"/>
          </a:xfrm>
          <a:prstGeom prst="rect">
            <a:avLst/>
          </a:prstGeom>
        </p:spPr>
      </p:pic>
      <p:pic>
        <p:nvPicPr>
          <p:cNvPr id="4" name="Picture 1" descr="RNA-Seq-alignment.png">
            <a:extLst>
              <a:ext uri="{FF2B5EF4-FFF2-40B4-BE49-F238E27FC236}">
                <a16:creationId xmlns:a16="http://schemas.microsoft.com/office/drawing/2014/main" id="{92ED8CE4-0F40-5F7D-41F6-BAB439A9B562}"/>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960452" y="3891517"/>
            <a:ext cx="2883202" cy="27614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itle 1"/>
          <p:cNvSpPr>
            <a:spLocks noGrp="1"/>
          </p:cNvSpPr>
          <p:nvPr>
            <p:ph type="title"/>
          </p:nvPr>
        </p:nvSpPr>
        <p:spPr>
          <a:xfrm>
            <a:off x="1676400" y="115888"/>
            <a:ext cx="8839200" cy="1143000"/>
          </a:xfrm>
        </p:spPr>
        <p:txBody>
          <a:bodyPr/>
          <a:lstStyle/>
          <a:p>
            <a:r>
              <a:rPr lang="en-US" dirty="0">
                <a:latin typeface="Helvetica Neue" panose="02000503000000020004" pitchFamily="2" charset="0"/>
                <a:ea typeface="Helvetica Neue" panose="02000503000000020004" pitchFamily="2" charset="0"/>
                <a:cs typeface="Helvetica Neue" panose="02000503000000020004" pitchFamily="2" charset="0"/>
              </a:rPr>
              <a:t>Learning objectives of module 3</a:t>
            </a:r>
          </a:p>
        </p:txBody>
      </p:sp>
      <p:sp>
        <p:nvSpPr>
          <p:cNvPr id="13314" name="Content Placeholder 2"/>
          <p:cNvSpPr>
            <a:spLocks noGrp="1"/>
          </p:cNvSpPr>
          <p:nvPr>
            <p:ph idx="1"/>
          </p:nvPr>
        </p:nvSpPr>
        <p:spPr/>
        <p:txBody>
          <a:bodyPr>
            <a:normAutofit/>
          </a:bodyPr>
          <a:lstStyle/>
          <a:p>
            <a:r>
              <a:rPr lang="en-US" dirty="0">
                <a:latin typeface="Helvetica Neue" panose="02000503000000020004" pitchFamily="2" charset="0"/>
                <a:ea typeface="Helvetica Neue" panose="02000503000000020004" pitchFamily="2" charset="0"/>
                <a:cs typeface="Helvetica Neue" panose="02000503000000020004" pitchFamily="2" charset="0"/>
              </a:rPr>
              <a:t>Expression estimation for known genes and transcripts</a:t>
            </a:r>
          </a:p>
          <a:p>
            <a:r>
              <a:rPr lang="en-US" dirty="0">
                <a:latin typeface="Helvetica Neue" panose="02000503000000020004" pitchFamily="2" charset="0"/>
                <a:ea typeface="Helvetica Neue" panose="02000503000000020004" pitchFamily="2" charset="0"/>
                <a:cs typeface="Helvetica Neue" panose="02000503000000020004" pitchFamily="2" charset="0"/>
              </a:rPr>
              <a:t>FPKM/TPM expression estimates vs. raw counts</a:t>
            </a:r>
          </a:p>
          <a:p>
            <a:r>
              <a:rPr lang="en-US" dirty="0">
                <a:latin typeface="Helvetica Neue" panose="02000503000000020004" pitchFamily="2" charset="0"/>
                <a:ea typeface="Helvetica Neue" panose="02000503000000020004" pitchFamily="2" charset="0"/>
                <a:cs typeface="Helvetica Neue" panose="02000503000000020004" pitchFamily="2" charset="0"/>
              </a:rPr>
              <a:t>Differential expression methods</a:t>
            </a:r>
          </a:p>
          <a:p>
            <a:r>
              <a:rPr lang="en-US" dirty="0">
                <a:latin typeface="Helvetica Neue" panose="02000503000000020004" pitchFamily="2" charset="0"/>
                <a:ea typeface="Helvetica Neue" panose="02000503000000020004" pitchFamily="2" charset="0"/>
                <a:cs typeface="Helvetica Neue" panose="02000503000000020004" pitchFamily="2" charset="0"/>
              </a:rPr>
              <a:t>Downstream interpretation of expression and differential estimates</a:t>
            </a:r>
          </a:p>
        </p:txBody>
      </p:sp>
    </p:spTree>
    <p:extLst>
      <p:ext uri="{BB962C8B-B14F-4D97-AF65-F5344CB8AC3E}">
        <p14:creationId xmlns:p14="http://schemas.microsoft.com/office/powerpoint/2010/main" val="1399821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p:cNvSpPr>
            <a:spLocks noGrp="1"/>
          </p:cNvSpPr>
          <p:nvPr>
            <p:ph type="title"/>
          </p:nvPr>
        </p:nvSpPr>
        <p:spPr>
          <a:xfrm>
            <a:off x="0" y="10886"/>
            <a:ext cx="12192000" cy="801914"/>
          </a:xfrm>
        </p:spPr>
        <p:txBody>
          <a:bodyPr>
            <a:noAutofit/>
          </a:bodyPr>
          <a:lstStyle/>
          <a:p>
            <a:pPr algn="ctr"/>
            <a:r>
              <a:rPr lang="en-US" sz="3200" dirty="0">
                <a:latin typeface="Helvetica Neue" panose="02000503000000020004" pitchFamily="2" charset="0"/>
                <a:ea typeface="Helvetica Neue" panose="02000503000000020004" pitchFamily="2" charset="0"/>
                <a:cs typeface="Helvetica Neue" panose="02000503000000020004" pitchFamily="2" charset="0"/>
              </a:rPr>
              <a:t>Expression estimation for known genes and transcripts</a:t>
            </a:r>
          </a:p>
        </p:txBody>
      </p:sp>
      <p:cxnSp>
        <p:nvCxnSpPr>
          <p:cNvPr id="6" name="Straight Arrow Connector 5"/>
          <p:cNvCxnSpPr/>
          <p:nvPr/>
        </p:nvCxnSpPr>
        <p:spPr>
          <a:xfrm>
            <a:off x="9600990" y="2394925"/>
            <a:ext cx="700955" cy="248"/>
          </a:xfrm>
          <a:prstGeom prst="straightConnector1">
            <a:avLst/>
          </a:prstGeom>
          <a:ln w="38100" cmpd="sng">
            <a:solidFill>
              <a:srgbClr val="4F81BD"/>
            </a:solidFill>
            <a:tailEnd type="arrow"/>
          </a:ln>
        </p:spPr>
        <p:style>
          <a:lnRef idx="2">
            <a:schemeClr val="accent1"/>
          </a:lnRef>
          <a:fillRef idx="0">
            <a:schemeClr val="accent1"/>
          </a:fillRef>
          <a:effectRef idx="1">
            <a:schemeClr val="accent1"/>
          </a:effectRef>
          <a:fontRef idx="minor">
            <a:schemeClr val="tx1"/>
          </a:fontRef>
        </p:style>
      </p:cxnSp>
      <p:sp>
        <p:nvSpPr>
          <p:cNvPr id="27652" name="TextBox 6"/>
          <p:cNvSpPr txBox="1">
            <a:spLocks noChangeArrowheads="1"/>
          </p:cNvSpPr>
          <p:nvPr/>
        </p:nvSpPr>
        <p:spPr bwMode="auto">
          <a:xfrm>
            <a:off x="9456973" y="1963125"/>
            <a:ext cx="976549"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2000">
                <a:latin typeface="Helvetica Neue" panose="02000503000000020004" pitchFamily="2" charset="0"/>
                <a:ea typeface="Helvetica Neue" panose="02000503000000020004" pitchFamily="2" charset="0"/>
                <a:cs typeface="Helvetica Neue" panose="02000503000000020004" pitchFamily="2" charset="0"/>
              </a:rPr>
              <a:t>3’ bias</a:t>
            </a:r>
          </a:p>
        </p:txBody>
      </p:sp>
      <p:cxnSp>
        <p:nvCxnSpPr>
          <p:cNvPr id="8" name="Straight Arrow Connector 7"/>
          <p:cNvCxnSpPr/>
          <p:nvPr/>
        </p:nvCxnSpPr>
        <p:spPr>
          <a:xfrm>
            <a:off x="9459305" y="3907342"/>
            <a:ext cx="0" cy="647873"/>
          </a:xfrm>
          <a:prstGeom prst="straightConnector1">
            <a:avLst/>
          </a:prstGeom>
          <a:ln w="38100" cmpd="sng">
            <a:solidFill>
              <a:srgbClr val="4F81BD"/>
            </a:solidFill>
            <a:tailEnd type="arrow"/>
          </a:ln>
        </p:spPr>
        <p:style>
          <a:lnRef idx="2">
            <a:schemeClr val="accent1"/>
          </a:lnRef>
          <a:fillRef idx="0">
            <a:schemeClr val="accent1"/>
          </a:fillRef>
          <a:effectRef idx="1">
            <a:schemeClr val="accent1"/>
          </a:effectRef>
          <a:fontRef idx="minor">
            <a:schemeClr val="tx1"/>
          </a:fontRef>
        </p:style>
      </p:cxnSp>
      <p:sp>
        <p:nvSpPr>
          <p:cNvPr id="27654" name="TextBox 9"/>
          <p:cNvSpPr txBox="1">
            <a:spLocks noChangeArrowheads="1"/>
          </p:cNvSpPr>
          <p:nvPr/>
        </p:nvSpPr>
        <p:spPr bwMode="auto">
          <a:xfrm>
            <a:off x="9384693" y="3907342"/>
            <a:ext cx="1331913"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dirty="0">
                <a:latin typeface="Helvetica Neue" panose="02000503000000020004" pitchFamily="2" charset="0"/>
                <a:ea typeface="Helvetica Neue" panose="02000503000000020004" pitchFamily="2" charset="0"/>
                <a:cs typeface="Helvetica Neue" panose="02000503000000020004" pitchFamily="2" charset="0"/>
              </a:rPr>
              <a:t>Down-regulated</a:t>
            </a:r>
          </a:p>
        </p:txBody>
      </p:sp>
      <p:pic>
        <p:nvPicPr>
          <p:cNvPr id="3" name="Content Placeholder 2" descr="Screen Shot 2013-05-30 at 8.54.37 PM.png"/>
          <p:cNvPicPr>
            <a:picLocks noGrp="1" noChangeAspect="1"/>
          </p:cNvPicPr>
          <p:nvPr>
            <p:ph idx="1"/>
          </p:nvPr>
        </p:nvPicPr>
        <p:blipFill rotWithShape="1">
          <a:blip r:embed="rId2">
            <a:extLst>
              <a:ext uri="{28A0092B-C50C-407E-A947-70E740481C1C}">
                <a14:useLocalDpi xmlns:a14="http://schemas.microsoft.com/office/drawing/2010/main" val="0"/>
              </a:ext>
            </a:extLst>
          </a:blip>
          <a:srcRect l="-575" r="-700"/>
          <a:stretch/>
        </p:blipFill>
        <p:spPr>
          <a:xfrm>
            <a:off x="1631951" y="705927"/>
            <a:ext cx="7739111" cy="5618673"/>
          </a:xfrm>
        </p:spPr>
      </p:pic>
    </p:spTree>
    <p:extLst>
      <p:ext uri="{BB962C8B-B14F-4D97-AF65-F5344CB8AC3E}">
        <p14:creationId xmlns:p14="http://schemas.microsoft.com/office/powerpoint/2010/main" val="1369031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p:cNvSpPr>
            <a:spLocks noGrp="1"/>
          </p:cNvSpPr>
          <p:nvPr>
            <p:ph type="title"/>
          </p:nvPr>
        </p:nvSpPr>
        <p:spPr>
          <a:xfrm>
            <a:off x="1676400" y="-27384"/>
            <a:ext cx="8839200" cy="1143000"/>
          </a:xfrm>
        </p:spPr>
        <p:txBody>
          <a:bodyPr/>
          <a:lstStyle/>
          <a:p>
            <a:pPr algn="ctr"/>
            <a:r>
              <a:rPr lang="en-US" dirty="0">
                <a:latin typeface="Helvetica Neue" panose="02000503000000020004" pitchFamily="2" charset="0"/>
                <a:ea typeface="Helvetica Neue" panose="02000503000000020004" pitchFamily="2" charset="0"/>
                <a:cs typeface="Helvetica Neue" panose="02000503000000020004" pitchFamily="2" charset="0"/>
              </a:rPr>
              <a:t>What is FPKM (RPKM)?</a:t>
            </a:r>
          </a:p>
        </p:txBody>
      </p:sp>
      <p:sp>
        <p:nvSpPr>
          <p:cNvPr id="28674" name="Content Placeholder 2"/>
          <p:cNvSpPr>
            <a:spLocks noGrp="1"/>
          </p:cNvSpPr>
          <p:nvPr>
            <p:ph idx="1"/>
          </p:nvPr>
        </p:nvSpPr>
        <p:spPr>
          <a:xfrm>
            <a:off x="740979" y="1340768"/>
            <a:ext cx="10570780" cy="4983832"/>
          </a:xfrm>
        </p:spPr>
        <p:txBody>
          <a:bodyPr wrap="square">
            <a:normAutofit/>
          </a:bodyPr>
          <a:lstStyle/>
          <a:p>
            <a:r>
              <a:rPr lang="en-US" sz="2400" dirty="0">
                <a:latin typeface="Helvetica Neue" panose="02000503000000020004" pitchFamily="2" charset="0"/>
                <a:ea typeface="Helvetica Neue" panose="02000503000000020004" pitchFamily="2" charset="0"/>
                <a:cs typeface="Helvetica Neue" panose="02000503000000020004" pitchFamily="2" charset="0"/>
              </a:rPr>
              <a:t>RPKM:   </a:t>
            </a:r>
            <a:r>
              <a:rPr lang="en-US" sz="2400" b="1" dirty="0">
                <a:latin typeface="Helvetica Neue" panose="02000503000000020004" pitchFamily="2" charset="0"/>
                <a:ea typeface="Helvetica Neue" panose="02000503000000020004" pitchFamily="2" charset="0"/>
                <a:cs typeface="Helvetica Neue" panose="02000503000000020004" pitchFamily="2" charset="0"/>
              </a:rPr>
              <a:t>Reads</a:t>
            </a:r>
            <a:r>
              <a:rPr lang="en-US" sz="2400" dirty="0">
                <a:latin typeface="Helvetica Neue" panose="02000503000000020004" pitchFamily="2" charset="0"/>
                <a:ea typeface="Helvetica Neue" panose="02000503000000020004" pitchFamily="2" charset="0"/>
                <a:cs typeface="Helvetica Neue" panose="02000503000000020004" pitchFamily="2" charset="0"/>
              </a:rPr>
              <a:t> Per Kilobase of transcript per Million mapped reads. </a:t>
            </a:r>
          </a:p>
          <a:p>
            <a:r>
              <a:rPr lang="en-US" sz="2400" dirty="0">
                <a:latin typeface="Helvetica Neue" panose="02000503000000020004" pitchFamily="2" charset="0"/>
                <a:ea typeface="Helvetica Neue" panose="02000503000000020004" pitchFamily="2" charset="0"/>
                <a:cs typeface="Helvetica Neue" panose="02000503000000020004" pitchFamily="2" charset="0"/>
              </a:rPr>
              <a:t>FPKM:   </a:t>
            </a:r>
            <a:r>
              <a:rPr lang="en-US" sz="2400" b="1" dirty="0">
                <a:latin typeface="Helvetica Neue" panose="02000503000000020004" pitchFamily="2" charset="0"/>
                <a:ea typeface="Helvetica Neue" panose="02000503000000020004" pitchFamily="2" charset="0"/>
                <a:cs typeface="Helvetica Neue" panose="02000503000000020004" pitchFamily="2" charset="0"/>
              </a:rPr>
              <a:t>Fragments</a:t>
            </a:r>
            <a:r>
              <a:rPr lang="en-US" sz="2400" dirty="0">
                <a:latin typeface="Helvetica Neue" panose="02000503000000020004" pitchFamily="2" charset="0"/>
                <a:ea typeface="Helvetica Neue" panose="02000503000000020004" pitchFamily="2" charset="0"/>
                <a:cs typeface="Helvetica Neue" panose="02000503000000020004" pitchFamily="2" charset="0"/>
              </a:rPr>
              <a:t> Per Kilobase of transcript per Million mapped reads.</a:t>
            </a:r>
            <a:br>
              <a:rPr lang="en-US" sz="2400" dirty="0">
                <a:latin typeface="Helvetica Neue" panose="02000503000000020004" pitchFamily="2" charset="0"/>
                <a:ea typeface="Helvetica Neue" panose="02000503000000020004" pitchFamily="2" charset="0"/>
                <a:cs typeface="Helvetica Neue" panose="02000503000000020004" pitchFamily="2" charset="0"/>
              </a:rPr>
            </a:br>
            <a:endParaRPr lang="en-US" sz="2400" dirty="0">
              <a:latin typeface="Helvetica Neue" panose="02000503000000020004" pitchFamily="2" charset="0"/>
              <a:ea typeface="Helvetica Neue" panose="02000503000000020004" pitchFamily="2" charset="0"/>
              <a:cs typeface="Helvetica Neue" panose="02000503000000020004" pitchFamily="2" charset="0"/>
            </a:endParaRPr>
          </a:p>
          <a:p>
            <a:r>
              <a:rPr lang="en-US" sz="2400" dirty="0">
                <a:latin typeface="Helvetica Neue" panose="02000503000000020004" pitchFamily="2" charset="0"/>
                <a:ea typeface="Helvetica Neue" panose="02000503000000020004" pitchFamily="2" charset="0"/>
                <a:cs typeface="Helvetica Neue" panose="02000503000000020004" pitchFamily="2" charset="0"/>
              </a:rPr>
              <a:t>No essential difference - Just a terminology change to better describe paired-end reads!</a:t>
            </a:r>
          </a:p>
          <a:p>
            <a:endParaRPr lang="en-US" sz="2400" dirty="0">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4191035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p:cNvSpPr>
            <a:spLocks noGrp="1"/>
          </p:cNvSpPr>
          <p:nvPr>
            <p:ph type="title"/>
          </p:nvPr>
        </p:nvSpPr>
        <p:spPr>
          <a:xfrm>
            <a:off x="1676400" y="-27384"/>
            <a:ext cx="8839200" cy="1143000"/>
          </a:xfrm>
        </p:spPr>
        <p:txBody>
          <a:bodyPr/>
          <a:lstStyle/>
          <a:p>
            <a:pPr algn="ctr"/>
            <a:r>
              <a:rPr lang="en-US" dirty="0">
                <a:latin typeface="Helvetica Neue" panose="02000503000000020004" pitchFamily="2" charset="0"/>
                <a:ea typeface="Helvetica Neue" panose="02000503000000020004" pitchFamily="2" charset="0"/>
                <a:cs typeface="Helvetica Neue" panose="02000503000000020004" pitchFamily="2" charset="0"/>
              </a:rPr>
              <a:t>What is FPKM?</a:t>
            </a:r>
          </a:p>
        </p:txBody>
      </p:sp>
      <p:sp>
        <p:nvSpPr>
          <p:cNvPr id="28674" name="Content Placeholder 2"/>
          <p:cNvSpPr>
            <a:spLocks noGrp="1"/>
          </p:cNvSpPr>
          <p:nvPr>
            <p:ph idx="1"/>
          </p:nvPr>
        </p:nvSpPr>
        <p:spPr>
          <a:xfrm>
            <a:off x="370489" y="1340768"/>
            <a:ext cx="7181194" cy="4983832"/>
          </a:xfrm>
        </p:spPr>
        <p:txBody>
          <a:bodyPr wrap="square">
            <a:normAutofit/>
          </a:bodyPr>
          <a:lstStyle/>
          <a:p>
            <a:r>
              <a:rPr lang="en-US" dirty="0">
                <a:latin typeface="Helvetica Neue" panose="02000503000000020004" pitchFamily="2" charset="0"/>
                <a:ea typeface="Helvetica Neue" panose="02000503000000020004" pitchFamily="2" charset="0"/>
                <a:cs typeface="Helvetica Neue" panose="02000503000000020004" pitchFamily="2" charset="0"/>
              </a:rPr>
              <a:t>Why not just count reads in my </a:t>
            </a:r>
            <a:r>
              <a:rPr lang="en-US" dirty="0" err="1">
                <a:latin typeface="Helvetica Neue" panose="02000503000000020004" pitchFamily="2" charset="0"/>
                <a:ea typeface="Helvetica Neue" panose="02000503000000020004" pitchFamily="2" charset="0"/>
                <a:cs typeface="Helvetica Neue" panose="02000503000000020004" pitchFamily="2" charset="0"/>
              </a:rPr>
              <a:t>RNAseq</a:t>
            </a:r>
            <a:r>
              <a:rPr lang="en-US" dirty="0">
                <a:latin typeface="Helvetica Neue" panose="02000503000000020004" pitchFamily="2" charset="0"/>
                <a:ea typeface="Helvetica Neue" panose="02000503000000020004" pitchFamily="2" charset="0"/>
                <a:cs typeface="Helvetica Neue" panose="02000503000000020004" pitchFamily="2" charset="0"/>
              </a:rPr>
              <a:t> data?</a:t>
            </a:r>
            <a:br>
              <a:rPr lang="en-US" dirty="0">
                <a:latin typeface="Helvetica Neue" panose="02000503000000020004" pitchFamily="2" charset="0"/>
                <a:ea typeface="Helvetica Neue" panose="02000503000000020004" pitchFamily="2" charset="0"/>
                <a:cs typeface="Helvetica Neue" panose="02000503000000020004" pitchFamily="2" charset="0"/>
              </a:rPr>
            </a:b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r>
              <a:rPr lang="en-US" dirty="0">
                <a:latin typeface="Helvetica Neue" panose="02000503000000020004" pitchFamily="2" charset="0"/>
                <a:ea typeface="Helvetica Neue" panose="02000503000000020004" pitchFamily="2" charset="0"/>
                <a:cs typeface="Helvetica Neue" panose="02000503000000020004" pitchFamily="2" charset="0"/>
              </a:rPr>
              <a:t>The relative expression of a transcript is proportional to the number of cDNA fragments that originate from it. However: </a:t>
            </a:r>
            <a:br>
              <a:rPr lang="en-US" dirty="0">
                <a:latin typeface="Helvetica Neue" panose="02000503000000020004" pitchFamily="2" charset="0"/>
                <a:ea typeface="Helvetica Neue" panose="02000503000000020004" pitchFamily="2" charset="0"/>
                <a:cs typeface="Helvetica Neue" panose="02000503000000020004" pitchFamily="2" charset="0"/>
              </a:rPr>
            </a:b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pPr lvl="1"/>
            <a:r>
              <a:rPr lang="en-US" dirty="0">
                <a:latin typeface="Helvetica Neue" panose="02000503000000020004" pitchFamily="2" charset="0"/>
                <a:ea typeface="Helvetica Neue" panose="02000503000000020004" pitchFamily="2" charset="0"/>
                <a:cs typeface="Helvetica Neue" panose="02000503000000020004" pitchFamily="2" charset="0"/>
              </a:rPr>
              <a:t># fragments is biased towards larger genes</a:t>
            </a:r>
            <a:br>
              <a:rPr lang="en-US" dirty="0">
                <a:latin typeface="Helvetica Neue" panose="02000503000000020004" pitchFamily="2" charset="0"/>
                <a:ea typeface="Helvetica Neue" panose="02000503000000020004" pitchFamily="2" charset="0"/>
                <a:cs typeface="Helvetica Neue" panose="02000503000000020004" pitchFamily="2" charset="0"/>
              </a:rPr>
            </a:b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pPr lvl="1"/>
            <a:r>
              <a:rPr lang="en-US" dirty="0">
                <a:latin typeface="Helvetica Neue" panose="02000503000000020004" pitchFamily="2" charset="0"/>
                <a:ea typeface="Helvetica Neue" panose="02000503000000020004" pitchFamily="2" charset="0"/>
                <a:cs typeface="Helvetica Neue" panose="02000503000000020004" pitchFamily="2" charset="0"/>
              </a:rPr>
              <a:t># fragments is related to total library depth</a:t>
            </a:r>
          </a:p>
        </p:txBody>
      </p:sp>
      <p:sp>
        <p:nvSpPr>
          <p:cNvPr id="2" name="TextBox 1">
            <a:extLst>
              <a:ext uri="{FF2B5EF4-FFF2-40B4-BE49-F238E27FC236}">
                <a16:creationId xmlns:a16="http://schemas.microsoft.com/office/drawing/2014/main" id="{5DBA97B9-0A17-DC4A-8D8A-CC62D7683E9B}"/>
              </a:ext>
            </a:extLst>
          </p:cNvPr>
          <p:cNvSpPr txBox="1"/>
          <p:nvPr/>
        </p:nvSpPr>
        <p:spPr>
          <a:xfrm>
            <a:off x="8246691" y="1613961"/>
            <a:ext cx="3452501" cy="707886"/>
          </a:xfrm>
          <a:prstGeom prst="rect">
            <a:avLst/>
          </a:prstGeom>
          <a:noFill/>
        </p:spPr>
        <p:txBody>
          <a:bodyPr wrap="square" rtlCol="0">
            <a:spAutoFit/>
          </a:bodyPr>
          <a:lstStyle/>
          <a:p>
            <a:r>
              <a:rPr lang="en-US" sz="2000" b="1" dirty="0">
                <a:latin typeface="Helvetica Neue" panose="02000503000000020004" pitchFamily="2" charset="0"/>
                <a:ea typeface="Helvetica Neue" panose="02000503000000020004" pitchFamily="2" charset="0"/>
                <a:cs typeface="Helvetica Neue" panose="02000503000000020004" pitchFamily="2" charset="0"/>
              </a:rPr>
              <a:t>Fragments</a:t>
            </a:r>
            <a:r>
              <a:rPr lang="en-US" sz="2000" dirty="0">
                <a:latin typeface="Helvetica Neue" panose="02000503000000020004" pitchFamily="2" charset="0"/>
                <a:ea typeface="Helvetica Neue" panose="02000503000000020004" pitchFamily="2" charset="0"/>
                <a:cs typeface="Helvetica Neue" panose="02000503000000020004" pitchFamily="2" charset="0"/>
              </a:rPr>
              <a:t> </a:t>
            </a:r>
          </a:p>
          <a:p>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4" name="Straight Arrow Connector 3">
            <a:extLst>
              <a:ext uri="{FF2B5EF4-FFF2-40B4-BE49-F238E27FC236}">
                <a16:creationId xmlns:a16="http://schemas.microsoft.com/office/drawing/2014/main" id="{4A7AFA4D-A2A1-5A4F-9E2E-567F8FF64D10}"/>
              </a:ext>
            </a:extLst>
          </p:cNvPr>
          <p:cNvCxnSpPr/>
          <p:nvPr/>
        </p:nvCxnSpPr>
        <p:spPr>
          <a:xfrm>
            <a:off x="7551683" y="1853246"/>
            <a:ext cx="472818" cy="0"/>
          </a:xfrm>
          <a:prstGeom prst="straightConnector1">
            <a:avLst/>
          </a:prstGeom>
          <a:ln w="4762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8516AEFC-F577-F44D-8F6D-A789BB657019}"/>
              </a:ext>
            </a:extLst>
          </p:cNvPr>
          <p:cNvCxnSpPr/>
          <p:nvPr/>
        </p:nvCxnSpPr>
        <p:spPr>
          <a:xfrm>
            <a:off x="7640993" y="5363103"/>
            <a:ext cx="472818" cy="0"/>
          </a:xfrm>
          <a:prstGeom prst="straightConnector1">
            <a:avLst/>
          </a:prstGeom>
          <a:ln w="4762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674BCB3-8345-4F42-B5A0-B72F5A191604}"/>
              </a:ext>
            </a:extLst>
          </p:cNvPr>
          <p:cNvCxnSpPr/>
          <p:nvPr/>
        </p:nvCxnSpPr>
        <p:spPr>
          <a:xfrm>
            <a:off x="7640993" y="6129458"/>
            <a:ext cx="472818" cy="0"/>
          </a:xfrm>
          <a:prstGeom prst="straightConnector1">
            <a:avLst/>
          </a:prstGeom>
          <a:ln w="4762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1F64AE4-8C70-58DA-CDFD-E26D6794DF4A}"/>
              </a:ext>
            </a:extLst>
          </p:cNvPr>
          <p:cNvSpPr txBox="1"/>
          <p:nvPr/>
        </p:nvSpPr>
        <p:spPr>
          <a:xfrm>
            <a:off x="8369010" y="5182350"/>
            <a:ext cx="3452501" cy="1138773"/>
          </a:xfrm>
          <a:prstGeom prst="rect">
            <a:avLst/>
          </a:prstGeom>
          <a:noFill/>
        </p:spPr>
        <p:txBody>
          <a:bodyPr wrap="square" rtlCol="0">
            <a:spAutoFit/>
          </a:bodyPr>
          <a:lstStyle/>
          <a:p>
            <a:r>
              <a:rPr lang="en-US" sz="2000" b="1" dirty="0">
                <a:latin typeface="Helvetica Neue" panose="02000503000000020004" pitchFamily="2" charset="0"/>
                <a:ea typeface="Helvetica Neue" panose="02000503000000020004" pitchFamily="2" charset="0"/>
                <a:cs typeface="Helvetica Neue" panose="02000503000000020004" pitchFamily="2" charset="0"/>
              </a:rPr>
              <a:t>Per Kilobase of transcript </a:t>
            </a:r>
          </a:p>
          <a:p>
            <a:endParaRPr lang="en-US" sz="1400" b="1" dirty="0">
              <a:latin typeface="Helvetica Neue" panose="02000503000000020004" pitchFamily="2" charset="0"/>
              <a:ea typeface="Helvetica Neue" panose="02000503000000020004" pitchFamily="2" charset="0"/>
              <a:cs typeface="Helvetica Neue" panose="02000503000000020004" pitchFamily="2" charset="0"/>
            </a:endParaRPr>
          </a:p>
          <a:p>
            <a:endParaRPr lang="en-US" sz="1400" b="1" dirty="0">
              <a:latin typeface="Helvetica Neue" panose="02000503000000020004" pitchFamily="2" charset="0"/>
              <a:ea typeface="Helvetica Neue" panose="02000503000000020004" pitchFamily="2" charset="0"/>
              <a:cs typeface="Helvetica Neue" panose="02000503000000020004" pitchFamily="2" charset="0"/>
            </a:endParaRPr>
          </a:p>
          <a:p>
            <a:r>
              <a:rPr lang="en-US" sz="2000" b="1" dirty="0">
                <a:latin typeface="Helvetica Neue" panose="02000503000000020004" pitchFamily="2" charset="0"/>
                <a:ea typeface="Helvetica Neue" panose="02000503000000020004" pitchFamily="2" charset="0"/>
                <a:cs typeface="Helvetica Neue" panose="02000503000000020004" pitchFamily="2" charset="0"/>
              </a:rPr>
              <a:t>per Million mapped reads.</a:t>
            </a:r>
          </a:p>
        </p:txBody>
      </p:sp>
    </p:spTree>
    <p:extLst>
      <p:ext uri="{BB962C8B-B14F-4D97-AF65-F5344CB8AC3E}">
        <p14:creationId xmlns:p14="http://schemas.microsoft.com/office/powerpoint/2010/main" val="166179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p:cNvSpPr>
            <a:spLocks noGrp="1"/>
          </p:cNvSpPr>
          <p:nvPr>
            <p:ph type="title"/>
          </p:nvPr>
        </p:nvSpPr>
        <p:spPr>
          <a:xfrm>
            <a:off x="1676400" y="-27384"/>
            <a:ext cx="8839200" cy="1143000"/>
          </a:xfrm>
        </p:spPr>
        <p:txBody>
          <a:bodyPr/>
          <a:lstStyle/>
          <a:p>
            <a:pPr algn="ctr"/>
            <a:r>
              <a:rPr lang="en-US" dirty="0">
                <a:latin typeface="Helvetica Neue" panose="02000503000000020004" pitchFamily="2" charset="0"/>
                <a:ea typeface="Helvetica Neue" panose="02000503000000020004" pitchFamily="2" charset="0"/>
                <a:cs typeface="Helvetica Neue" panose="02000503000000020004" pitchFamily="2" charset="0"/>
              </a:rPr>
              <a:t>What is FPKM?</a:t>
            </a:r>
          </a:p>
        </p:txBody>
      </p:sp>
      <p:sp>
        <p:nvSpPr>
          <p:cNvPr id="28674" name="Content Placeholder 2"/>
          <p:cNvSpPr>
            <a:spLocks noGrp="1"/>
          </p:cNvSpPr>
          <p:nvPr>
            <p:ph idx="1"/>
          </p:nvPr>
        </p:nvSpPr>
        <p:spPr>
          <a:xfrm>
            <a:off x="696685" y="1340768"/>
            <a:ext cx="10354491" cy="4983832"/>
          </a:xfrm>
        </p:spPr>
        <p:txBody>
          <a:bodyPr wrap="square">
            <a:normAutofit fontScale="85000" lnSpcReduction="20000"/>
          </a:bodyPr>
          <a:lstStyle/>
          <a:p>
            <a:r>
              <a:rPr lang="en-US" dirty="0">
                <a:latin typeface="Helvetica Neue" panose="02000503000000020004" pitchFamily="2" charset="0"/>
                <a:ea typeface="Helvetica Neue" panose="02000503000000020004" pitchFamily="2" charset="0"/>
                <a:cs typeface="Helvetica Neue" panose="02000503000000020004" pitchFamily="2" charset="0"/>
              </a:rPr>
              <a:t>FPKM attempts to normalize for gene size and library depth</a:t>
            </a:r>
          </a:p>
          <a:p>
            <a:pPr lvl="2"/>
            <a:r>
              <a:rPr lang="en-US" dirty="0">
                <a:latin typeface="Helvetica Neue" panose="02000503000000020004" pitchFamily="2" charset="0"/>
                <a:ea typeface="Helvetica Neue" panose="02000503000000020004" pitchFamily="2" charset="0"/>
                <a:cs typeface="Helvetica Neue" panose="02000503000000020004" pitchFamily="2" charset="0"/>
              </a:rPr>
              <a:t>remember – RPKM is essentially the same!</a:t>
            </a:r>
          </a:p>
          <a:p>
            <a:endParaRPr lang="nl-NL" dirty="0">
              <a:latin typeface="Helvetica Neue" panose="02000503000000020004" pitchFamily="2" charset="0"/>
              <a:ea typeface="Helvetica Neue" panose="02000503000000020004" pitchFamily="2" charset="0"/>
              <a:cs typeface="Helvetica Neue" panose="02000503000000020004" pitchFamily="2" charset="0"/>
            </a:endParaRPr>
          </a:p>
          <a:p>
            <a:r>
              <a:rPr lang="en-US" dirty="0">
                <a:latin typeface="Helvetica Neue" panose="02000503000000020004" pitchFamily="2" charset="0"/>
                <a:ea typeface="Helvetica Neue" panose="02000503000000020004" pitchFamily="2" charset="0"/>
                <a:cs typeface="Helvetica Neue" panose="02000503000000020004" pitchFamily="2" charset="0"/>
              </a:rPr>
              <a:t>C = number of mappable fragments for a gene (transcript)</a:t>
            </a:r>
          </a:p>
          <a:p>
            <a:r>
              <a:rPr lang="en-US" dirty="0">
                <a:latin typeface="Helvetica Neue" panose="02000503000000020004" pitchFamily="2" charset="0"/>
                <a:ea typeface="Helvetica Neue" panose="02000503000000020004" pitchFamily="2" charset="0"/>
                <a:cs typeface="Helvetica Neue" panose="02000503000000020004" pitchFamily="2" charset="0"/>
              </a:rPr>
              <a:t>N = total number of mappable fragments in the library </a:t>
            </a:r>
          </a:p>
          <a:p>
            <a:r>
              <a:rPr lang="en-US" dirty="0">
                <a:latin typeface="Helvetica Neue" panose="02000503000000020004" pitchFamily="2" charset="0"/>
                <a:ea typeface="Helvetica Neue" panose="02000503000000020004" pitchFamily="2" charset="0"/>
                <a:cs typeface="Helvetica Neue" panose="02000503000000020004" pitchFamily="2" charset="0"/>
              </a:rPr>
              <a:t>L = number of base pairs in the gene (transcript)</a:t>
            </a:r>
          </a:p>
          <a:p>
            <a:pPr lvl="1"/>
            <a:r>
              <a:rPr lang="nl-NL" dirty="0">
                <a:latin typeface="Helvetica Neue" panose="02000503000000020004" pitchFamily="2" charset="0"/>
                <a:ea typeface="Helvetica Neue" panose="02000503000000020004" pitchFamily="2" charset="0"/>
                <a:cs typeface="Helvetica Neue" panose="02000503000000020004" pitchFamily="2" charset="0"/>
              </a:rPr>
              <a:t>FPKM = (C / (N x L) ) x 1,000 x 1,000,000</a:t>
            </a:r>
            <a:r>
              <a:rPr lang="en-US" dirty="0">
                <a:latin typeface="Helvetica Neue" panose="02000503000000020004" pitchFamily="2" charset="0"/>
                <a:ea typeface="Helvetica Neue" panose="02000503000000020004" pitchFamily="2" charset="0"/>
                <a:cs typeface="Helvetica Neue" panose="02000503000000020004" pitchFamily="2" charset="0"/>
              </a:rPr>
              <a:t> </a:t>
            </a:r>
          </a:p>
          <a:p>
            <a:pPr lvl="1"/>
            <a:r>
              <a:rPr lang="en-US" dirty="0">
                <a:latin typeface="Helvetica Neue" panose="02000503000000020004" pitchFamily="2" charset="0"/>
                <a:ea typeface="Helvetica Neue" panose="02000503000000020004" pitchFamily="2" charset="0"/>
                <a:cs typeface="Helvetica Neue" panose="02000503000000020004" pitchFamily="2" charset="0"/>
              </a:rPr>
              <a:t>FPKM = (1,000,000,000 x C) / (N x L)</a:t>
            </a:r>
          </a:p>
          <a:p>
            <a:pPr lvl="1"/>
            <a:r>
              <a:rPr lang="en-US" dirty="0">
                <a:latin typeface="Helvetica Neue" panose="02000503000000020004" pitchFamily="2" charset="0"/>
                <a:ea typeface="Helvetica Neue" panose="02000503000000020004" pitchFamily="2" charset="0"/>
                <a:cs typeface="Helvetica Neue" panose="02000503000000020004" pitchFamily="2" charset="0"/>
              </a:rPr>
              <a:t>FPKM = (C / (N / 1,000,000)) / (L/1000)</a:t>
            </a:r>
          </a:p>
          <a:p>
            <a:pPr marL="457200" lvl="1" indent="0">
              <a:buNone/>
            </a:pPr>
            <a:br>
              <a:rPr lang="en-US" dirty="0">
                <a:latin typeface="Helvetica Neue" panose="02000503000000020004" pitchFamily="2" charset="0"/>
                <a:ea typeface="Helvetica Neue" panose="02000503000000020004" pitchFamily="2" charset="0"/>
                <a:cs typeface="Helvetica Neue" panose="02000503000000020004" pitchFamily="2" charset="0"/>
              </a:rPr>
            </a:b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r>
              <a:rPr lang="en-US" sz="2000" dirty="0">
                <a:latin typeface="Helvetica Neue" panose="02000503000000020004" pitchFamily="2" charset="0"/>
                <a:ea typeface="Helvetica Neue" panose="02000503000000020004" pitchFamily="2" charset="0"/>
                <a:cs typeface="Helvetica Neue" panose="02000503000000020004" pitchFamily="2" charset="0"/>
              </a:rPr>
              <a:t>More reading:</a:t>
            </a:r>
          </a:p>
          <a:p>
            <a:pPr lvl="1"/>
            <a:r>
              <a:rPr lang="en-US" sz="1600" dirty="0">
                <a:latin typeface="Helvetica Neue" panose="02000503000000020004" pitchFamily="2" charset="0"/>
                <a:ea typeface="Helvetica Neue" panose="02000503000000020004" pitchFamily="2" charset="0"/>
                <a:cs typeface="Helvetica Neue" panose="02000503000000020004" pitchFamily="2" charset="0"/>
                <a:hlinkClick r:id="rId3"/>
              </a:rPr>
              <a:t>http://www.biostars.org/p/11378/</a:t>
            </a:r>
            <a:endParaRPr lang="en-US" sz="1600" dirty="0">
              <a:latin typeface="Helvetica Neue" panose="02000503000000020004" pitchFamily="2" charset="0"/>
              <a:ea typeface="Helvetica Neue" panose="02000503000000020004" pitchFamily="2" charset="0"/>
              <a:cs typeface="Helvetica Neue" panose="02000503000000020004" pitchFamily="2" charset="0"/>
            </a:endParaRPr>
          </a:p>
          <a:p>
            <a:pPr lvl="1"/>
            <a:r>
              <a:rPr lang="en-US" sz="1600" dirty="0">
                <a:latin typeface="Helvetica Neue" panose="02000503000000020004" pitchFamily="2" charset="0"/>
                <a:ea typeface="Helvetica Neue" panose="02000503000000020004" pitchFamily="2" charset="0"/>
                <a:cs typeface="Helvetica Neue" panose="02000503000000020004" pitchFamily="2" charset="0"/>
                <a:hlinkClick r:id="rId4"/>
              </a:rPr>
              <a:t>http://www.biostars.org/p/68126/</a:t>
            </a:r>
            <a:endParaRPr lang="en-US" sz="1600" dirty="0">
              <a:latin typeface="Helvetica Neue" panose="02000503000000020004" pitchFamily="2" charset="0"/>
              <a:ea typeface="Helvetica Neue" panose="02000503000000020004" pitchFamily="2" charset="0"/>
              <a:cs typeface="Helvetica Neue" panose="02000503000000020004" pitchFamily="2" charset="0"/>
            </a:endParaRPr>
          </a:p>
          <a:p>
            <a:endParaRPr lang="en-US" dirty="0">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892545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4">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4">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674">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8674">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67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7384"/>
            <a:ext cx="8839200" cy="1143000"/>
          </a:xfrm>
        </p:spPr>
        <p:txBody>
          <a:bodyPr/>
          <a:lstStyle/>
          <a:p>
            <a:pPr algn="ctr"/>
            <a:r>
              <a:rPr lang="en-US" dirty="0">
                <a:latin typeface="Helvetica Neue" panose="02000503000000020004" pitchFamily="2" charset="0"/>
                <a:ea typeface="Helvetica Neue" panose="02000503000000020004" pitchFamily="2" charset="0"/>
                <a:cs typeface="Helvetica Neue" panose="02000503000000020004" pitchFamily="2" charset="0"/>
              </a:rPr>
              <a:t>How do FPKM and TPM differ?</a:t>
            </a:r>
          </a:p>
        </p:txBody>
      </p:sp>
      <p:sp>
        <p:nvSpPr>
          <p:cNvPr id="3" name="Content Placeholder 2"/>
          <p:cNvSpPr>
            <a:spLocks noGrp="1"/>
          </p:cNvSpPr>
          <p:nvPr>
            <p:ph idx="1"/>
          </p:nvPr>
        </p:nvSpPr>
        <p:spPr>
          <a:xfrm>
            <a:off x="1027611" y="994089"/>
            <a:ext cx="10180320" cy="1043690"/>
          </a:xfrm>
        </p:spPr>
        <p:txBody>
          <a:bodyPr>
            <a:normAutofit lnSpcReduction="10000"/>
          </a:bodyPr>
          <a:lstStyle/>
          <a:p>
            <a:r>
              <a:rPr lang="en-US" sz="2400" dirty="0">
                <a:latin typeface="Helvetica Neue" panose="02000503000000020004" pitchFamily="2" charset="0"/>
                <a:ea typeface="Helvetica Neue" panose="02000503000000020004" pitchFamily="2" charset="0"/>
                <a:cs typeface="Helvetica Neue" panose="02000503000000020004" pitchFamily="2" charset="0"/>
              </a:rPr>
              <a:t>TPM: Transcript per Kilobase Million</a:t>
            </a:r>
          </a:p>
          <a:p>
            <a:r>
              <a:rPr lang="en-US" sz="2400" dirty="0">
                <a:latin typeface="Helvetica Neue" panose="02000503000000020004" pitchFamily="2" charset="0"/>
                <a:ea typeface="Helvetica Neue" panose="02000503000000020004" pitchFamily="2" charset="0"/>
                <a:cs typeface="Helvetica Neue" panose="02000503000000020004" pitchFamily="2" charset="0"/>
              </a:rPr>
              <a:t>The difference is in the order of operations:</a:t>
            </a:r>
          </a:p>
        </p:txBody>
      </p:sp>
      <p:sp>
        <p:nvSpPr>
          <p:cNvPr id="4" name="Content Placeholder 2">
            <a:extLst>
              <a:ext uri="{FF2B5EF4-FFF2-40B4-BE49-F238E27FC236}">
                <a16:creationId xmlns:a16="http://schemas.microsoft.com/office/drawing/2014/main" id="{54F92D20-8AE2-DA44-A7D0-C91F848950E1}"/>
              </a:ext>
            </a:extLst>
          </p:cNvPr>
          <p:cNvSpPr txBox="1">
            <a:spLocks/>
          </p:cNvSpPr>
          <p:nvPr/>
        </p:nvSpPr>
        <p:spPr>
          <a:xfrm>
            <a:off x="927462" y="5011814"/>
            <a:ext cx="10180320" cy="1371571"/>
          </a:xfrm>
          <a:prstGeom prst="rect">
            <a:avLst/>
          </a:prstGeom>
        </p:spPr>
        <p:txBody>
          <a:bodyPr vert="horz" lIns="91440" tIns="45720" rIns="91440" bIns="45720" rtlCol="0">
            <a:normAutofit fontScale="4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2" indent="0">
              <a:buNone/>
            </a:pP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r>
              <a:rPr lang="en-US" sz="4400" dirty="0">
                <a:latin typeface="Helvetica Neue" panose="02000503000000020004" pitchFamily="2" charset="0"/>
                <a:ea typeface="Helvetica Neue" panose="02000503000000020004" pitchFamily="2" charset="0"/>
                <a:cs typeface="Helvetica Neue" panose="02000503000000020004" pitchFamily="2" charset="0"/>
              </a:rPr>
              <a:t>The sum of all TPMs in each sample is the same. Easier to compare across samples!</a:t>
            </a:r>
            <a:br>
              <a:rPr lang="en-US" sz="4400" dirty="0">
                <a:latin typeface="Helvetica Neue" panose="02000503000000020004" pitchFamily="2" charset="0"/>
                <a:ea typeface="Helvetica Neue" panose="02000503000000020004" pitchFamily="2" charset="0"/>
                <a:cs typeface="Helvetica Neue" panose="02000503000000020004" pitchFamily="2" charset="0"/>
              </a:rPr>
            </a:br>
            <a:endParaRPr lang="en-US" sz="4400" dirty="0">
              <a:latin typeface="Helvetica Neue" panose="02000503000000020004" pitchFamily="2" charset="0"/>
              <a:ea typeface="Helvetica Neue" panose="02000503000000020004" pitchFamily="2" charset="0"/>
              <a:cs typeface="Helvetica Neue" panose="02000503000000020004" pitchFamily="2" charset="0"/>
              <a:hlinkClick r:id="rId3"/>
            </a:endParaRPr>
          </a:p>
          <a:p>
            <a:r>
              <a:rPr lang="en-US" sz="3500" dirty="0">
                <a:latin typeface="Helvetica Neue" panose="02000503000000020004" pitchFamily="2" charset="0"/>
                <a:ea typeface="Helvetica Neue" panose="02000503000000020004" pitchFamily="2" charset="0"/>
                <a:cs typeface="Helvetica Neue" panose="02000503000000020004" pitchFamily="2" charset="0"/>
                <a:hlinkClick r:id="rId3"/>
              </a:rPr>
              <a:t>http://www.rna-seqblog.com/rpkm-fpkm-and-tpm-clearly-explained/</a:t>
            </a:r>
            <a:endParaRPr lang="en-US" sz="3500" dirty="0">
              <a:latin typeface="Helvetica Neue" panose="02000503000000020004" pitchFamily="2" charset="0"/>
              <a:ea typeface="Helvetica Neue" panose="02000503000000020004" pitchFamily="2" charset="0"/>
              <a:cs typeface="Helvetica Neue" panose="02000503000000020004" pitchFamily="2" charset="0"/>
            </a:endParaRPr>
          </a:p>
          <a:p>
            <a:r>
              <a:rPr lang="en-US" sz="3500" dirty="0">
                <a:latin typeface="Helvetica Neue" panose="02000503000000020004" pitchFamily="2" charset="0"/>
                <a:ea typeface="Helvetica Neue" panose="02000503000000020004" pitchFamily="2" charset="0"/>
                <a:cs typeface="Helvetica Neue" panose="02000503000000020004" pitchFamily="2" charset="0"/>
                <a:hlinkClick r:id="rId4"/>
              </a:rPr>
              <a:t>https://www.ncbi.nlm.nih.gov/pubmed/22872506</a:t>
            </a:r>
            <a:r>
              <a:rPr lang="en-US" sz="3500" dirty="0">
                <a:latin typeface="Helvetica Neue" panose="02000503000000020004" pitchFamily="2" charset="0"/>
                <a:ea typeface="Helvetica Neue" panose="02000503000000020004" pitchFamily="2" charset="0"/>
                <a:cs typeface="Helvetica Neue" panose="02000503000000020004" pitchFamily="2" charset="0"/>
              </a:rPr>
              <a:t> </a:t>
            </a:r>
          </a:p>
        </p:txBody>
      </p:sp>
      <p:sp>
        <p:nvSpPr>
          <p:cNvPr id="6" name="TextBox 5">
            <a:extLst>
              <a:ext uri="{FF2B5EF4-FFF2-40B4-BE49-F238E27FC236}">
                <a16:creationId xmlns:a16="http://schemas.microsoft.com/office/drawing/2014/main" id="{4F402C60-59F1-1B44-B621-7F0D62AD1900}"/>
              </a:ext>
            </a:extLst>
          </p:cNvPr>
          <p:cNvSpPr txBox="1"/>
          <p:nvPr/>
        </p:nvSpPr>
        <p:spPr>
          <a:xfrm>
            <a:off x="818605" y="2172339"/>
            <a:ext cx="4380412" cy="2708434"/>
          </a:xfrm>
          <a:prstGeom prst="rect">
            <a:avLst/>
          </a:prstGeom>
          <a:noFill/>
          <a:ln>
            <a:solidFill>
              <a:schemeClr val="bg1">
                <a:lumMod val="65000"/>
              </a:schemeClr>
            </a:solidFill>
          </a:ln>
        </p:spPr>
        <p:txBody>
          <a:bodyPr wrap="square" rtlCol="0">
            <a:spAutoFit/>
          </a:bodyPr>
          <a:lstStyle/>
          <a:p>
            <a:r>
              <a:rPr lang="en-US" b="1" dirty="0">
                <a:latin typeface="Helvetica Neue" panose="02000503000000020004" pitchFamily="2" charset="0"/>
                <a:ea typeface="Helvetica Neue" panose="02000503000000020004" pitchFamily="2" charset="0"/>
                <a:cs typeface="Helvetica Neue" panose="02000503000000020004" pitchFamily="2" charset="0"/>
              </a:rPr>
              <a:t>FPKM</a:t>
            </a:r>
            <a:br>
              <a:rPr lang="en-US" sz="1000" b="1" dirty="0">
                <a:latin typeface="Helvetica Neue" panose="02000503000000020004" pitchFamily="2" charset="0"/>
                <a:ea typeface="Helvetica Neue" panose="02000503000000020004" pitchFamily="2" charset="0"/>
                <a:cs typeface="Helvetica Neue" panose="02000503000000020004" pitchFamily="2" charset="0"/>
              </a:rPr>
            </a:br>
            <a:endParaRPr lang="en-US" sz="1000" b="1" dirty="0">
              <a:latin typeface="Helvetica Neue" panose="02000503000000020004" pitchFamily="2" charset="0"/>
              <a:ea typeface="Helvetica Neue" panose="02000503000000020004" pitchFamily="2" charset="0"/>
              <a:cs typeface="Helvetica Neue" panose="02000503000000020004" pitchFamily="2" charset="0"/>
            </a:endParaRPr>
          </a:p>
          <a:p>
            <a:r>
              <a:rPr lang="en-US" sz="1600" dirty="0">
                <a:latin typeface="Helvetica Neue" panose="02000503000000020004" pitchFamily="2" charset="0"/>
                <a:ea typeface="Helvetica Neue" panose="02000503000000020004" pitchFamily="2" charset="0"/>
                <a:cs typeface="Helvetica Neue" panose="02000503000000020004" pitchFamily="2" charset="0"/>
              </a:rPr>
              <a:t>1) Determine total fragment count, divide by 1,000,000 </a:t>
            </a:r>
            <a:r>
              <a:rPr lang="en-US" sz="1400" dirty="0">
                <a:solidFill>
                  <a:schemeClr val="bg2">
                    <a:lumMod val="50000"/>
                  </a:schemeClr>
                </a:solidFill>
                <a:latin typeface="Helvetica Neue" panose="02000503000000020004" pitchFamily="2" charset="0"/>
                <a:ea typeface="Helvetica Neue" panose="02000503000000020004" pitchFamily="2" charset="0"/>
                <a:cs typeface="Helvetica Neue" panose="02000503000000020004" pitchFamily="2" charset="0"/>
              </a:rPr>
              <a:t>(per Million)</a:t>
            </a:r>
            <a:br>
              <a:rPr lang="en-US" sz="1400" dirty="0">
                <a:latin typeface="Helvetica Neue" panose="02000503000000020004" pitchFamily="2" charset="0"/>
                <a:ea typeface="Helvetica Neue" panose="02000503000000020004" pitchFamily="2" charset="0"/>
                <a:cs typeface="Helvetica Neue" panose="02000503000000020004" pitchFamily="2" charset="0"/>
              </a:rPr>
            </a:br>
            <a:endParaRPr lang="en-US" sz="1400" dirty="0">
              <a:latin typeface="Helvetica Neue" panose="02000503000000020004" pitchFamily="2" charset="0"/>
              <a:ea typeface="Helvetica Neue" panose="02000503000000020004" pitchFamily="2" charset="0"/>
              <a:cs typeface="Helvetica Neue" panose="02000503000000020004" pitchFamily="2" charset="0"/>
            </a:endParaRPr>
          </a:p>
          <a:p>
            <a:r>
              <a:rPr lang="en-US" sz="1600" dirty="0">
                <a:latin typeface="Helvetica Neue" panose="02000503000000020004" pitchFamily="2" charset="0"/>
                <a:ea typeface="Helvetica Neue" panose="02000503000000020004" pitchFamily="2" charset="0"/>
                <a:cs typeface="Helvetica Neue" panose="02000503000000020004" pitchFamily="2" charset="0"/>
              </a:rPr>
              <a:t>2) Divide each gene/transcript fragment count by #1 </a:t>
            </a:r>
            <a:r>
              <a:rPr lang="en-US" sz="1400" dirty="0">
                <a:solidFill>
                  <a:schemeClr val="bg2">
                    <a:lumMod val="50000"/>
                  </a:schemeClr>
                </a:solidFill>
                <a:latin typeface="Helvetica Neue" panose="02000503000000020004" pitchFamily="2" charset="0"/>
                <a:ea typeface="Helvetica Neue" panose="02000503000000020004" pitchFamily="2" charset="0"/>
                <a:cs typeface="Helvetica Neue" panose="02000503000000020004" pitchFamily="2" charset="0"/>
              </a:rPr>
              <a:t>(Fragments Per Million)</a:t>
            </a:r>
            <a:endParaRPr lang="en-US" sz="1400" dirty="0">
              <a:latin typeface="Helvetica Neue" panose="02000503000000020004" pitchFamily="2" charset="0"/>
              <a:ea typeface="Helvetica Neue" panose="02000503000000020004" pitchFamily="2" charset="0"/>
              <a:cs typeface="Helvetica Neue" panose="02000503000000020004" pitchFamily="2" charset="0"/>
            </a:endParaRPr>
          </a:p>
          <a:p>
            <a:endParaRPr lang="en-US" sz="1600" dirty="0">
              <a:latin typeface="Helvetica Neue" panose="02000503000000020004" pitchFamily="2" charset="0"/>
              <a:ea typeface="Helvetica Neue" panose="02000503000000020004" pitchFamily="2" charset="0"/>
              <a:cs typeface="Helvetica Neue" panose="02000503000000020004" pitchFamily="2" charset="0"/>
            </a:endParaRPr>
          </a:p>
          <a:p>
            <a:r>
              <a:rPr lang="en-US" sz="1600" dirty="0">
                <a:latin typeface="Helvetica Neue" panose="02000503000000020004" pitchFamily="2" charset="0"/>
                <a:ea typeface="Helvetica Neue" panose="02000503000000020004" pitchFamily="2" charset="0"/>
                <a:cs typeface="Helvetica Neue" panose="02000503000000020004" pitchFamily="2" charset="0"/>
              </a:rPr>
              <a:t>3) Divide each FPM by length of each gene/transcript in kilobases </a:t>
            </a:r>
            <a:r>
              <a:rPr lang="en-US" sz="1400" dirty="0">
                <a:solidFill>
                  <a:schemeClr val="bg2">
                    <a:lumMod val="50000"/>
                  </a:schemeClr>
                </a:solidFill>
                <a:latin typeface="Helvetica Neue" panose="02000503000000020004" pitchFamily="2" charset="0"/>
                <a:ea typeface="Helvetica Neue" panose="02000503000000020004" pitchFamily="2" charset="0"/>
                <a:cs typeface="Helvetica Neue" panose="02000503000000020004" pitchFamily="2" charset="0"/>
              </a:rPr>
              <a:t>(FPKM)</a:t>
            </a:r>
          </a:p>
          <a:p>
            <a:endParaRPr lang="en-US" sz="16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 name="TextBox 6">
            <a:extLst>
              <a:ext uri="{FF2B5EF4-FFF2-40B4-BE49-F238E27FC236}">
                <a16:creationId xmlns:a16="http://schemas.microsoft.com/office/drawing/2014/main" id="{8377C2F8-4FD0-8646-9F7F-B2548A76E432}"/>
              </a:ext>
            </a:extLst>
          </p:cNvPr>
          <p:cNvSpPr txBox="1"/>
          <p:nvPr/>
        </p:nvSpPr>
        <p:spPr>
          <a:xfrm>
            <a:off x="6365966" y="2172339"/>
            <a:ext cx="4632960" cy="2739211"/>
          </a:xfrm>
          <a:prstGeom prst="rect">
            <a:avLst/>
          </a:prstGeom>
          <a:noFill/>
          <a:ln>
            <a:solidFill>
              <a:schemeClr val="bg1">
                <a:lumMod val="65000"/>
              </a:schemeClr>
            </a:solidFill>
          </a:ln>
        </p:spPr>
        <p:txBody>
          <a:bodyPr wrap="square" rtlCol="0">
            <a:spAutoFit/>
          </a:bodyPr>
          <a:lstStyle/>
          <a:p>
            <a:r>
              <a:rPr lang="en-US" b="1" dirty="0">
                <a:latin typeface="Helvetica Neue" panose="02000503000000020004" pitchFamily="2" charset="0"/>
                <a:ea typeface="Helvetica Neue" panose="02000503000000020004" pitchFamily="2" charset="0"/>
                <a:cs typeface="Helvetica Neue" panose="02000503000000020004" pitchFamily="2" charset="0"/>
              </a:rPr>
              <a:t>TPM</a:t>
            </a:r>
            <a:br>
              <a:rPr lang="en-US" sz="1000" b="1" dirty="0">
                <a:latin typeface="Helvetica Neue" panose="02000503000000020004" pitchFamily="2" charset="0"/>
                <a:ea typeface="Helvetica Neue" panose="02000503000000020004" pitchFamily="2" charset="0"/>
                <a:cs typeface="Helvetica Neue" panose="02000503000000020004" pitchFamily="2" charset="0"/>
              </a:rPr>
            </a:br>
            <a:endParaRPr lang="en-US" sz="1000" b="1" dirty="0">
              <a:latin typeface="Helvetica Neue" panose="02000503000000020004" pitchFamily="2" charset="0"/>
              <a:ea typeface="Helvetica Neue" panose="02000503000000020004" pitchFamily="2" charset="0"/>
              <a:cs typeface="Helvetica Neue" panose="02000503000000020004" pitchFamily="2" charset="0"/>
            </a:endParaRPr>
          </a:p>
          <a:p>
            <a:r>
              <a:rPr lang="en-US" sz="1600" dirty="0">
                <a:latin typeface="Helvetica Neue" panose="02000503000000020004" pitchFamily="2" charset="0"/>
                <a:ea typeface="Helvetica Neue" panose="02000503000000020004" pitchFamily="2" charset="0"/>
                <a:cs typeface="Helvetica Neue" panose="02000503000000020004" pitchFamily="2" charset="0"/>
              </a:rPr>
              <a:t>1) Divide each gene/transcript fragment count by length of the transcript in kilobases  </a:t>
            </a:r>
            <a:r>
              <a:rPr lang="en-US" sz="1400" dirty="0">
                <a:solidFill>
                  <a:schemeClr val="bg2">
                    <a:lumMod val="50000"/>
                  </a:schemeClr>
                </a:solidFill>
                <a:latin typeface="Helvetica Neue" panose="02000503000000020004" pitchFamily="2" charset="0"/>
                <a:ea typeface="Helvetica Neue" panose="02000503000000020004" pitchFamily="2" charset="0"/>
                <a:cs typeface="Helvetica Neue" panose="02000503000000020004" pitchFamily="2" charset="0"/>
              </a:rPr>
              <a:t>(Fragments Per Kilobase)</a:t>
            </a:r>
          </a:p>
          <a:p>
            <a:br>
              <a:rPr lang="en-US" sz="1600" dirty="0">
                <a:latin typeface="Helvetica Neue" panose="02000503000000020004" pitchFamily="2" charset="0"/>
                <a:ea typeface="Helvetica Neue" panose="02000503000000020004" pitchFamily="2" charset="0"/>
                <a:cs typeface="Helvetica Neue" panose="02000503000000020004" pitchFamily="2" charset="0"/>
              </a:rPr>
            </a:br>
            <a:r>
              <a:rPr lang="en-US" sz="1600" dirty="0">
                <a:latin typeface="Helvetica Neue" panose="02000503000000020004" pitchFamily="2" charset="0"/>
                <a:ea typeface="Helvetica Neue" panose="02000503000000020004" pitchFamily="2" charset="0"/>
                <a:cs typeface="Helvetica Neue" panose="02000503000000020004" pitchFamily="2" charset="0"/>
              </a:rPr>
              <a:t>2) Sum all FPK values for the sample and divide by 1,000,000 </a:t>
            </a:r>
            <a:r>
              <a:rPr lang="en-US" sz="1400" dirty="0">
                <a:solidFill>
                  <a:schemeClr val="bg2">
                    <a:lumMod val="50000"/>
                  </a:schemeClr>
                </a:solidFill>
                <a:latin typeface="Helvetica Neue" panose="02000503000000020004" pitchFamily="2" charset="0"/>
                <a:ea typeface="Helvetica Neue" panose="02000503000000020004" pitchFamily="2" charset="0"/>
                <a:cs typeface="Helvetica Neue" panose="02000503000000020004" pitchFamily="2" charset="0"/>
              </a:rPr>
              <a:t>(per Million)</a:t>
            </a:r>
          </a:p>
          <a:p>
            <a:br>
              <a:rPr lang="en-US" sz="1600" dirty="0">
                <a:latin typeface="Helvetica Neue" panose="02000503000000020004" pitchFamily="2" charset="0"/>
                <a:ea typeface="Helvetica Neue" panose="02000503000000020004" pitchFamily="2" charset="0"/>
                <a:cs typeface="Helvetica Neue" panose="02000503000000020004" pitchFamily="2" charset="0"/>
              </a:rPr>
            </a:br>
            <a:r>
              <a:rPr lang="en-US" sz="1600" dirty="0">
                <a:latin typeface="Helvetica Neue" panose="02000503000000020004" pitchFamily="2" charset="0"/>
                <a:ea typeface="Helvetica Neue" panose="02000503000000020004" pitchFamily="2" charset="0"/>
                <a:cs typeface="Helvetica Neue" panose="02000503000000020004" pitchFamily="2" charset="0"/>
              </a:rPr>
              <a:t>3) Divide #1 by #2 </a:t>
            </a:r>
            <a:r>
              <a:rPr lang="en-US" sz="1600" dirty="0">
                <a:solidFill>
                  <a:schemeClr val="bg2">
                    <a:lumMod val="50000"/>
                  </a:schemeClr>
                </a:solidFill>
                <a:latin typeface="Helvetica Neue" panose="02000503000000020004" pitchFamily="2" charset="0"/>
                <a:ea typeface="Helvetica Neue" panose="02000503000000020004" pitchFamily="2" charset="0"/>
                <a:cs typeface="Helvetica Neue" panose="02000503000000020004" pitchFamily="2" charset="0"/>
              </a:rPr>
              <a:t>(TPM)</a:t>
            </a:r>
          </a:p>
          <a:p>
            <a:endParaRPr lang="en-US" sz="1600" dirty="0">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15429183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nbt.3122-S1_Page_13.png"/>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rcRect l="12267" t="9572" r="12178" b="46442"/>
          <a:stretch/>
        </p:blipFill>
        <p:spPr>
          <a:xfrm>
            <a:off x="4059091" y="584888"/>
            <a:ext cx="7691561" cy="5794824"/>
          </a:xfrm>
        </p:spPr>
      </p:pic>
      <p:sp>
        <p:nvSpPr>
          <p:cNvPr id="6" name="TextBox 5">
            <a:extLst>
              <a:ext uri="{FF2B5EF4-FFF2-40B4-BE49-F238E27FC236}">
                <a16:creationId xmlns:a16="http://schemas.microsoft.com/office/drawing/2014/main" id="{D981205D-7164-1940-AD7E-4AD9C0A95664}"/>
              </a:ext>
            </a:extLst>
          </p:cNvPr>
          <p:cNvSpPr txBox="1"/>
          <p:nvPr/>
        </p:nvSpPr>
        <p:spPr>
          <a:xfrm>
            <a:off x="122548" y="1116733"/>
            <a:ext cx="3558082" cy="4770537"/>
          </a:xfrm>
          <a:prstGeom prst="rect">
            <a:avLst/>
          </a:prstGeom>
          <a:noFill/>
        </p:spPr>
        <p:txBody>
          <a:bodyPr wrap="square" rtlCol="0">
            <a:spAutoFit/>
          </a:bodyPr>
          <a:lstStyle/>
          <a:p>
            <a:r>
              <a:rPr lang="en-US" sz="1600" dirty="0">
                <a:latin typeface="Helvetica Neue" panose="02000503000000020004" pitchFamily="2" charset="0"/>
                <a:ea typeface="Helvetica Neue" panose="02000503000000020004" pitchFamily="2" charset="0"/>
                <a:cs typeface="Helvetica Neue" panose="02000503000000020004" pitchFamily="2" charset="0"/>
              </a:rPr>
              <a:t>Map reads to the genome</a:t>
            </a:r>
            <a:br>
              <a:rPr lang="en-US" sz="1600" dirty="0">
                <a:latin typeface="Helvetica Neue" panose="02000503000000020004" pitchFamily="2" charset="0"/>
                <a:ea typeface="Helvetica Neue" panose="02000503000000020004" pitchFamily="2" charset="0"/>
                <a:cs typeface="Helvetica Neue" panose="02000503000000020004" pitchFamily="2" charset="0"/>
              </a:rPr>
            </a:br>
            <a:endParaRPr lang="en-US" sz="1600" dirty="0">
              <a:latin typeface="Helvetica Neue" panose="02000503000000020004" pitchFamily="2" charset="0"/>
              <a:ea typeface="Helvetica Neue" panose="02000503000000020004" pitchFamily="2" charset="0"/>
              <a:cs typeface="Helvetica Neue" panose="02000503000000020004" pitchFamily="2" charset="0"/>
            </a:endParaRPr>
          </a:p>
          <a:p>
            <a:br>
              <a:rPr lang="en-US" sz="1600" dirty="0">
                <a:latin typeface="Helvetica Neue" panose="02000503000000020004" pitchFamily="2" charset="0"/>
                <a:ea typeface="Helvetica Neue" panose="02000503000000020004" pitchFamily="2" charset="0"/>
                <a:cs typeface="Helvetica Neue" panose="02000503000000020004" pitchFamily="2" charset="0"/>
              </a:rPr>
            </a:br>
            <a:r>
              <a:rPr lang="en-US" sz="1600" dirty="0">
                <a:latin typeface="Helvetica Neue" panose="02000503000000020004" pitchFamily="2" charset="0"/>
                <a:ea typeface="Helvetica Neue" panose="02000503000000020004" pitchFamily="2" charset="0"/>
                <a:cs typeface="Helvetica Neue" panose="02000503000000020004" pitchFamily="2" charset="0"/>
              </a:rPr>
              <a:t>Infer isoforms:</a:t>
            </a:r>
            <a:br>
              <a:rPr lang="en-US" sz="1600" dirty="0">
                <a:latin typeface="Helvetica Neue" panose="02000503000000020004" pitchFamily="2" charset="0"/>
                <a:ea typeface="Helvetica Neue" panose="02000503000000020004" pitchFamily="2" charset="0"/>
                <a:cs typeface="Helvetica Neue" panose="02000503000000020004" pitchFamily="2" charset="0"/>
              </a:rPr>
            </a:br>
            <a:endParaRPr lang="en-US" sz="1600" dirty="0">
              <a:latin typeface="Helvetica Neue" panose="02000503000000020004" pitchFamily="2" charset="0"/>
              <a:ea typeface="Helvetica Neue" panose="02000503000000020004" pitchFamily="2" charset="0"/>
              <a:cs typeface="Helvetica Neue" panose="02000503000000020004" pitchFamily="2" charset="0"/>
            </a:endParaRPr>
          </a:p>
          <a:p>
            <a:pPr marL="285750" indent="-285750">
              <a:buFontTx/>
              <a:buChar char="-"/>
            </a:pPr>
            <a:r>
              <a:rPr lang="en-US" sz="1600" dirty="0">
                <a:latin typeface="Helvetica Neue" panose="02000503000000020004" pitchFamily="2" charset="0"/>
                <a:ea typeface="Helvetica Neue" panose="02000503000000020004" pitchFamily="2" charset="0"/>
                <a:cs typeface="Helvetica Neue" panose="02000503000000020004" pitchFamily="2" charset="0"/>
              </a:rPr>
              <a:t>iteratively extract the heaviest path from a splice graph</a:t>
            </a:r>
            <a:br>
              <a:rPr lang="en-US" sz="1600" dirty="0">
                <a:latin typeface="Helvetica Neue" panose="02000503000000020004" pitchFamily="2" charset="0"/>
                <a:ea typeface="Helvetica Neue" panose="02000503000000020004" pitchFamily="2" charset="0"/>
                <a:cs typeface="Helvetica Neue" panose="02000503000000020004" pitchFamily="2" charset="0"/>
              </a:rPr>
            </a:br>
            <a:endParaRPr lang="en-US" sz="1600" dirty="0">
              <a:latin typeface="Helvetica Neue" panose="02000503000000020004" pitchFamily="2" charset="0"/>
              <a:ea typeface="Helvetica Neue" panose="02000503000000020004" pitchFamily="2" charset="0"/>
              <a:cs typeface="Helvetica Neue" panose="02000503000000020004" pitchFamily="2" charset="0"/>
            </a:endParaRPr>
          </a:p>
          <a:p>
            <a:pPr marL="285750" indent="-285750">
              <a:buFontTx/>
              <a:buChar char="-"/>
            </a:pPr>
            <a:r>
              <a:rPr lang="en-US" sz="1600" dirty="0">
                <a:latin typeface="Helvetica Neue" panose="02000503000000020004" pitchFamily="2" charset="0"/>
                <a:ea typeface="Helvetica Neue" panose="02000503000000020004" pitchFamily="2" charset="0"/>
                <a:cs typeface="Helvetica Neue" panose="02000503000000020004" pitchFamily="2" charset="0"/>
              </a:rPr>
              <a:t>construct a flow network</a:t>
            </a:r>
            <a:br>
              <a:rPr lang="en-US" sz="1600" dirty="0">
                <a:latin typeface="Helvetica Neue" panose="02000503000000020004" pitchFamily="2" charset="0"/>
                <a:ea typeface="Helvetica Neue" panose="02000503000000020004" pitchFamily="2" charset="0"/>
                <a:cs typeface="Helvetica Neue" panose="02000503000000020004" pitchFamily="2" charset="0"/>
              </a:rPr>
            </a:br>
            <a:endParaRPr lang="en-US" sz="1600" dirty="0">
              <a:latin typeface="Helvetica Neue" panose="02000503000000020004" pitchFamily="2" charset="0"/>
              <a:ea typeface="Helvetica Neue" panose="02000503000000020004" pitchFamily="2" charset="0"/>
              <a:cs typeface="Helvetica Neue" panose="02000503000000020004" pitchFamily="2" charset="0"/>
            </a:endParaRPr>
          </a:p>
          <a:p>
            <a:pPr marL="285750" indent="-285750">
              <a:buFontTx/>
              <a:buChar char="-"/>
            </a:pPr>
            <a:r>
              <a:rPr lang="en-US" sz="1600" dirty="0">
                <a:latin typeface="Helvetica Neue" panose="02000503000000020004" pitchFamily="2" charset="0"/>
                <a:ea typeface="Helvetica Neue" panose="02000503000000020004" pitchFamily="2" charset="0"/>
                <a:cs typeface="Helvetica Neue" panose="02000503000000020004" pitchFamily="2" charset="0"/>
              </a:rPr>
              <a:t>compute maximum flow to estimate abundance</a:t>
            </a:r>
            <a:br>
              <a:rPr lang="en-US" sz="1600" dirty="0">
                <a:latin typeface="Helvetica Neue" panose="02000503000000020004" pitchFamily="2" charset="0"/>
                <a:ea typeface="Helvetica Neue" panose="02000503000000020004" pitchFamily="2" charset="0"/>
                <a:cs typeface="Helvetica Neue" panose="02000503000000020004" pitchFamily="2" charset="0"/>
              </a:rPr>
            </a:br>
            <a:endParaRPr lang="en-US" sz="1600" dirty="0">
              <a:latin typeface="Helvetica Neue" panose="02000503000000020004" pitchFamily="2" charset="0"/>
              <a:ea typeface="Helvetica Neue" panose="02000503000000020004" pitchFamily="2" charset="0"/>
              <a:cs typeface="Helvetica Neue" panose="02000503000000020004" pitchFamily="2" charset="0"/>
            </a:endParaRPr>
          </a:p>
          <a:p>
            <a:pPr marL="285750" indent="-285750">
              <a:buFontTx/>
              <a:buChar char="-"/>
            </a:pPr>
            <a:r>
              <a:rPr lang="en-US" sz="1600" dirty="0">
                <a:latin typeface="Helvetica Neue" panose="02000503000000020004" pitchFamily="2" charset="0"/>
                <a:ea typeface="Helvetica Neue" panose="02000503000000020004" pitchFamily="2" charset="0"/>
                <a:cs typeface="Helvetica Neue" panose="02000503000000020004" pitchFamily="2" charset="0"/>
              </a:rPr>
              <a:t>update the splice graph by removing reads that were assigned by the flow algorithm</a:t>
            </a:r>
            <a:br>
              <a:rPr lang="en-US" sz="1600" dirty="0">
                <a:latin typeface="Helvetica Neue" panose="02000503000000020004" pitchFamily="2" charset="0"/>
                <a:ea typeface="Helvetica Neue" panose="02000503000000020004" pitchFamily="2" charset="0"/>
                <a:cs typeface="Helvetica Neue" panose="02000503000000020004" pitchFamily="2" charset="0"/>
              </a:rPr>
            </a:br>
            <a:endParaRPr lang="en-US" sz="1600" dirty="0">
              <a:latin typeface="Helvetica Neue" panose="02000503000000020004" pitchFamily="2" charset="0"/>
              <a:ea typeface="Helvetica Neue" panose="02000503000000020004" pitchFamily="2" charset="0"/>
              <a:cs typeface="Helvetica Neue" panose="02000503000000020004" pitchFamily="2" charset="0"/>
            </a:endParaRPr>
          </a:p>
          <a:p>
            <a:pPr marL="285750" indent="-285750">
              <a:buFontTx/>
              <a:buChar char="-"/>
            </a:pPr>
            <a:r>
              <a:rPr lang="en-US" sz="1600" dirty="0">
                <a:latin typeface="Helvetica Neue" panose="02000503000000020004" pitchFamily="2" charset="0"/>
                <a:ea typeface="Helvetica Neue" panose="02000503000000020004" pitchFamily="2" charset="0"/>
                <a:cs typeface="Helvetica Neue" panose="02000503000000020004" pitchFamily="2" charset="0"/>
              </a:rPr>
              <a:t>This process repeats until all reads have been assigned. </a:t>
            </a:r>
          </a:p>
        </p:txBody>
      </p:sp>
      <p:sp>
        <p:nvSpPr>
          <p:cNvPr id="7" name="Title 1">
            <a:extLst>
              <a:ext uri="{FF2B5EF4-FFF2-40B4-BE49-F238E27FC236}">
                <a16:creationId xmlns:a16="http://schemas.microsoft.com/office/drawing/2014/main" id="{35C845F0-3C59-F244-A6E6-72CEFB68E45B}"/>
              </a:ext>
            </a:extLst>
          </p:cNvPr>
          <p:cNvSpPr>
            <a:spLocks noGrp="1"/>
          </p:cNvSpPr>
          <p:nvPr>
            <p:ph type="title"/>
          </p:nvPr>
        </p:nvSpPr>
        <p:spPr>
          <a:xfrm>
            <a:off x="1676400" y="94821"/>
            <a:ext cx="8839200" cy="490066"/>
          </a:xfrm>
        </p:spPr>
        <p:txBody>
          <a:bodyPr>
            <a:normAutofit fontScale="90000"/>
          </a:bodyPr>
          <a:lstStyle/>
          <a:p>
            <a:pPr algn="ctr"/>
            <a:r>
              <a:rPr lang="en-US" dirty="0">
                <a:latin typeface="Helvetica Neue" panose="02000503000000020004" pitchFamily="2" charset="0"/>
                <a:ea typeface="Helvetica Neue" panose="02000503000000020004" pitchFamily="2" charset="0"/>
                <a:cs typeface="Helvetica Neue" panose="02000503000000020004" pitchFamily="2" charset="0"/>
              </a:rPr>
              <a:t>How does StringTie work?</a:t>
            </a:r>
          </a:p>
        </p:txBody>
      </p:sp>
      <p:sp>
        <p:nvSpPr>
          <p:cNvPr id="8" name="TextBox 7">
            <a:extLst>
              <a:ext uri="{FF2B5EF4-FFF2-40B4-BE49-F238E27FC236}">
                <a16:creationId xmlns:a16="http://schemas.microsoft.com/office/drawing/2014/main" id="{9A549B85-0517-644D-8FB1-49811967085B}"/>
              </a:ext>
            </a:extLst>
          </p:cNvPr>
          <p:cNvSpPr txBox="1"/>
          <p:nvPr/>
        </p:nvSpPr>
        <p:spPr>
          <a:xfrm>
            <a:off x="8758091" y="6161314"/>
            <a:ext cx="5472608" cy="276999"/>
          </a:xfrm>
          <a:prstGeom prst="rect">
            <a:avLst/>
          </a:prstGeom>
          <a:noFill/>
        </p:spPr>
        <p:txBody>
          <a:bodyPr wrap="square" rtlCol="0">
            <a:spAutoFit/>
          </a:bodyPr>
          <a:lstStyle/>
          <a:p>
            <a:r>
              <a:rPr lang="en-US" sz="1200" dirty="0" err="1">
                <a:latin typeface="Helvetica Neue" panose="02000503000000020004" pitchFamily="2" charset="0"/>
                <a:ea typeface="Helvetica Neue" panose="02000503000000020004" pitchFamily="2" charset="0"/>
                <a:cs typeface="Helvetica Neue" panose="02000503000000020004" pitchFamily="2" charset="0"/>
              </a:rPr>
              <a:t>Pertea</a:t>
            </a:r>
            <a:r>
              <a:rPr lang="en-US" sz="1200" dirty="0">
                <a:latin typeface="Helvetica Neue" panose="02000503000000020004" pitchFamily="2" charset="0"/>
                <a:ea typeface="Helvetica Neue" panose="02000503000000020004" pitchFamily="2" charset="0"/>
                <a:cs typeface="Helvetica Neue" panose="02000503000000020004" pitchFamily="2" charset="0"/>
              </a:rPr>
              <a:t> et al. Nature Biotechnology, 2015</a:t>
            </a:r>
          </a:p>
        </p:txBody>
      </p:sp>
    </p:spTree>
    <p:extLst>
      <p:ext uri="{BB962C8B-B14F-4D97-AF65-F5344CB8AC3E}">
        <p14:creationId xmlns:p14="http://schemas.microsoft.com/office/powerpoint/2010/main" val="1570802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44624"/>
            <a:ext cx="8839200" cy="1008112"/>
          </a:xfrm>
        </p:spPr>
        <p:txBody>
          <a:bodyPr>
            <a:normAutofit fontScale="90000"/>
          </a:bodyPr>
          <a:lstStyle/>
          <a:p>
            <a:pPr algn="ctr"/>
            <a:r>
              <a:rPr lang="en-US" sz="2800" dirty="0">
                <a:latin typeface="Helvetica Neue" panose="02000503000000020004" pitchFamily="2" charset="0"/>
                <a:ea typeface="Helvetica Neue" panose="02000503000000020004" pitchFamily="2" charset="0"/>
                <a:cs typeface="Helvetica Neue" panose="02000503000000020004" pitchFamily="2" charset="0"/>
              </a:rPr>
              <a:t>From flow network for each transcript, maximum flow is used to assemble transcript and estimate abundance </a:t>
            </a:r>
          </a:p>
        </p:txBody>
      </p:sp>
      <p:pic>
        <p:nvPicPr>
          <p:cNvPr id="4" name="Content Placeholder 3" descr="nbt.3122-S1_Page_14.png"/>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rcRect l="17889" t="11473" r="30804" b="58388"/>
          <a:stretch/>
        </p:blipFill>
        <p:spPr>
          <a:xfrm>
            <a:off x="2639616" y="980728"/>
            <a:ext cx="6480720" cy="4926544"/>
          </a:xfrm>
        </p:spPr>
      </p:pic>
      <p:sp>
        <p:nvSpPr>
          <p:cNvPr id="5" name="Rectangle 4"/>
          <p:cNvSpPr/>
          <p:nvPr/>
        </p:nvSpPr>
        <p:spPr>
          <a:xfrm>
            <a:off x="1206966" y="5907272"/>
            <a:ext cx="9346020" cy="523220"/>
          </a:xfrm>
          <a:prstGeom prst="rect">
            <a:avLst/>
          </a:prstGeom>
        </p:spPr>
        <p:txBody>
          <a:bodyPr wrap="square">
            <a:spAutoFit/>
          </a:bodyPr>
          <a:lstStyle/>
          <a:p>
            <a:r>
              <a:rPr lang="en-US" sz="1400" dirty="0">
                <a:latin typeface="Helvetica Neue" panose="02000503000000020004" pitchFamily="2" charset="0"/>
                <a:ea typeface="Helvetica Neue" panose="02000503000000020004" pitchFamily="2" charset="0"/>
                <a:cs typeface="Helvetica Neue" panose="02000503000000020004" pitchFamily="2" charset="0"/>
              </a:rPr>
              <a:t>StringTie uses basic graph theory (splice graph), custom heuristics (heaviest path), more graph theory (flow network) and optimization theory (maximum flow). See StringTie paper for definitions and math.</a:t>
            </a:r>
          </a:p>
        </p:txBody>
      </p:sp>
    </p:spTree>
    <p:extLst>
      <p:ext uri="{BB962C8B-B14F-4D97-AF65-F5344CB8AC3E}">
        <p14:creationId xmlns:p14="http://schemas.microsoft.com/office/powerpoint/2010/main" val="3680228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Helvetica Neue" panose="02000503000000020004" pitchFamily="2" charset="0"/>
                <a:ea typeface="Helvetica Neue" panose="02000503000000020004" pitchFamily="2" charset="0"/>
                <a:cs typeface="Helvetica Neue" panose="02000503000000020004" pitchFamily="2" charset="0"/>
              </a:rPr>
              <a:t>StringTie -merge</a:t>
            </a:r>
          </a:p>
        </p:txBody>
      </p:sp>
      <p:sp>
        <p:nvSpPr>
          <p:cNvPr id="3" name="Content Placeholder 2"/>
          <p:cNvSpPr>
            <a:spLocks noGrp="1"/>
          </p:cNvSpPr>
          <p:nvPr>
            <p:ph idx="1"/>
          </p:nvPr>
        </p:nvSpPr>
        <p:spPr/>
        <p:txBody>
          <a:bodyPr/>
          <a:lstStyle/>
          <a:p>
            <a:r>
              <a:rPr lang="en-US" dirty="0">
                <a:latin typeface="Helvetica Neue" panose="02000503000000020004" pitchFamily="2" charset="0"/>
                <a:ea typeface="Helvetica Neue" panose="02000503000000020004" pitchFamily="2" charset="0"/>
                <a:cs typeface="Helvetica Neue" panose="02000503000000020004" pitchFamily="2" charset="0"/>
              </a:rPr>
              <a:t>Merge together all gene structures from all samples</a:t>
            </a:r>
          </a:p>
          <a:p>
            <a:pPr lvl="1"/>
            <a:r>
              <a:rPr lang="en-US" dirty="0">
                <a:latin typeface="Helvetica Neue" panose="02000503000000020004" pitchFamily="2" charset="0"/>
                <a:ea typeface="Helvetica Neue" panose="02000503000000020004" pitchFamily="2" charset="0"/>
                <a:cs typeface="Helvetica Neue" panose="02000503000000020004" pitchFamily="2" charset="0"/>
              </a:rPr>
              <a:t>Some samples may only partially represent a gene structure</a:t>
            </a:r>
            <a:br>
              <a:rPr lang="en-US" dirty="0">
                <a:latin typeface="Helvetica Neue" panose="02000503000000020004" pitchFamily="2" charset="0"/>
                <a:ea typeface="Helvetica Neue" panose="02000503000000020004" pitchFamily="2" charset="0"/>
                <a:cs typeface="Helvetica Neue" panose="02000503000000020004" pitchFamily="2" charset="0"/>
              </a:rPr>
            </a:b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r>
              <a:rPr lang="en-US" dirty="0">
                <a:latin typeface="Helvetica Neue" panose="02000503000000020004" pitchFamily="2" charset="0"/>
                <a:ea typeface="Helvetica Neue" panose="02000503000000020004" pitchFamily="2" charset="0"/>
                <a:cs typeface="Helvetica Neue" panose="02000503000000020004" pitchFamily="2" charset="0"/>
              </a:rPr>
              <a:t>Incorporates known transcripts with assembled, potentially novel transcripts</a:t>
            </a:r>
            <a:br>
              <a:rPr lang="en-US" dirty="0">
                <a:latin typeface="Helvetica Neue" panose="02000503000000020004" pitchFamily="2" charset="0"/>
                <a:ea typeface="Helvetica Neue" panose="02000503000000020004" pitchFamily="2" charset="0"/>
                <a:cs typeface="Helvetica Neue" panose="02000503000000020004" pitchFamily="2" charset="0"/>
              </a:rPr>
            </a:b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r>
              <a:rPr lang="en-US" dirty="0">
                <a:latin typeface="Helvetica Neue" panose="02000503000000020004" pitchFamily="2" charset="0"/>
                <a:ea typeface="Helvetica Neue" panose="02000503000000020004" pitchFamily="2" charset="0"/>
                <a:cs typeface="Helvetica Neue" panose="02000503000000020004" pitchFamily="2" charset="0"/>
              </a:rPr>
              <a:t>For de novo or reference guided mode, we will rerun StringTie with the merged transcript assembly.</a:t>
            </a:r>
          </a:p>
        </p:txBody>
      </p:sp>
      <p:sp>
        <p:nvSpPr>
          <p:cNvPr id="4" name="TextBox 3"/>
          <p:cNvSpPr txBox="1"/>
          <p:nvPr/>
        </p:nvSpPr>
        <p:spPr>
          <a:xfrm>
            <a:off x="6240016" y="6021288"/>
            <a:ext cx="4427984" cy="307777"/>
          </a:xfrm>
          <a:prstGeom prst="rect">
            <a:avLst/>
          </a:prstGeom>
          <a:noFill/>
        </p:spPr>
        <p:txBody>
          <a:bodyPr wrap="square" rtlCol="0">
            <a:spAutoFit/>
          </a:bodyPr>
          <a:lstStyle/>
          <a:p>
            <a:r>
              <a:rPr lang="en-US" dirty="0" err="1">
                <a:latin typeface="Helvetica Neue" panose="02000503000000020004" pitchFamily="2" charset="0"/>
                <a:ea typeface="Helvetica Neue" panose="02000503000000020004" pitchFamily="2" charset="0"/>
                <a:cs typeface="Helvetica Neue" panose="02000503000000020004" pitchFamily="2" charset="0"/>
              </a:rPr>
              <a:t>Pertea</a:t>
            </a:r>
            <a:r>
              <a:rPr lang="en-US" dirty="0">
                <a:latin typeface="Helvetica Neue" panose="02000503000000020004" pitchFamily="2" charset="0"/>
                <a:ea typeface="Helvetica Neue" panose="02000503000000020004" pitchFamily="2" charset="0"/>
                <a:cs typeface="Helvetica Neue" panose="02000503000000020004" pitchFamily="2" charset="0"/>
              </a:rPr>
              <a:t> et al. Nature Protocols, 2016</a:t>
            </a:r>
          </a:p>
        </p:txBody>
      </p:sp>
    </p:spTree>
    <p:extLst>
      <p:ext uri="{BB962C8B-B14F-4D97-AF65-F5344CB8AC3E}">
        <p14:creationId xmlns:p14="http://schemas.microsoft.com/office/powerpoint/2010/main" val="34901533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a:latin typeface="Helvetica Neue" panose="02000503000000020004" pitchFamily="2" charset="0"/>
                <a:ea typeface="Helvetica Neue" panose="02000503000000020004" pitchFamily="2" charset="0"/>
                <a:cs typeface="Helvetica Neue" panose="02000503000000020004" pitchFamily="2" charset="0"/>
              </a:rPr>
              <a:t>gffcompare</a:t>
            </a:r>
            <a:endParaRPr lang="en-US"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 name="Content Placeholder 2">
            <a:extLst>
              <a:ext uri="{FF2B5EF4-FFF2-40B4-BE49-F238E27FC236}">
                <a16:creationId xmlns:a16="http://schemas.microsoft.com/office/drawing/2014/main" id="{3DD2DCB1-7456-FA4B-B5D8-CA06BD02983C}"/>
              </a:ext>
            </a:extLst>
          </p:cNvPr>
          <p:cNvSpPr>
            <a:spLocks noGrp="1"/>
          </p:cNvSpPr>
          <p:nvPr>
            <p:ph idx="1"/>
          </p:nvPr>
        </p:nvSpPr>
        <p:spPr>
          <a:xfrm>
            <a:off x="203200" y="1600200"/>
            <a:ext cx="5791200" cy="4724400"/>
          </a:xfrm>
        </p:spPr>
        <p:txBody>
          <a:bodyPr/>
          <a:lstStyle/>
          <a:p>
            <a:r>
              <a:rPr lang="en-US" dirty="0" err="1">
                <a:latin typeface="Helvetica Neue" panose="02000503000000020004" pitchFamily="2" charset="0"/>
                <a:ea typeface="Helvetica Neue" panose="02000503000000020004" pitchFamily="2" charset="0"/>
                <a:cs typeface="Helvetica Neue" panose="02000503000000020004" pitchFamily="2" charset="0"/>
              </a:rPr>
              <a:t>gffcompare</a:t>
            </a:r>
            <a:r>
              <a:rPr lang="en-US" dirty="0">
                <a:latin typeface="Helvetica Neue" panose="02000503000000020004" pitchFamily="2" charset="0"/>
                <a:ea typeface="Helvetica Neue" panose="02000503000000020004" pitchFamily="2" charset="0"/>
                <a:cs typeface="Helvetica Neue" panose="02000503000000020004" pitchFamily="2" charset="0"/>
              </a:rPr>
              <a:t> will compare a merged transcript GTF with known annotation, also in GTF/GFF3 format</a:t>
            </a:r>
          </a:p>
          <a:p>
            <a:r>
              <a:rPr lang="en-US" sz="1800" dirty="0">
                <a:latin typeface="Helvetica Neue" panose="02000503000000020004" pitchFamily="2" charset="0"/>
                <a:ea typeface="Helvetica Neue" panose="02000503000000020004" pitchFamily="2" charset="0"/>
                <a:cs typeface="Helvetica Neue" panose="02000503000000020004" pitchFamily="2" charset="0"/>
                <a:hlinkClick r:id="rId3"/>
              </a:rPr>
              <a:t>http://</a:t>
            </a:r>
            <a:r>
              <a:rPr lang="en-US" sz="1800" dirty="0" err="1">
                <a:latin typeface="Helvetica Neue" panose="02000503000000020004" pitchFamily="2" charset="0"/>
                <a:ea typeface="Helvetica Neue" panose="02000503000000020004" pitchFamily="2" charset="0"/>
                <a:cs typeface="Helvetica Neue" panose="02000503000000020004" pitchFamily="2" charset="0"/>
                <a:hlinkClick r:id="rId3"/>
              </a:rPr>
              <a:t>cole-trapnell-lab.github.io</a:t>
            </a:r>
            <a:r>
              <a:rPr lang="en-US" sz="1800" dirty="0">
                <a:latin typeface="Helvetica Neue" panose="02000503000000020004" pitchFamily="2" charset="0"/>
                <a:ea typeface="Helvetica Neue" panose="02000503000000020004" pitchFamily="2" charset="0"/>
                <a:cs typeface="Helvetica Neue" panose="02000503000000020004" pitchFamily="2" charset="0"/>
                <a:hlinkClick r:id="rId3"/>
              </a:rPr>
              <a:t>/cufflinks/</a:t>
            </a:r>
            <a:r>
              <a:rPr lang="en-US" sz="1800" dirty="0" err="1">
                <a:latin typeface="Helvetica Neue" panose="02000503000000020004" pitchFamily="2" charset="0"/>
                <a:ea typeface="Helvetica Neue" panose="02000503000000020004" pitchFamily="2" charset="0"/>
                <a:cs typeface="Helvetica Neue" panose="02000503000000020004" pitchFamily="2" charset="0"/>
                <a:hlinkClick r:id="rId3"/>
              </a:rPr>
              <a:t>cuffcompare</a:t>
            </a:r>
            <a:r>
              <a:rPr lang="en-US" sz="1800" dirty="0">
                <a:latin typeface="Helvetica Neue" panose="02000503000000020004" pitchFamily="2" charset="0"/>
                <a:ea typeface="Helvetica Neue" panose="02000503000000020004" pitchFamily="2" charset="0"/>
                <a:cs typeface="Helvetica Neue" panose="02000503000000020004" pitchFamily="2" charset="0"/>
                <a:hlinkClick r:id="rId3"/>
              </a:rPr>
              <a:t>/</a:t>
            </a:r>
            <a:r>
              <a:rPr lang="en-US" sz="1800" dirty="0" err="1">
                <a:latin typeface="Helvetica Neue" panose="02000503000000020004" pitchFamily="2" charset="0"/>
                <a:ea typeface="Helvetica Neue" panose="02000503000000020004" pitchFamily="2" charset="0"/>
                <a:cs typeface="Helvetica Neue" panose="02000503000000020004" pitchFamily="2" charset="0"/>
                <a:hlinkClick r:id="rId3"/>
              </a:rPr>
              <a:t>index.html#cuffcompare-output-files</a:t>
            </a:r>
            <a:endParaRPr lang="en-US" sz="1800" dirty="0">
              <a:latin typeface="Helvetica Neue" panose="02000503000000020004" pitchFamily="2" charset="0"/>
              <a:ea typeface="Helvetica Neue" panose="02000503000000020004" pitchFamily="2" charset="0"/>
              <a:cs typeface="Helvetica Neue" panose="02000503000000020004" pitchFamily="2" charset="0"/>
            </a:endParaRPr>
          </a:p>
          <a:p>
            <a:endParaRPr lang="en-US" dirty="0">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8" name="Content Placeholder 4" descr="Screen Shot 2016-11-15 at 8.31.40 AM.png">
            <a:extLst>
              <a:ext uri="{FF2B5EF4-FFF2-40B4-BE49-F238E27FC236}">
                <a16:creationId xmlns:a16="http://schemas.microsoft.com/office/drawing/2014/main" id="{EB66E292-7423-2F44-8786-67F2DEEC1B9C}"/>
              </a:ext>
            </a:extLst>
          </p:cNvPr>
          <p:cNvPicPr>
            <a:picLocks noChangeAspect="1"/>
          </p:cNvPicPr>
          <p:nvPr/>
        </p:nvPicPr>
        <p:blipFill>
          <a:blip r:embed="rId4">
            <a:extLst>
              <a:ext uri="{28A0092B-C50C-407E-A947-70E740481C1C}">
                <a14:useLocalDpi xmlns:a14="http://schemas.microsoft.com/office/drawing/2010/main" val="0"/>
              </a:ext>
            </a:extLst>
          </a:blip>
          <a:srcRect t="-8072" b="-8072"/>
          <a:stretch>
            <a:fillRect/>
          </a:stretch>
        </p:blipFill>
        <p:spPr>
          <a:xfrm>
            <a:off x="6599820" y="1052736"/>
            <a:ext cx="4846714" cy="5271864"/>
          </a:xfrm>
          <a:prstGeom prst="rect">
            <a:avLst/>
          </a:prstGeom>
        </p:spPr>
      </p:pic>
    </p:spTree>
    <p:extLst>
      <p:ext uri="{BB962C8B-B14F-4D97-AF65-F5344CB8AC3E}">
        <p14:creationId xmlns:p14="http://schemas.microsoft.com/office/powerpoint/2010/main" val="38471511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title"/>
          </p:nvPr>
        </p:nvSpPr>
        <p:spPr>
          <a:xfrm>
            <a:off x="1676400" y="-27384"/>
            <a:ext cx="8839200" cy="1143000"/>
          </a:xfrm>
        </p:spPr>
        <p:txBody>
          <a:bodyPr/>
          <a:lstStyle/>
          <a:p>
            <a:pPr algn="ctr"/>
            <a:r>
              <a:rPr lang="en-US" dirty="0">
                <a:latin typeface="Helvetica Neue" panose="02000503000000020004" pitchFamily="2" charset="0"/>
                <a:ea typeface="Helvetica Neue" panose="02000503000000020004" pitchFamily="2" charset="0"/>
                <a:cs typeface="Helvetica Neue" panose="02000503000000020004" pitchFamily="2" charset="0"/>
              </a:rPr>
              <a:t>Alternatives to FPKM</a:t>
            </a:r>
          </a:p>
        </p:txBody>
      </p:sp>
      <p:sp>
        <p:nvSpPr>
          <p:cNvPr id="15362" name="Content Placeholder 2"/>
          <p:cNvSpPr>
            <a:spLocks noGrp="1"/>
          </p:cNvSpPr>
          <p:nvPr>
            <p:ph idx="1"/>
          </p:nvPr>
        </p:nvSpPr>
        <p:spPr>
          <a:xfrm>
            <a:off x="1045029" y="1124744"/>
            <a:ext cx="10474036" cy="4983832"/>
          </a:xfrm>
        </p:spPr>
        <p:txBody>
          <a:bodyPr>
            <a:normAutofit fontScale="92500"/>
          </a:bodyPr>
          <a:lstStyle/>
          <a:p>
            <a:r>
              <a:rPr lang="en-US" dirty="0">
                <a:latin typeface="Helvetica Neue" panose="02000503000000020004" pitchFamily="2" charset="0"/>
                <a:ea typeface="Helvetica Neue" panose="02000503000000020004" pitchFamily="2" charset="0"/>
                <a:cs typeface="Helvetica Neue" panose="02000503000000020004" pitchFamily="2" charset="0"/>
              </a:rPr>
              <a:t>Raw read counts for differential expression analysis</a:t>
            </a:r>
          </a:p>
          <a:p>
            <a:pPr lvl="1"/>
            <a:r>
              <a:rPr lang="en-US" dirty="0">
                <a:latin typeface="Helvetica Neue" panose="02000503000000020004" pitchFamily="2" charset="0"/>
                <a:ea typeface="Helvetica Neue" panose="02000503000000020004" pitchFamily="2" charset="0"/>
                <a:cs typeface="Helvetica Neue" panose="02000503000000020004" pitchFamily="2" charset="0"/>
              </a:rPr>
              <a:t>Assign reads/fragments to defined genes/transcripts, get “raw counts”</a:t>
            </a:r>
          </a:p>
          <a:p>
            <a:pPr lvl="2"/>
            <a:r>
              <a:rPr lang="en-US" dirty="0">
                <a:latin typeface="Helvetica Neue" panose="02000503000000020004" pitchFamily="2" charset="0"/>
                <a:ea typeface="Helvetica Neue" panose="02000503000000020004" pitchFamily="2" charset="0"/>
                <a:cs typeface="Helvetica Neue" panose="02000503000000020004" pitchFamily="2" charset="0"/>
              </a:rPr>
              <a:t>Transcript structures could still be defined by something like </a:t>
            </a:r>
            <a:r>
              <a:rPr lang="en-US" dirty="0" err="1">
                <a:latin typeface="Helvetica Neue" panose="02000503000000020004" pitchFamily="2" charset="0"/>
                <a:ea typeface="Helvetica Neue" panose="02000503000000020004" pitchFamily="2" charset="0"/>
                <a:cs typeface="Helvetica Neue" panose="02000503000000020004" pitchFamily="2" charset="0"/>
              </a:rPr>
              <a:t>Stringtie</a:t>
            </a:r>
            <a:r>
              <a:rPr lang="en-US" dirty="0">
                <a:latin typeface="Helvetica Neue" panose="02000503000000020004" pitchFamily="2" charset="0"/>
                <a:ea typeface="Helvetica Neue" panose="02000503000000020004" pitchFamily="2" charset="0"/>
                <a:cs typeface="Helvetica Neue" panose="02000503000000020004" pitchFamily="2" charset="0"/>
              </a:rPr>
              <a:t> </a:t>
            </a:r>
            <a:br>
              <a:rPr lang="en-US" dirty="0">
                <a:latin typeface="Helvetica Neue" panose="02000503000000020004" pitchFamily="2" charset="0"/>
                <a:ea typeface="Helvetica Neue" panose="02000503000000020004" pitchFamily="2" charset="0"/>
                <a:cs typeface="Helvetica Neue" panose="02000503000000020004" pitchFamily="2" charset="0"/>
              </a:rPr>
            </a:b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r>
              <a:rPr lang="en-US" dirty="0" err="1">
                <a:latin typeface="Helvetica Neue" panose="02000503000000020004" pitchFamily="2" charset="0"/>
                <a:ea typeface="Helvetica Neue" panose="02000503000000020004" pitchFamily="2" charset="0"/>
                <a:cs typeface="Helvetica Neue" panose="02000503000000020004" pitchFamily="2" charset="0"/>
              </a:rPr>
              <a:t>HTSeq</a:t>
            </a:r>
            <a:r>
              <a:rPr lang="en-US" dirty="0">
                <a:latin typeface="Helvetica Neue" panose="02000503000000020004" pitchFamily="2" charset="0"/>
                <a:ea typeface="Helvetica Neue" panose="02000503000000020004" pitchFamily="2" charset="0"/>
                <a:cs typeface="Helvetica Neue" panose="02000503000000020004" pitchFamily="2" charset="0"/>
              </a:rPr>
              <a:t> (</a:t>
            </a:r>
            <a:r>
              <a:rPr lang="en-US" dirty="0" err="1">
                <a:latin typeface="Helvetica Neue" panose="02000503000000020004" pitchFamily="2" charset="0"/>
                <a:ea typeface="Helvetica Neue" panose="02000503000000020004" pitchFamily="2" charset="0"/>
                <a:cs typeface="Helvetica Neue" panose="02000503000000020004" pitchFamily="2" charset="0"/>
              </a:rPr>
              <a:t>htseq</a:t>
            </a:r>
            <a:r>
              <a:rPr lang="en-US" dirty="0">
                <a:latin typeface="Helvetica Neue" panose="02000503000000020004" pitchFamily="2" charset="0"/>
                <a:ea typeface="Helvetica Neue" panose="02000503000000020004" pitchFamily="2" charset="0"/>
                <a:cs typeface="Helvetica Neue" panose="02000503000000020004" pitchFamily="2" charset="0"/>
              </a:rPr>
              <a:t>-count)</a:t>
            </a:r>
          </a:p>
          <a:p>
            <a:pPr lvl="1"/>
            <a:r>
              <a:rPr lang="en-US" sz="2200" dirty="0">
                <a:latin typeface="Helvetica Neue" panose="02000503000000020004" pitchFamily="2" charset="0"/>
                <a:ea typeface="Helvetica Neue" panose="02000503000000020004" pitchFamily="2" charset="0"/>
                <a:cs typeface="Helvetica Neue" panose="02000503000000020004" pitchFamily="2" charset="0"/>
                <a:hlinkClick r:id="rId3"/>
              </a:rPr>
              <a:t>https://htseq.readthedocs.io/</a:t>
            </a:r>
            <a:endParaRPr lang="en-US" sz="2200" dirty="0">
              <a:latin typeface="Helvetica Neue" panose="02000503000000020004" pitchFamily="2" charset="0"/>
              <a:ea typeface="Helvetica Neue" panose="02000503000000020004" pitchFamily="2" charset="0"/>
              <a:cs typeface="Helvetica Neue" panose="02000503000000020004" pitchFamily="2" charset="0"/>
            </a:endParaRPr>
          </a:p>
          <a:p>
            <a:pPr marL="457200" lvl="1" indent="0">
              <a:buNone/>
            </a:pPr>
            <a:br>
              <a:rPr lang="en-US" sz="1600" dirty="0">
                <a:latin typeface="Helvetica Neue" panose="02000503000000020004" pitchFamily="2" charset="0"/>
                <a:ea typeface="Helvetica Neue" panose="02000503000000020004" pitchFamily="2" charset="0"/>
                <a:cs typeface="Helvetica Neue" panose="02000503000000020004" pitchFamily="2" charset="0"/>
              </a:rPr>
            </a:br>
            <a:br>
              <a:rPr lang="en-US" sz="2200" dirty="0">
                <a:latin typeface="Helvetica Neue" panose="02000503000000020004" pitchFamily="2" charset="0"/>
                <a:ea typeface="Helvetica Neue" panose="02000503000000020004" pitchFamily="2" charset="0"/>
                <a:cs typeface="Helvetica Neue" panose="02000503000000020004" pitchFamily="2" charset="0"/>
              </a:rPr>
            </a:br>
            <a:endParaRPr lang="en-US" sz="2200" dirty="0">
              <a:latin typeface="Helvetica Neue" panose="02000503000000020004" pitchFamily="2" charset="0"/>
              <a:ea typeface="Helvetica Neue" panose="02000503000000020004" pitchFamily="2" charset="0"/>
              <a:cs typeface="Helvetica Neue" panose="02000503000000020004" pitchFamily="2" charset="0"/>
            </a:endParaRPr>
          </a:p>
          <a:p>
            <a:r>
              <a:rPr lang="en-US" dirty="0">
                <a:latin typeface="Helvetica Neue" panose="02000503000000020004" pitchFamily="2" charset="0"/>
                <a:ea typeface="Helvetica Neue" panose="02000503000000020004" pitchFamily="2" charset="0"/>
                <a:cs typeface="Helvetica Neue" panose="02000503000000020004" pitchFamily="2" charset="0"/>
              </a:rPr>
              <a:t>Caveats of ‘transcript’ analysis by </a:t>
            </a:r>
            <a:r>
              <a:rPr lang="en-US" dirty="0" err="1">
                <a:latin typeface="Helvetica Neue" panose="02000503000000020004" pitchFamily="2" charset="0"/>
                <a:ea typeface="Helvetica Neue" panose="02000503000000020004" pitchFamily="2" charset="0"/>
                <a:cs typeface="Helvetica Neue" panose="02000503000000020004" pitchFamily="2" charset="0"/>
              </a:rPr>
              <a:t>htseq</a:t>
            </a:r>
            <a:r>
              <a:rPr lang="en-US" dirty="0">
                <a:latin typeface="Helvetica Neue" panose="02000503000000020004" pitchFamily="2" charset="0"/>
                <a:ea typeface="Helvetica Neue" panose="02000503000000020004" pitchFamily="2" charset="0"/>
                <a:cs typeface="Helvetica Neue" panose="02000503000000020004" pitchFamily="2" charset="0"/>
              </a:rPr>
              <a:t>-count:</a:t>
            </a:r>
          </a:p>
          <a:p>
            <a:pPr lvl="2"/>
            <a:r>
              <a:rPr lang="en-US" dirty="0">
                <a:latin typeface="Helvetica Neue" panose="02000503000000020004" pitchFamily="2" charset="0"/>
                <a:ea typeface="Helvetica Neue" panose="02000503000000020004" pitchFamily="2" charset="0"/>
                <a:cs typeface="Helvetica Neue" panose="02000503000000020004" pitchFamily="2" charset="0"/>
              </a:rPr>
              <a:t>Designed for genes - ambiguous reads from overlapping transcripts may not be handled!</a:t>
            </a:r>
          </a:p>
          <a:p>
            <a:pPr lvl="2"/>
            <a:r>
              <a:rPr lang="en-US" dirty="0">
                <a:latin typeface="Helvetica Neue" panose="02000503000000020004" pitchFamily="2" charset="0"/>
                <a:ea typeface="Helvetica Neue" panose="02000503000000020004" pitchFamily="2" charset="0"/>
                <a:cs typeface="Helvetica Neue" panose="02000503000000020004" pitchFamily="2" charset="0"/>
                <a:hlinkClick r:id="rId4"/>
              </a:rPr>
              <a:t>http://seqanswers.com/forums/showthread.php?t=18068</a:t>
            </a: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pPr marL="914400" lvl="2" indent="0">
              <a:buNone/>
            </a:pPr>
            <a:endParaRPr lang="en-US"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TextBox 2">
            <a:extLst>
              <a:ext uri="{FF2B5EF4-FFF2-40B4-BE49-F238E27FC236}">
                <a16:creationId xmlns:a16="http://schemas.microsoft.com/office/drawing/2014/main" id="{A66F5DC6-5771-2F44-9C89-5147A5B3C655}"/>
              </a:ext>
            </a:extLst>
          </p:cNvPr>
          <p:cNvSpPr txBox="1"/>
          <p:nvPr/>
        </p:nvSpPr>
        <p:spPr>
          <a:xfrm>
            <a:off x="1567898" y="3643476"/>
            <a:ext cx="8538002" cy="584775"/>
          </a:xfrm>
          <a:prstGeom prst="rect">
            <a:avLst/>
          </a:prstGeom>
          <a:noFill/>
          <a:ln>
            <a:solidFill>
              <a:schemeClr val="bg1">
                <a:lumMod val="65000"/>
              </a:schemeClr>
            </a:solidFill>
          </a:ln>
        </p:spPr>
        <p:txBody>
          <a:bodyPr wrap="square" rtlCol="0">
            <a:spAutoFit/>
          </a:bodyPr>
          <a:lstStyle/>
          <a:p>
            <a:r>
              <a:rPr lang="en-US" sz="1600" dirty="0" err="1">
                <a:latin typeface="Helvetica Neue" panose="02000503000000020004" pitchFamily="2" charset="0"/>
                <a:ea typeface="Helvetica Neue" panose="02000503000000020004" pitchFamily="2" charset="0"/>
                <a:cs typeface="Helvetica Neue" panose="02000503000000020004" pitchFamily="2" charset="0"/>
              </a:rPr>
              <a:t>htseq</a:t>
            </a:r>
            <a:r>
              <a:rPr lang="en-US" sz="1600" dirty="0">
                <a:latin typeface="Helvetica Neue" panose="02000503000000020004" pitchFamily="2" charset="0"/>
                <a:ea typeface="Helvetica Neue" panose="02000503000000020004" pitchFamily="2" charset="0"/>
                <a:cs typeface="Helvetica Neue" panose="02000503000000020004" pitchFamily="2" charset="0"/>
              </a:rPr>
              <a:t>-count --mode intersection-strict --stranded no --</a:t>
            </a:r>
            <a:r>
              <a:rPr lang="en-US" sz="1600" dirty="0" err="1">
                <a:latin typeface="Helvetica Neue" panose="02000503000000020004" pitchFamily="2" charset="0"/>
                <a:ea typeface="Helvetica Neue" panose="02000503000000020004" pitchFamily="2" charset="0"/>
                <a:cs typeface="Helvetica Neue" panose="02000503000000020004" pitchFamily="2" charset="0"/>
              </a:rPr>
              <a:t>minaqual</a:t>
            </a:r>
            <a:r>
              <a:rPr lang="en-US" sz="1600" dirty="0">
                <a:latin typeface="Helvetica Neue" panose="02000503000000020004" pitchFamily="2" charset="0"/>
                <a:ea typeface="Helvetica Neue" panose="02000503000000020004" pitchFamily="2" charset="0"/>
                <a:cs typeface="Helvetica Neue" panose="02000503000000020004" pitchFamily="2" charset="0"/>
              </a:rPr>
              <a:t> 1 --type exon --</a:t>
            </a:r>
            <a:r>
              <a:rPr lang="en-US" sz="1600" dirty="0" err="1">
                <a:latin typeface="Helvetica Neue" panose="02000503000000020004" pitchFamily="2" charset="0"/>
                <a:ea typeface="Helvetica Neue" panose="02000503000000020004" pitchFamily="2" charset="0"/>
                <a:cs typeface="Helvetica Neue" panose="02000503000000020004" pitchFamily="2" charset="0"/>
              </a:rPr>
              <a:t>idattr</a:t>
            </a:r>
            <a:r>
              <a:rPr lang="en-US" sz="1600" dirty="0">
                <a:latin typeface="Helvetica Neue" panose="02000503000000020004" pitchFamily="2" charset="0"/>
                <a:ea typeface="Helvetica Neue" panose="02000503000000020004" pitchFamily="2" charset="0"/>
                <a:cs typeface="Helvetica Neue" panose="02000503000000020004" pitchFamily="2" charset="0"/>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rPr>
              <a:t>transcript_id</a:t>
            </a:r>
            <a:r>
              <a:rPr lang="en-US" sz="1600" dirty="0">
                <a:latin typeface="Helvetica Neue" panose="02000503000000020004" pitchFamily="2" charset="0"/>
                <a:ea typeface="Helvetica Neue" panose="02000503000000020004" pitchFamily="2" charset="0"/>
                <a:cs typeface="Helvetica Neue" panose="02000503000000020004" pitchFamily="2" charset="0"/>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rPr>
              <a:t>accepted_hits.sam</a:t>
            </a:r>
            <a:r>
              <a:rPr lang="en-US" sz="1600" dirty="0">
                <a:latin typeface="Helvetica Neue" panose="02000503000000020004" pitchFamily="2" charset="0"/>
                <a:ea typeface="Helvetica Neue" panose="02000503000000020004" pitchFamily="2" charset="0"/>
                <a:cs typeface="Helvetica Neue" panose="02000503000000020004" pitchFamily="2" charset="0"/>
              </a:rPr>
              <a:t> chr22.gff &gt; </a:t>
            </a:r>
            <a:r>
              <a:rPr lang="en-US" sz="1600" dirty="0" err="1">
                <a:latin typeface="Helvetica Neue" panose="02000503000000020004" pitchFamily="2" charset="0"/>
                <a:ea typeface="Helvetica Neue" panose="02000503000000020004" pitchFamily="2" charset="0"/>
                <a:cs typeface="Helvetica Neue" panose="02000503000000020004" pitchFamily="2" charset="0"/>
              </a:rPr>
              <a:t>transcript_read_counts_table.tsv</a:t>
            </a:r>
            <a:endParaRPr lang="en-US" sz="1600" dirty="0">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2269438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3512" y="44624"/>
            <a:ext cx="8839200" cy="936104"/>
          </a:xfrm>
        </p:spPr>
        <p:txBody>
          <a:bodyPr>
            <a:normAutofit fontScale="90000"/>
          </a:bodyPr>
          <a:lstStyle/>
          <a:p>
            <a:pPr algn="ctr"/>
            <a:r>
              <a:rPr lang="en-US" sz="2800" dirty="0" err="1">
                <a:latin typeface="Helvetica Neue" panose="02000503000000020004" pitchFamily="2" charset="0"/>
                <a:ea typeface="Helvetica Neue" panose="02000503000000020004" pitchFamily="2" charset="0"/>
                <a:cs typeface="Helvetica Neue" panose="02000503000000020004" pitchFamily="2" charset="0"/>
              </a:rPr>
              <a:t>HTSeq</a:t>
            </a:r>
            <a:r>
              <a:rPr lang="en-US" sz="2800" dirty="0">
                <a:latin typeface="Helvetica Neue" panose="02000503000000020004" pitchFamily="2" charset="0"/>
                <a:ea typeface="Helvetica Neue" panose="02000503000000020004" pitchFamily="2" charset="0"/>
                <a:cs typeface="Helvetica Neue" panose="02000503000000020004" pitchFamily="2" charset="0"/>
              </a:rPr>
              <a:t>-count basically counts reads supporting a feature (exon, gene) by assessing overlapping coordinates</a:t>
            </a:r>
          </a:p>
        </p:txBody>
      </p:sp>
      <p:pic>
        <p:nvPicPr>
          <p:cNvPr id="4" name="Picture 3"/>
          <p:cNvPicPr>
            <a:picLocks noChangeAspect="1"/>
          </p:cNvPicPr>
          <p:nvPr/>
        </p:nvPicPr>
        <p:blipFill>
          <a:blip r:embed="rId3"/>
          <a:stretch>
            <a:fillRect/>
          </a:stretch>
        </p:blipFill>
        <p:spPr>
          <a:xfrm>
            <a:off x="3253280" y="1124744"/>
            <a:ext cx="5290992" cy="4752528"/>
          </a:xfrm>
          <a:prstGeom prst="rect">
            <a:avLst/>
          </a:prstGeom>
        </p:spPr>
      </p:pic>
      <p:sp>
        <p:nvSpPr>
          <p:cNvPr id="5" name="TextBox 4"/>
          <p:cNvSpPr txBox="1"/>
          <p:nvPr/>
        </p:nvSpPr>
        <p:spPr>
          <a:xfrm>
            <a:off x="1104405" y="5939989"/>
            <a:ext cx="9987147" cy="307777"/>
          </a:xfrm>
          <a:prstGeom prst="rect">
            <a:avLst/>
          </a:prstGeom>
          <a:noFill/>
        </p:spPr>
        <p:txBody>
          <a:bodyPr wrap="square" rtlCol="0">
            <a:spAutoFit/>
          </a:bodyPr>
          <a:lstStyle/>
          <a:p>
            <a:r>
              <a:rPr lang="en-US" dirty="0">
                <a:latin typeface="Helvetica Neue" panose="02000503000000020004" pitchFamily="2" charset="0"/>
                <a:ea typeface="Helvetica Neue" panose="02000503000000020004" pitchFamily="2" charset="0"/>
                <a:cs typeface="Helvetica Neue" panose="02000503000000020004" pitchFamily="2" charset="0"/>
              </a:rPr>
              <a:t>Whether a read is counted depends on the nature of overlap and “mode” selected</a:t>
            </a:r>
          </a:p>
        </p:txBody>
      </p:sp>
      <p:sp>
        <p:nvSpPr>
          <p:cNvPr id="3" name="TextBox 2">
            <a:extLst>
              <a:ext uri="{FF2B5EF4-FFF2-40B4-BE49-F238E27FC236}">
                <a16:creationId xmlns:a16="http://schemas.microsoft.com/office/drawing/2014/main" id="{B03DF895-6130-984C-8108-62F9AFE0CC83}"/>
              </a:ext>
            </a:extLst>
          </p:cNvPr>
          <p:cNvSpPr txBox="1"/>
          <p:nvPr/>
        </p:nvSpPr>
        <p:spPr>
          <a:xfrm>
            <a:off x="8869682" y="4754879"/>
            <a:ext cx="3174274" cy="1169551"/>
          </a:xfrm>
          <a:prstGeom prst="rect">
            <a:avLst/>
          </a:prstGeom>
          <a:noFill/>
        </p:spPr>
        <p:txBody>
          <a:bodyPr wrap="square" rtlCol="0">
            <a:spAutoFit/>
          </a:bodyPr>
          <a:lstStyle/>
          <a:p>
            <a:r>
              <a:rPr lang="en-US" sz="1400" dirty="0">
                <a:latin typeface="Helvetica Neue" panose="02000503000000020004" pitchFamily="2" charset="0"/>
                <a:ea typeface="Helvetica Neue" panose="02000503000000020004" pitchFamily="2" charset="0"/>
                <a:cs typeface="Helvetica Neue" panose="02000503000000020004" pitchFamily="2" charset="0"/>
              </a:rPr>
              <a:t>Note, if </a:t>
            </a:r>
            <a:r>
              <a:rPr lang="en-US" sz="1400" dirty="0" err="1">
                <a:latin typeface="Helvetica Neue" panose="02000503000000020004" pitchFamily="2" charset="0"/>
                <a:ea typeface="Helvetica Neue" panose="02000503000000020004" pitchFamily="2" charset="0"/>
                <a:cs typeface="Helvetica Neue" panose="02000503000000020004" pitchFamily="2" charset="0"/>
              </a:rPr>
              <a:t>gene_A</a:t>
            </a:r>
            <a:r>
              <a:rPr lang="en-US" sz="1400" dirty="0">
                <a:latin typeface="Helvetica Neue" panose="02000503000000020004" pitchFamily="2" charset="0"/>
                <a:ea typeface="Helvetica Neue" panose="02000503000000020004" pitchFamily="2" charset="0"/>
                <a:cs typeface="Helvetica Neue" panose="02000503000000020004" pitchFamily="2" charset="0"/>
              </a:rPr>
              <a:t> and </a:t>
            </a:r>
            <a:r>
              <a:rPr lang="en-US" sz="1400" dirty="0" err="1">
                <a:latin typeface="Helvetica Neue" panose="02000503000000020004" pitchFamily="2" charset="0"/>
                <a:ea typeface="Helvetica Neue" panose="02000503000000020004" pitchFamily="2" charset="0"/>
                <a:cs typeface="Helvetica Neue" panose="02000503000000020004" pitchFamily="2" charset="0"/>
              </a:rPr>
              <a:t>gene_B</a:t>
            </a:r>
            <a:r>
              <a:rPr lang="en-US" sz="1400" dirty="0">
                <a:latin typeface="Helvetica Neue" panose="02000503000000020004" pitchFamily="2" charset="0"/>
                <a:ea typeface="Helvetica Neue" panose="02000503000000020004" pitchFamily="2" charset="0"/>
                <a:cs typeface="Helvetica Neue" panose="02000503000000020004" pitchFamily="2" charset="0"/>
              </a:rPr>
              <a:t> on opposite strands, sequence data is stranded, and correct </a:t>
            </a:r>
            <a:r>
              <a:rPr lang="en-US" sz="1400" dirty="0" err="1">
                <a:latin typeface="Helvetica Neue" panose="02000503000000020004" pitchFamily="2" charset="0"/>
                <a:ea typeface="Helvetica Neue" panose="02000503000000020004" pitchFamily="2" charset="0"/>
                <a:cs typeface="Helvetica Neue" panose="02000503000000020004" pitchFamily="2" charset="0"/>
              </a:rPr>
              <a:t>HTSeq</a:t>
            </a:r>
            <a:r>
              <a:rPr lang="en-US" sz="1400" dirty="0">
                <a:latin typeface="Helvetica Neue" panose="02000503000000020004" pitchFamily="2" charset="0"/>
                <a:ea typeface="Helvetica Neue" panose="02000503000000020004" pitchFamily="2" charset="0"/>
                <a:cs typeface="Helvetica Neue" panose="02000503000000020004" pitchFamily="2" charset="0"/>
              </a:rPr>
              <a:t> parameter set then this read may not be ambiguous </a:t>
            </a:r>
          </a:p>
        </p:txBody>
      </p:sp>
      <p:cxnSp>
        <p:nvCxnSpPr>
          <p:cNvPr id="7" name="Straight Arrow Connector 6">
            <a:extLst>
              <a:ext uri="{FF2B5EF4-FFF2-40B4-BE49-F238E27FC236}">
                <a16:creationId xmlns:a16="http://schemas.microsoft.com/office/drawing/2014/main" id="{7B204E8E-A299-0646-B04B-7C6AC750E5B3}"/>
              </a:ext>
            </a:extLst>
          </p:cNvPr>
          <p:cNvCxnSpPr>
            <a:cxnSpLocks/>
            <a:stCxn id="3" idx="1"/>
          </p:cNvCxnSpPr>
          <p:nvPr/>
        </p:nvCxnSpPr>
        <p:spPr>
          <a:xfrm flipH="1">
            <a:off x="8544274" y="5339655"/>
            <a:ext cx="325408" cy="21205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1723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8839200" cy="764704"/>
          </a:xfrm>
        </p:spPr>
        <p:txBody>
          <a:bodyPr>
            <a:normAutofit/>
          </a:bodyPr>
          <a:lstStyle/>
          <a:p>
            <a:pPr algn="ctr"/>
            <a:r>
              <a:rPr lang="en-US" dirty="0">
                <a:latin typeface="Helvetica Neue" panose="02000503000000020004" pitchFamily="2" charset="0"/>
                <a:ea typeface="Helvetica Neue" panose="02000503000000020004" pitchFamily="2" charset="0"/>
                <a:cs typeface="Helvetica Neue" panose="02000503000000020004" pitchFamily="2" charset="0"/>
              </a:rPr>
              <a:t>Differential Expression</a:t>
            </a:r>
          </a:p>
        </p:txBody>
      </p:sp>
      <p:sp>
        <p:nvSpPr>
          <p:cNvPr id="3" name="Content Placeholder 2"/>
          <p:cNvSpPr>
            <a:spLocks noGrp="1"/>
          </p:cNvSpPr>
          <p:nvPr>
            <p:ph idx="1"/>
          </p:nvPr>
        </p:nvSpPr>
        <p:spPr>
          <a:xfrm>
            <a:off x="597747" y="873475"/>
            <a:ext cx="11159066" cy="5111049"/>
          </a:xfrm>
        </p:spPr>
        <p:txBody>
          <a:bodyPr>
            <a:normAutofit/>
          </a:bodyPr>
          <a:lstStyle/>
          <a:p>
            <a:r>
              <a:rPr lang="en-US" dirty="0">
                <a:latin typeface="Helvetica Neue" panose="02000503000000020004" pitchFamily="2" charset="0"/>
                <a:ea typeface="Helvetica Neue" panose="02000503000000020004" pitchFamily="2" charset="0"/>
                <a:cs typeface="Helvetica Neue" panose="02000503000000020004" pitchFamily="2" charset="0"/>
              </a:rPr>
              <a:t>Tying gene expression back to genotype/phenotype</a:t>
            </a:r>
          </a:p>
          <a:p>
            <a:endParaRPr lang="en-US" dirty="0">
              <a:latin typeface="Helvetica Neue" panose="02000503000000020004" pitchFamily="2" charset="0"/>
              <a:ea typeface="Helvetica Neue" panose="02000503000000020004" pitchFamily="2" charset="0"/>
              <a:cs typeface="Helvetica Neue" panose="02000503000000020004" pitchFamily="2" charset="0"/>
            </a:endParaRPr>
          </a:p>
          <a:p>
            <a:r>
              <a:rPr lang="en-US" dirty="0">
                <a:latin typeface="Helvetica Neue" panose="02000503000000020004" pitchFamily="2" charset="0"/>
                <a:ea typeface="Helvetica Neue" panose="02000503000000020004" pitchFamily="2" charset="0"/>
                <a:cs typeface="Helvetica Neue" panose="02000503000000020004" pitchFamily="2" charset="0"/>
              </a:rPr>
              <a:t>What genes/transcripts are being expressed at higher/lower levels in different groups of samples?</a:t>
            </a:r>
          </a:p>
          <a:p>
            <a:pPr lvl="1"/>
            <a:r>
              <a:rPr lang="en-US" dirty="0">
                <a:latin typeface="Helvetica Neue" panose="02000503000000020004" pitchFamily="2" charset="0"/>
                <a:ea typeface="Helvetica Neue" panose="02000503000000020004" pitchFamily="2" charset="0"/>
                <a:cs typeface="Helvetica Neue" panose="02000503000000020004" pitchFamily="2" charset="0"/>
              </a:rPr>
              <a:t>Are these differences ‘significant’, accounting for variance/noise?</a:t>
            </a:r>
            <a:br>
              <a:rPr lang="en-US" dirty="0">
                <a:latin typeface="Helvetica Neue" panose="02000503000000020004" pitchFamily="2" charset="0"/>
                <a:ea typeface="Helvetica Neue" panose="02000503000000020004" pitchFamily="2" charset="0"/>
                <a:cs typeface="Helvetica Neue" panose="02000503000000020004" pitchFamily="2" charset="0"/>
              </a:rPr>
            </a:b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r>
              <a:rPr lang="en-US" dirty="0">
                <a:latin typeface="Helvetica Neue" panose="02000503000000020004" pitchFamily="2" charset="0"/>
                <a:ea typeface="Helvetica Neue" panose="02000503000000020004" pitchFamily="2" charset="0"/>
                <a:cs typeface="Helvetica Neue" panose="02000503000000020004" pitchFamily="2" charset="0"/>
              </a:rPr>
              <a:t>Examples (used in course):</a:t>
            </a:r>
          </a:p>
          <a:p>
            <a:pPr lvl="1"/>
            <a:r>
              <a:rPr lang="en-US" dirty="0">
                <a:latin typeface="Helvetica Neue" panose="02000503000000020004" pitchFamily="2" charset="0"/>
                <a:ea typeface="Helvetica Neue" panose="02000503000000020004" pitchFamily="2" charset="0"/>
                <a:cs typeface="Helvetica Neue" panose="02000503000000020004" pitchFamily="2" charset="0"/>
              </a:rPr>
              <a:t>UHR cells vs HBR brain</a:t>
            </a:r>
          </a:p>
          <a:p>
            <a:pPr lvl="1"/>
            <a:r>
              <a:rPr lang="en-US" dirty="0">
                <a:latin typeface="Helvetica Neue" panose="02000503000000020004" pitchFamily="2" charset="0"/>
                <a:ea typeface="Helvetica Neue" panose="02000503000000020004" pitchFamily="2" charset="0"/>
                <a:cs typeface="Helvetica Neue" panose="02000503000000020004" pitchFamily="2" charset="0"/>
              </a:rPr>
              <a:t>Tumor vs Normal tissue</a:t>
            </a:r>
          </a:p>
          <a:p>
            <a:pPr lvl="1"/>
            <a:r>
              <a:rPr lang="en-US" dirty="0">
                <a:latin typeface="Helvetica Neue" panose="02000503000000020004" pitchFamily="2" charset="0"/>
                <a:ea typeface="Helvetica Neue" panose="02000503000000020004" pitchFamily="2" charset="0"/>
                <a:cs typeface="Helvetica Neue" panose="02000503000000020004" pitchFamily="2" charset="0"/>
              </a:rPr>
              <a:t>Wild-type vs gene KO cells </a:t>
            </a:r>
          </a:p>
          <a:p>
            <a:pPr lvl="1"/>
            <a:endParaRPr lang="en-US" dirty="0">
              <a:latin typeface="Helvetica Neue" panose="02000503000000020004" pitchFamily="2" charset="0"/>
              <a:ea typeface="Helvetica Neue" panose="02000503000000020004" pitchFamily="2" charset="0"/>
              <a:cs typeface="Helvetica Neue" panose="02000503000000020004" pitchFamily="2" charset="0"/>
            </a:endParaRPr>
          </a:p>
          <a:p>
            <a:endParaRPr lang="en-US" dirty="0">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6" name="Picture 5">
            <a:extLst>
              <a:ext uri="{FF2B5EF4-FFF2-40B4-BE49-F238E27FC236}">
                <a16:creationId xmlns:a16="http://schemas.microsoft.com/office/drawing/2014/main" id="{3E1B4A4A-D781-BD4E-94DC-4B6E90B4E366}"/>
              </a:ext>
            </a:extLst>
          </p:cNvPr>
          <p:cNvPicPr>
            <a:picLocks noChangeAspect="1"/>
          </p:cNvPicPr>
          <p:nvPr/>
        </p:nvPicPr>
        <p:blipFill>
          <a:blip r:embed="rId2"/>
          <a:stretch>
            <a:fillRect/>
          </a:stretch>
        </p:blipFill>
        <p:spPr>
          <a:xfrm>
            <a:off x="6352191" y="3500058"/>
            <a:ext cx="5242062" cy="2960223"/>
          </a:xfrm>
          <a:prstGeom prst="rect">
            <a:avLst/>
          </a:prstGeom>
        </p:spPr>
      </p:pic>
    </p:spTree>
    <p:extLst>
      <p:ext uri="{BB962C8B-B14F-4D97-AF65-F5344CB8AC3E}">
        <p14:creationId xmlns:p14="http://schemas.microsoft.com/office/powerpoint/2010/main" val="20965745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8839200" cy="764704"/>
          </a:xfrm>
        </p:spPr>
        <p:txBody>
          <a:bodyPr>
            <a:normAutofit fontScale="90000"/>
          </a:bodyPr>
          <a:lstStyle/>
          <a:p>
            <a:pPr algn="ctr"/>
            <a:r>
              <a:rPr lang="en-US" dirty="0">
                <a:latin typeface="Helvetica Neue" panose="02000503000000020004" pitchFamily="2" charset="0"/>
                <a:ea typeface="Helvetica Neue" panose="02000503000000020004" pitchFamily="2" charset="0"/>
                <a:cs typeface="Helvetica Neue" panose="02000503000000020004" pitchFamily="2" charset="0"/>
              </a:rPr>
              <a:t>Differential Expression with Ballgown</a:t>
            </a:r>
          </a:p>
        </p:txBody>
      </p:sp>
      <p:sp>
        <p:nvSpPr>
          <p:cNvPr id="3" name="Content Placeholder 2"/>
          <p:cNvSpPr>
            <a:spLocks noGrp="1"/>
          </p:cNvSpPr>
          <p:nvPr>
            <p:ph idx="1"/>
          </p:nvPr>
        </p:nvSpPr>
        <p:spPr>
          <a:xfrm>
            <a:off x="597747" y="764704"/>
            <a:ext cx="11159066" cy="5393267"/>
          </a:xfrm>
        </p:spPr>
        <p:txBody>
          <a:bodyPr>
            <a:normAutofit lnSpcReduction="10000"/>
          </a:bodyPr>
          <a:lstStyle/>
          <a:p>
            <a:pPr marL="0" indent="0">
              <a:buNone/>
            </a:pPr>
            <a:r>
              <a:rPr lang="en-US" sz="2400" dirty="0">
                <a:latin typeface="Helvetica Neue" panose="02000503000000020004" pitchFamily="2" charset="0"/>
                <a:ea typeface="Helvetica Neue" panose="02000503000000020004" pitchFamily="2" charset="0"/>
                <a:cs typeface="Helvetica Neue" panose="02000503000000020004" pitchFamily="2" charset="0"/>
              </a:rPr>
              <a:t>Parametric F-test comparing nested linear models</a:t>
            </a:r>
            <a:br>
              <a:rPr lang="en-US" sz="2400" dirty="0">
                <a:latin typeface="Helvetica Neue" panose="02000503000000020004" pitchFamily="2" charset="0"/>
                <a:ea typeface="Helvetica Neue" panose="02000503000000020004" pitchFamily="2" charset="0"/>
                <a:cs typeface="Helvetica Neue" panose="02000503000000020004" pitchFamily="2" charset="0"/>
              </a:rPr>
            </a:br>
            <a:endParaRPr lang="en-US" sz="2400" dirty="0">
              <a:latin typeface="Helvetica Neue" panose="02000503000000020004" pitchFamily="2" charset="0"/>
              <a:ea typeface="Helvetica Neue" panose="02000503000000020004" pitchFamily="2" charset="0"/>
              <a:cs typeface="Helvetica Neue" panose="02000503000000020004" pitchFamily="2" charset="0"/>
            </a:endParaRPr>
          </a:p>
          <a:p>
            <a:r>
              <a:rPr lang="en-US" sz="2400" dirty="0">
                <a:latin typeface="Helvetica Neue" panose="02000503000000020004" pitchFamily="2" charset="0"/>
                <a:ea typeface="Helvetica Neue" panose="02000503000000020004" pitchFamily="2" charset="0"/>
                <a:cs typeface="Helvetica Neue" panose="02000503000000020004" pitchFamily="2" charset="0"/>
              </a:rPr>
              <a:t>Two models are fit to each feature, using expression as the outcome</a:t>
            </a:r>
          </a:p>
          <a:p>
            <a:pPr lvl="1"/>
            <a:r>
              <a:rPr lang="en-US" dirty="0">
                <a:latin typeface="Helvetica Neue" panose="02000503000000020004" pitchFamily="2" charset="0"/>
                <a:ea typeface="Helvetica Neue" panose="02000503000000020004" pitchFamily="2" charset="0"/>
                <a:cs typeface="Helvetica Neue" panose="02000503000000020004" pitchFamily="2" charset="0"/>
              </a:rPr>
              <a:t>one including the covariate of interest (e.g., case/control status or time) and one not including that covariate. </a:t>
            </a:r>
            <a:br>
              <a:rPr lang="en-US" dirty="0">
                <a:latin typeface="Helvetica Neue" panose="02000503000000020004" pitchFamily="2" charset="0"/>
                <a:ea typeface="Helvetica Neue" panose="02000503000000020004" pitchFamily="2" charset="0"/>
                <a:cs typeface="Helvetica Neue" panose="02000503000000020004" pitchFamily="2" charset="0"/>
              </a:rPr>
            </a:b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r>
              <a:rPr lang="en-US" sz="2400" dirty="0">
                <a:latin typeface="Helvetica Neue" panose="02000503000000020004" pitchFamily="2" charset="0"/>
                <a:ea typeface="Helvetica Neue" panose="02000503000000020004" pitchFamily="2" charset="0"/>
                <a:cs typeface="Helvetica Neue" panose="02000503000000020004" pitchFamily="2" charset="0"/>
              </a:rPr>
              <a:t>An F statistic and p-value are calculated using the fits of the two models. </a:t>
            </a:r>
          </a:p>
          <a:p>
            <a:pPr lvl="1"/>
            <a:r>
              <a:rPr lang="en-US" dirty="0">
                <a:latin typeface="Helvetica Neue" panose="02000503000000020004" pitchFamily="2" charset="0"/>
                <a:ea typeface="Helvetica Neue" panose="02000503000000020004" pitchFamily="2" charset="0"/>
                <a:cs typeface="Helvetica Neue" panose="02000503000000020004" pitchFamily="2" charset="0"/>
              </a:rPr>
              <a:t>A significant p-value means the model including the covariate of interest fits significantly better than the model without that covariate, indicating differential expression.</a:t>
            </a:r>
            <a:br>
              <a:rPr lang="en-US" dirty="0">
                <a:latin typeface="Helvetica Neue" panose="02000503000000020004" pitchFamily="2" charset="0"/>
                <a:ea typeface="Helvetica Neue" panose="02000503000000020004" pitchFamily="2" charset="0"/>
                <a:cs typeface="Helvetica Neue" panose="02000503000000020004" pitchFamily="2" charset="0"/>
              </a:rPr>
            </a:br>
            <a:r>
              <a:rPr lang="en-US" dirty="0">
                <a:latin typeface="Helvetica Neue" panose="02000503000000020004" pitchFamily="2" charset="0"/>
                <a:ea typeface="Helvetica Neue" panose="02000503000000020004" pitchFamily="2" charset="0"/>
                <a:cs typeface="Helvetica Neue" panose="02000503000000020004" pitchFamily="2" charset="0"/>
              </a:rPr>
              <a:t> </a:t>
            </a:r>
          </a:p>
          <a:p>
            <a:r>
              <a:rPr lang="en-US" sz="2400" dirty="0">
                <a:latin typeface="Helvetica Neue" panose="02000503000000020004" pitchFamily="2" charset="0"/>
                <a:ea typeface="Helvetica Neue" panose="02000503000000020004" pitchFamily="2" charset="0"/>
                <a:cs typeface="Helvetica Neue" panose="02000503000000020004" pitchFamily="2" charset="0"/>
              </a:rPr>
              <a:t>We adjust for multiple testing by reporting q-values: </a:t>
            </a:r>
          </a:p>
          <a:p>
            <a:pPr lvl="1"/>
            <a:r>
              <a:rPr lang="en-US" dirty="0">
                <a:latin typeface="Helvetica Neue" panose="02000503000000020004" pitchFamily="2" charset="0"/>
                <a:ea typeface="Helvetica Neue" panose="02000503000000020004" pitchFamily="2" charset="0"/>
                <a:cs typeface="Helvetica Neue" panose="02000503000000020004" pitchFamily="2" charset="0"/>
              </a:rPr>
              <a:t>q &lt; 0.05 the false discovery rate should be controlled at ~5%.</a:t>
            </a:r>
          </a:p>
        </p:txBody>
      </p:sp>
      <p:sp>
        <p:nvSpPr>
          <p:cNvPr id="4" name="TextBox 3"/>
          <p:cNvSpPr txBox="1"/>
          <p:nvPr/>
        </p:nvSpPr>
        <p:spPr>
          <a:xfrm>
            <a:off x="9765008" y="6082270"/>
            <a:ext cx="3024336" cy="307777"/>
          </a:xfrm>
          <a:prstGeom prst="rect">
            <a:avLst/>
          </a:prstGeom>
          <a:noFill/>
        </p:spPr>
        <p:txBody>
          <a:bodyPr wrap="square" rtlCol="0">
            <a:spAutoFit/>
          </a:bodyPr>
          <a:lstStyle/>
          <a:p>
            <a:r>
              <a:rPr lang="fr-FR" dirty="0">
                <a:latin typeface="Helvetica Neue" panose="02000503000000020004" pitchFamily="2" charset="0"/>
                <a:ea typeface="Helvetica Neue" panose="02000503000000020004" pitchFamily="2" charset="0"/>
                <a:cs typeface="Helvetica Neue" panose="02000503000000020004" pitchFamily="2" charset="0"/>
                <a:hlinkClick r:id="rId2"/>
              </a:rPr>
              <a:t>Frazee et al. (2014)</a:t>
            </a:r>
            <a:endParaRPr lang="en-US" dirty="0">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6159138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Screen Shot 2016-11-14 at 7.24.05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5640" y="3310874"/>
            <a:ext cx="6624736" cy="3070454"/>
          </a:xfrm>
          <a:prstGeom prst="rect">
            <a:avLst/>
          </a:prstGeom>
        </p:spPr>
      </p:pic>
      <p:sp>
        <p:nvSpPr>
          <p:cNvPr id="2" name="Title 1"/>
          <p:cNvSpPr>
            <a:spLocks noGrp="1"/>
          </p:cNvSpPr>
          <p:nvPr>
            <p:ph type="title"/>
          </p:nvPr>
        </p:nvSpPr>
        <p:spPr>
          <a:xfrm>
            <a:off x="1703512" y="103380"/>
            <a:ext cx="8839200" cy="490066"/>
          </a:xfrm>
        </p:spPr>
        <p:txBody>
          <a:bodyPr>
            <a:normAutofit fontScale="90000"/>
          </a:bodyPr>
          <a:lstStyle/>
          <a:p>
            <a:pPr algn="ctr"/>
            <a:r>
              <a:rPr lang="en-US" dirty="0" err="1">
                <a:latin typeface="Helvetica Neue" panose="02000503000000020004" pitchFamily="2" charset="0"/>
                <a:ea typeface="Helvetica Neue" panose="02000503000000020004" pitchFamily="2" charset="0"/>
                <a:cs typeface="Helvetica Neue" panose="02000503000000020004" pitchFamily="2" charset="0"/>
              </a:rPr>
              <a:t>Ballgown</a:t>
            </a:r>
            <a:r>
              <a:rPr lang="en-US" dirty="0">
                <a:latin typeface="Helvetica Neue" panose="02000503000000020004" pitchFamily="2" charset="0"/>
                <a:ea typeface="Helvetica Neue" panose="02000503000000020004" pitchFamily="2" charset="0"/>
                <a:cs typeface="Helvetica Neue" panose="02000503000000020004" pitchFamily="2" charset="0"/>
              </a:rPr>
              <a:t> for Visualization with R</a:t>
            </a:r>
          </a:p>
        </p:txBody>
      </p:sp>
      <p:pic>
        <p:nvPicPr>
          <p:cNvPr id="4" name="Content Placeholder 3" descr="nprot.2016.095-F3.jpg"/>
          <p:cNvPicPr>
            <a:picLocks noGrp="1" noChangeAspect="1"/>
          </p:cNvPicPr>
          <p:nvPr>
            <p:ph idx="1"/>
          </p:nvPr>
        </p:nvPicPr>
        <p:blipFill>
          <a:blip r:embed="rId3">
            <a:extLst>
              <a:ext uri="{28A0092B-C50C-407E-A947-70E740481C1C}">
                <a14:useLocalDpi xmlns:a14="http://schemas.microsoft.com/office/drawing/2010/main" val="0"/>
              </a:ext>
            </a:extLst>
          </a:blip>
          <a:srcRect l="-39529" r="-39529"/>
          <a:stretch>
            <a:fillRect/>
          </a:stretch>
        </p:blipFill>
        <p:spPr>
          <a:xfrm>
            <a:off x="623392" y="908721"/>
            <a:ext cx="5051412" cy="2699893"/>
          </a:xfrm>
        </p:spPr>
      </p:pic>
      <p:pic>
        <p:nvPicPr>
          <p:cNvPr id="5" name="Picture 4" descr="nprot.2016.095-F4.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83832" y="764705"/>
            <a:ext cx="2951294" cy="2741425"/>
          </a:xfrm>
          <a:prstGeom prst="rect">
            <a:avLst/>
          </a:prstGeom>
        </p:spPr>
      </p:pic>
      <p:pic>
        <p:nvPicPr>
          <p:cNvPr id="6" name="Picture 5" descr="nprot.2016.095-F5.jp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80176" y="764705"/>
            <a:ext cx="2952328" cy="2926085"/>
          </a:xfrm>
          <a:prstGeom prst="rect">
            <a:avLst/>
          </a:prstGeom>
        </p:spPr>
      </p:pic>
    </p:spTree>
    <p:extLst>
      <p:ext uri="{BB962C8B-B14F-4D97-AF65-F5344CB8AC3E}">
        <p14:creationId xmlns:p14="http://schemas.microsoft.com/office/powerpoint/2010/main" val="6826935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p:cNvSpPr>
            <a:spLocks noGrp="1"/>
          </p:cNvSpPr>
          <p:nvPr>
            <p:ph type="title"/>
          </p:nvPr>
        </p:nvSpPr>
        <p:spPr>
          <a:xfrm>
            <a:off x="393405" y="0"/>
            <a:ext cx="10960395" cy="1325563"/>
          </a:xfrm>
        </p:spPr>
        <p:txBody>
          <a:bodyPr/>
          <a:lstStyle/>
          <a:p>
            <a:pPr algn="ctr"/>
            <a:r>
              <a:rPr lang="en-US" dirty="0">
                <a:latin typeface="Helvetica Neue" panose="02000503000000020004" pitchFamily="2" charset="0"/>
                <a:ea typeface="Helvetica Neue" panose="02000503000000020004" pitchFamily="2" charset="0"/>
                <a:cs typeface="Helvetica Neue" panose="02000503000000020004" pitchFamily="2" charset="0"/>
              </a:rPr>
              <a:t>Alternative differential expression methods</a:t>
            </a:r>
          </a:p>
        </p:txBody>
      </p:sp>
      <p:sp>
        <p:nvSpPr>
          <p:cNvPr id="32770" name="Content Placeholder 2"/>
          <p:cNvSpPr>
            <a:spLocks noGrp="1"/>
          </p:cNvSpPr>
          <p:nvPr>
            <p:ph idx="1"/>
          </p:nvPr>
        </p:nvSpPr>
        <p:spPr>
          <a:xfrm>
            <a:off x="569843" y="1433739"/>
            <a:ext cx="10783957" cy="4351338"/>
          </a:xfrm>
        </p:spPr>
        <p:txBody>
          <a:bodyPr/>
          <a:lstStyle/>
          <a:p>
            <a:r>
              <a:rPr lang="en-US" sz="3200" dirty="0">
                <a:latin typeface="Helvetica Neue" panose="02000503000000020004" pitchFamily="2" charset="0"/>
                <a:ea typeface="Helvetica Neue" panose="02000503000000020004" pitchFamily="2" charset="0"/>
                <a:cs typeface="Helvetica Neue" panose="02000503000000020004" pitchFamily="2" charset="0"/>
              </a:rPr>
              <a:t>Raw count approaches</a:t>
            </a:r>
            <a:br>
              <a:rPr lang="en-US" sz="3200" dirty="0">
                <a:latin typeface="Helvetica Neue" panose="02000503000000020004" pitchFamily="2" charset="0"/>
                <a:ea typeface="Helvetica Neue" panose="02000503000000020004" pitchFamily="2" charset="0"/>
                <a:cs typeface="Helvetica Neue" panose="02000503000000020004" pitchFamily="2" charset="0"/>
              </a:rPr>
            </a:br>
            <a:endParaRPr lang="en-US" sz="3200" dirty="0">
              <a:latin typeface="Helvetica Neue" panose="02000503000000020004" pitchFamily="2" charset="0"/>
              <a:ea typeface="Helvetica Neue" panose="02000503000000020004" pitchFamily="2" charset="0"/>
              <a:cs typeface="Helvetica Neue" panose="02000503000000020004" pitchFamily="2" charset="0"/>
            </a:endParaRPr>
          </a:p>
          <a:p>
            <a:pPr lvl="1"/>
            <a:r>
              <a:rPr lang="en-US" dirty="0">
                <a:latin typeface="Helvetica Neue" panose="02000503000000020004" pitchFamily="2" charset="0"/>
                <a:ea typeface="Helvetica Neue" panose="02000503000000020004" pitchFamily="2" charset="0"/>
                <a:cs typeface="Helvetica Neue" panose="02000503000000020004" pitchFamily="2" charset="0"/>
              </a:rPr>
              <a:t>DESeq2 - </a:t>
            </a:r>
            <a:r>
              <a:rPr lang="en-US" dirty="0">
                <a:latin typeface="Helvetica Neue" panose="02000503000000020004" pitchFamily="2" charset="0"/>
                <a:ea typeface="Helvetica Neue" panose="02000503000000020004" pitchFamily="2" charset="0"/>
                <a:cs typeface="Helvetica Neue" panose="02000503000000020004" pitchFamily="2" charset="0"/>
                <a:hlinkClick r:id="rId2"/>
              </a:rPr>
              <a:t>http://www-huber.embl.de/users/anders/DESeq/</a:t>
            </a:r>
            <a:br>
              <a:rPr lang="en-US" dirty="0">
                <a:latin typeface="Helvetica Neue" panose="02000503000000020004" pitchFamily="2" charset="0"/>
                <a:ea typeface="Helvetica Neue" panose="02000503000000020004" pitchFamily="2" charset="0"/>
                <a:cs typeface="Helvetica Neue" panose="02000503000000020004" pitchFamily="2" charset="0"/>
              </a:rPr>
            </a:b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pPr lvl="1"/>
            <a:r>
              <a:rPr lang="en-US" dirty="0" err="1">
                <a:latin typeface="Helvetica Neue" panose="02000503000000020004" pitchFamily="2" charset="0"/>
                <a:ea typeface="Helvetica Neue" panose="02000503000000020004" pitchFamily="2" charset="0"/>
                <a:cs typeface="Helvetica Neue" panose="02000503000000020004" pitchFamily="2" charset="0"/>
              </a:rPr>
              <a:t>edgeR</a:t>
            </a:r>
            <a:r>
              <a:rPr lang="en-US" dirty="0">
                <a:latin typeface="Helvetica Neue" panose="02000503000000020004" pitchFamily="2" charset="0"/>
                <a:ea typeface="Helvetica Neue" panose="02000503000000020004" pitchFamily="2" charset="0"/>
                <a:cs typeface="Helvetica Neue" panose="02000503000000020004" pitchFamily="2" charset="0"/>
              </a:rPr>
              <a:t> - </a:t>
            </a:r>
            <a:r>
              <a:rPr lang="en-US" dirty="0">
                <a:latin typeface="Helvetica Neue" panose="02000503000000020004" pitchFamily="2" charset="0"/>
                <a:ea typeface="Helvetica Neue" panose="02000503000000020004" pitchFamily="2" charset="0"/>
                <a:cs typeface="Helvetica Neue" panose="02000503000000020004" pitchFamily="2" charset="0"/>
                <a:hlinkClick r:id="rId3"/>
              </a:rPr>
              <a:t>http://www.bioconductor.org/packages/release/bioc/html/edgeR.html</a:t>
            </a:r>
            <a:br>
              <a:rPr lang="en-US" dirty="0">
                <a:latin typeface="Helvetica Neue" panose="02000503000000020004" pitchFamily="2" charset="0"/>
                <a:ea typeface="Helvetica Neue" panose="02000503000000020004" pitchFamily="2" charset="0"/>
                <a:cs typeface="Helvetica Neue" panose="02000503000000020004" pitchFamily="2" charset="0"/>
              </a:rPr>
            </a:b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pPr lvl="1"/>
            <a:r>
              <a:rPr lang="en-US" dirty="0">
                <a:latin typeface="Helvetica Neue" panose="02000503000000020004" pitchFamily="2" charset="0"/>
                <a:ea typeface="Helvetica Neue" panose="02000503000000020004" pitchFamily="2" charset="0"/>
                <a:cs typeface="Helvetica Neue" panose="02000503000000020004" pitchFamily="2" charset="0"/>
              </a:rPr>
              <a:t>Others…</a:t>
            </a:r>
          </a:p>
          <a:p>
            <a:pPr lvl="1"/>
            <a:endParaRPr lang="en-US" dirty="0">
              <a:latin typeface="Helvetica Neue" panose="02000503000000020004" pitchFamily="2" charset="0"/>
              <a:ea typeface="Helvetica Neue" panose="02000503000000020004" pitchFamily="2" charset="0"/>
              <a:cs typeface="Helvetica Neue" panose="02000503000000020004" pitchFamily="2" charset="0"/>
            </a:endParaRPr>
          </a:p>
          <a:p>
            <a:pPr lvl="1"/>
            <a:endParaRPr lang="en-US" dirty="0">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19929089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nvPr>
        </p:nvSpPr>
        <p:spPr>
          <a:xfrm>
            <a:off x="425302" y="-27384"/>
            <a:ext cx="10604664" cy="864096"/>
          </a:xfrm>
        </p:spPr>
        <p:txBody>
          <a:bodyPr>
            <a:noAutofit/>
          </a:bodyPr>
          <a:lstStyle/>
          <a:p>
            <a:pPr algn="ctr"/>
            <a:r>
              <a:rPr lang="en-US" sz="3400" dirty="0">
                <a:latin typeface="Helvetica Neue" panose="02000503000000020004" pitchFamily="2" charset="0"/>
                <a:ea typeface="Helvetica Neue" panose="02000503000000020004" pitchFamily="2" charset="0"/>
                <a:cs typeface="Helvetica Neue" panose="02000503000000020004" pitchFamily="2" charset="0"/>
              </a:rPr>
              <a:t>‘FPKM/TPM’ expression estimates vs. ‘raw’ counts</a:t>
            </a:r>
          </a:p>
        </p:txBody>
      </p:sp>
      <p:sp>
        <p:nvSpPr>
          <p:cNvPr id="31746" name="Content Placeholder 2"/>
          <p:cNvSpPr>
            <a:spLocks noGrp="1"/>
          </p:cNvSpPr>
          <p:nvPr>
            <p:ph idx="1"/>
          </p:nvPr>
        </p:nvSpPr>
        <p:spPr>
          <a:xfrm>
            <a:off x="866899" y="908720"/>
            <a:ext cx="10604665" cy="5328592"/>
          </a:xfrm>
        </p:spPr>
        <p:txBody>
          <a:bodyPr>
            <a:normAutofit lnSpcReduction="10000"/>
          </a:bodyPr>
          <a:lstStyle/>
          <a:p>
            <a:r>
              <a:rPr lang="en-US" dirty="0">
                <a:latin typeface="Helvetica Neue" panose="02000503000000020004" pitchFamily="2" charset="0"/>
                <a:ea typeface="Helvetica Neue" panose="02000503000000020004" pitchFamily="2" charset="0"/>
                <a:cs typeface="Helvetica Neue" panose="02000503000000020004" pitchFamily="2" charset="0"/>
              </a:rPr>
              <a:t>Which should I use?</a:t>
            </a:r>
          </a:p>
          <a:p>
            <a:pPr lvl="1"/>
            <a:r>
              <a:rPr lang="en-US" dirty="0">
                <a:latin typeface="Helvetica Neue" panose="02000503000000020004" pitchFamily="2" charset="0"/>
                <a:ea typeface="Helvetica Neue" panose="02000503000000020004" pitchFamily="2" charset="0"/>
                <a:cs typeface="Helvetica Neue" panose="02000503000000020004" pitchFamily="2" charset="0"/>
              </a:rPr>
              <a:t>Long running debate, but the general consensus:</a:t>
            </a:r>
            <a:br>
              <a:rPr lang="en-US" dirty="0">
                <a:latin typeface="Helvetica Neue" panose="02000503000000020004" pitchFamily="2" charset="0"/>
                <a:ea typeface="Helvetica Neue" panose="02000503000000020004" pitchFamily="2" charset="0"/>
                <a:cs typeface="Helvetica Neue" panose="02000503000000020004" pitchFamily="2" charset="0"/>
              </a:rPr>
            </a:b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r>
              <a:rPr lang="en-US" dirty="0">
                <a:latin typeface="Helvetica Neue" panose="02000503000000020004" pitchFamily="2" charset="0"/>
                <a:ea typeface="Helvetica Neue" panose="02000503000000020004" pitchFamily="2" charset="0"/>
                <a:cs typeface="Helvetica Neue" panose="02000503000000020004" pitchFamily="2" charset="0"/>
              </a:rPr>
              <a:t>FPKM/TPM</a:t>
            </a:r>
          </a:p>
          <a:p>
            <a:pPr lvl="1"/>
            <a:r>
              <a:rPr lang="en-US" dirty="0">
                <a:latin typeface="Helvetica Neue" panose="02000503000000020004" pitchFamily="2" charset="0"/>
                <a:ea typeface="Helvetica Neue" panose="02000503000000020004" pitchFamily="2" charset="0"/>
                <a:cs typeface="Helvetica Neue" panose="02000503000000020004" pitchFamily="2" charset="0"/>
              </a:rPr>
              <a:t>When you want to leverage benefits of tuxedo suite</a:t>
            </a:r>
          </a:p>
          <a:p>
            <a:pPr lvl="2"/>
            <a:r>
              <a:rPr lang="en-US" dirty="0">
                <a:latin typeface="Helvetica Neue" panose="02000503000000020004" pitchFamily="2" charset="0"/>
                <a:ea typeface="Helvetica Neue" panose="02000503000000020004" pitchFamily="2" charset="0"/>
                <a:cs typeface="Helvetica Neue" panose="02000503000000020004" pitchFamily="2" charset="0"/>
              </a:rPr>
              <a:t>Isoform </a:t>
            </a:r>
            <a:r>
              <a:rPr lang="en-US" dirty="0" err="1">
                <a:latin typeface="Helvetica Neue" panose="02000503000000020004" pitchFamily="2" charset="0"/>
                <a:ea typeface="Helvetica Neue" panose="02000503000000020004" pitchFamily="2" charset="0"/>
                <a:cs typeface="Helvetica Neue" panose="02000503000000020004" pitchFamily="2" charset="0"/>
              </a:rPr>
              <a:t>deconvolution</a:t>
            </a: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pPr lvl="1"/>
            <a:r>
              <a:rPr lang="en-US" dirty="0">
                <a:latin typeface="Helvetica Neue" panose="02000503000000020004" pitchFamily="2" charset="0"/>
                <a:ea typeface="Helvetica Neue" panose="02000503000000020004" pitchFamily="2" charset="0"/>
                <a:cs typeface="Helvetica Neue" panose="02000503000000020004" pitchFamily="2" charset="0"/>
              </a:rPr>
              <a:t>Good for visualization (e.g., </a:t>
            </a:r>
            <a:r>
              <a:rPr lang="en-US" dirty="0" err="1">
                <a:latin typeface="Helvetica Neue" panose="02000503000000020004" pitchFamily="2" charset="0"/>
                <a:ea typeface="Helvetica Neue" panose="02000503000000020004" pitchFamily="2" charset="0"/>
                <a:cs typeface="Helvetica Neue" panose="02000503000000020004" pitchFamily="2" charset="0"/>
              </a:rPr>
              <a:t>heatmaps</a:t>
            </a:r>
            <a:r>
              <a:rPr lang="en-US" dirty="0">
                <a:latin typeface="Helvetica Neue" panose="02000503000000020004" pitchFamily="2" charset="0"/>
                <a:ea typeface="Helvetica Neue" panose="02000503000000020004" pitchFamily="2" charset="0"/>
                <a:cs typeface="Helvetica Neue" panose="02000503000000020004" pitchFamily="2" charset="0"/>
              </a:rPr>
              <a:t>)</a:t>
            </a:r>
          </a:p>
          <a:p>
            <a:pPr lvl="1"/>
            <a:r>
              <a:rPr lang="en-US" dirty="0">
                <a:latin typeface="Helvetica Neue" panose="02000503000000020004" pitchFamily="2" charset="0"/>
                <a:ea typeface="Helvetica Neue" panose="02000503000000020004" pitchFamily="2" charset="0"/>
                <a:cs typeface="Helvetica Neue" panose="02000503000000020004" pitchFamily="2" charset="0"/>
              </a:rPr>
              <a:t>Calculating fold changes, etc.</a:t>
            </a:r>
            <a:br>
              <a:rPr lang="en-US" dirty="0">
                <a:latin typeface="Helvetica Neue" panose="02000503000000020004" pitchFamily="2" charset="0"/>
                <a:ea typeface="Helvetica Neue" panose="02000503000000020004" pitchFamily="2" charset="0"/>
                <a:cs typeface="Helvetica Neue" panose="02000503000000020004" pitchFamily="2" charset="0"/>
              </a:rPr>
            </a:b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r>
              <a:rPr lang="en-US" dirty="0">
                <a:latin typeface="Helvetica Neue" panose="02000503000000020004" pitchFamily="2" charset="0"/>
                <a:ea typeface="Helvetica Neue" panose="02000503000000020004" pitchFamily="2" charset="0"/>
                <a:cs typeface="Helvetica Neue" panose="02000503000000020004" pitchFamily="2" charset="0"/>
              </a:rPr>
              <a:t>Counts</a:t>
            </a:r>
          </a:p>
          <a:p>
            <a:pPr lvl="1"/>
            <a:r>
              <a:rPr lang="en-US" dirty="0">
                <a:latin typeface="Helvetica Neue" panose="02000503000000020004" pitchFamily="2" charset="0"/>
                <a:ea typeface="Helvetica Neue" panose="02000503000000020004" pitchFamily="2" charset="0"/>
                <a:cs typeface="Helvetica Neue" panose="02000503000000020004" pitchFamily="2" charset="0"/>
              </a:rPr>
              <a:t>More robust statistical methods for differential expression</a:t>
            </a:r>
          </a:p>
          <a:p>
            <a:pPr lvl="1"/>
            <a:r>
              <a:rPr lang="en-US" dirty="0">
                <a:latin typeface="Helvetica Neue" panose="02000503000000020004" pitchFamily="2" charset="0"/>
                <a:ea typeface="Helvetica Neue" panose="02000503000000020004" pitchFamily="2" charset="0"/>
                <a:cs typeface="Helvetica Neue" panose="02000503000000020004" pitchFamily="2" charset="0"/>
              </a:rPr>
              <a:t>Accommodates more sophisticated experimental designs with appropriate statistical tests</a:t>
            </a:r>
          </a:p>
        </p:txBody>
      </p:sp>
    </p:spTree>
    <p:extLst>
      <p:ext uri="{BB962C8B-B14F-4D97-AF65-F5344CB8AC3E}">
        <p14:creationId xmlns:p14="http://schemas.microsoft.com/office/powerpoint/2010/main" val="18134297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44624"/>
            <a:ext cx="8839200" cy="1143000"/>
          </a:xfrm>
        </p:spPr>
        <p:txBody>
          <a:bodyPr>
            <a:normAutofit/>
          </a:bodyPr>
          <a:lstStyle/>
          <a:p>
            <a:pPr algn="ctr"/>
            <a:r>
              <a:rPr lang="en-US" dirty="0">
                <a:latin typeface="Helvetica Neue" panose="02000503000000020004" pitchFamily="2" charset="0"/>
                <a:ea typeface="Helvetica Neue" panose="02000503000000020004" pitchFamily="2" charset="0"/>
                <a:cs typeface="Helvetica Neue" panose="02000503000000020004" pitchFamily="2" charset="0"/>
              </a:rPr>
              <a:t>Multiple approaches advisable</a:t>
            </a:r>
          </a:p>
        </p:txBody>
      </p:sp>
      <p:pic>
        <p:nvPicPr>
          <p:cNvPr id="4" name="Picture 3">
            <a:extLst>
              <a:ext uri="{FF2B5EF4-FFF2-40B4-BE49-F238E27FC236}">
                <a16:creationId xmlns:a16="http://schemas.microsoft.com/office/drawing/2014/main" id="{F06AD803-61F9-82E3-3891-1E0E6BB3704F}"/>
              </a:ext>
            </a:extLst>
          </p:cNvPr>
          <p:cNvPicPr>
            <a:picLocks noChangeAspect="1"/>
          </p:cNvPicPr>
          <p:nvPr/>
        </p:nvPicPr>
        <p:blipFill>
          <a:blip r:embed="rId2"/>
          <a:stretch>
            <a:fillRect/>
          </a:stretch>
        </p:blipFill>
        <p:spPr>
          <a:xfrm>
            <a:off x="3191560" y="1041991"/>
            <a:ext cx="5535977" cy="5167424"/>
          </a:xfrm>
          <a:prstGeom prst="rect">
            <a:avLst/>
          </a:prstGeom>
        </p:spPr>
      </p:pic>
    </p:spTree>
    <p:extLst>
      <p:ext uri="{BB962C8B-B14F-4D97-AF65-F5344CB8AC3E}">
        <p14:creationId xmlns:p14="http://schemas.microsoft.com/office/powerpoint/2010/main" val="24965889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p:cNvSpPr>
            <a:spLocks noGrp="1"/>
          </p:cNvSpPr>
          <p:nvPr>
            <p:ph type="title"/>
          </p:nvPr>
        </p:nvSpPr>
        <p:spPr>
          <a:xfrm>
            <a:off x="838200" y="0"/>
            <a:ext cx="10515600" cy="1325563"/>
          </a:xfrm>
        </p:spPr>
        <p:txBody>
          <a:bodyPr/>
          <a:lstStyle/>
          <a:p>
            <a:pPr algn="ctr"/>
            <a:r>
              <a:rPr lang="en-US" dirty="0">
                <a:latin typeface="Helvetica Neue" panose="02000503000000020004" pitchFamily="2" charset="0"/>
                <a:ea typeface="Helvetica Neue" panose="02000503000000020004" pitchFamily="2" charset="0"/>
                <a:cs typeface="Helvetica Neue" panose="02000503000000020004" pitchFamily="2" charset="0"/>
              </a:rPr>
              <a:t>Lessons learned from microarray days</a:t>
            </a:r>
          </a:p>
        </p:txBody>
      </p:sp>
      <p:sp>
        <p:nvSpPr>
          <p:cNvPr id="34818" name="Content Placeholder 2"/>
          <p:cNvSpPr>
            <a:spLocks noGrp="1"/>
          </p:cNvSpPr>
          <p:nvPr>
            <p:ph idx="1"/>
          </p:nvPr>
        </p:nvSpPr>
        <p:spPr>
          <a:xfrm>
            <a:off x="838200" y="1555668"/>
            <a:ext cx="10515600" cy="4621295"/>
          </a:xfrm>
        </p:spPr>
        <p:txBody>
          <a:bodyPr>
            <a:normAutofit fontScale="92500" lnSpcReduction="20000"/>
          </a:bodyPr>
          <a:lstStyle/>
          <a:p>
            <a:r>
              <a:rPr lang="en-US" dirty="0">
                <a:latin typeface="Helvetica Neue" panose="02000503000000020004" pitchFamily="2" charset="0"/>
                <a:ea typeface="Helvetica Neue" panose="02000503000000020004" pitchFamily="2" charset="0"/>
                <a:cs typeface="Helvetica Neue" panose="02000503000000020004" pitchFamily="2" charset="0"/>
              </a:rPr>
              <a:t>Hansen et al. “Sequencing Technology Does Not Eliminate Biological Variability.” Nature Biotechnology 29, no. 7 (2011): 572–573.</a:t>
            </a:r>
            <a:br>
              <a:rPr lang="en-US" dirty="0">
                <a:latin typeface="Helvetica Neue" panose="02000503000000020004" pitchFamily="2" charset="0"/>
                <a:ea typeface="Helvetica Neue" panose="02000503000000020004" pitchFamily="2" charset="0"/>
                <a:cs typeface="Helvetica Neue" panose="02000503000000020004" pitchFamily="2" charset="0"/>
              </a:rPr>
            </a:b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r>
              <a:rPr lang="en-US" dirty="0">
                <a:latin typeface="Helvetica Neue" panose="02000503000000020004" pitchFamily="2" charset="0"/>
                <a:ea typeface="Helvetica Neue" panose="02000503000000020004" pitchFamily="2" charset="0"/>
                <a:cs typeface="Helvetica Neue" panose="02000503000000020004" pitchFamily="2" charset="0"/>
              </a:rPr>
              <a:t>Power analysis for RNA-seq experiments</a:t>
            </a:r>
          </a:p>
          <a:p>
            <a:pPr lvl="1"/>
            <a:r>
              <a:rPr lang="en-US" dirty="0">
                <a:latin typeface="Helvetica Neue" panose="02000503000000020004" pitchFamily="2" charset="0"/>
                <a:ea typeface="Helvetica Neue" panose="02000503000000020004" pitchFamily="2" charset="0"/>
                <a:cs typeface="Helvetica Neue" panose="02000503000000020004" pitchFamily="2" charset="0"/>
                <a:hlinkClick r:id="rId2"/>
              </a:rPr>
              <a:t>http://scotty.genetics.utah.edu/</a:t>
            </a: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pPr lvl="1"/>
            <a:endParaRPr lang="en-US" dirty="0">
              <a:latin typeface="Helvetica Neue" panose="02000503000000020004" pitchFamily="2" charset="0"/>
              <a:ea typeface="Helvetica Neue" panose="02000503000000020004" pitchFamily="2" charset="0"/>
              <a:cs typeface="Helvetica Neue" panose="02000503000000020004" pitchFamily="2" charset="0"/>
            </a:endParaRPr>
          </a:p>
          <a:p>
            <a:r>
              <a:rPr lang="en-US" dirty="0">
                <a:latin typeface="Helvetica Neue" panose="02000503000000020004" pitchFamily="2" charset="0"/>
                <a:ea typeface="Helvetica Neue" panose="02000503000000020004" pitchFamily="2" charset="0"/>
                <a:cs typeface="Helvetica Neue" panose="02000503000000020004" pitchFamily="2" charset="0"/>
              </a:rPr>
              <a:t>RNA-seq need for biological replicates</a:t>
            </a:r>
          </a:p>
          <a:p>
            <a:pPr lvl="1"/>
            <a:r>
              <a:rPr lang="en-US" dirty="0">
                <a:latin typeface="Helvetica Neue" panose="02000503000000020004" pitchFamily="2" charset="0"/>
                <a:ea typeface="Helvetica Neue" panose="02000503000000020004" pitchFamily="2" charset="0"/>
                <a:cs typeface="Helvetica Neue" panose="02000503000000020004" pitchFamily="2" charset="0"/>
                <a:hlinkClick r:id="rId3"/>
              </a:rPr>
              <a:t>http://www.biostars.org/p/1161/</a:t>
            </a:r>
            <a:br>
              <a:rPr lang="en-US" dirty="0">
                <a:latin typeface="Helvetica Neue" panose="02000503000000020004" pitchFamily="2" charset="0"/>
                <a:ea typeface="Helvetica Neue" panose="02000503000000020004" pitchFamily="2" charset="0"/>
                <a:cs typeface="Helvetica Neue" panose="02000503000000020004" pitchFamily="2" charset="0"/>
              </a:rPr>
            </a:b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r>
              <a:rPr lang="en-US" dirty="0">
                <a:latin typeface="Helvetica Neue" panose="02000503000000020004" pitchFamily="2" charset="0"/>
                <a:ea typeface="Helvetica Neue" panose="02000503000000020004" pitchFamily="2" charset="0"/>
                <a:cs typeface="Helvetica Neue" panose="02000503000000020004" pitchFamily="2" charset="0"/>
              </a:rPr>
              <a:t>RNA-seq study design</a:t>
            </a:r>
          </a:p>
          <a:p>
            <a:pPr lvl="1"/>
            <a:r>
              <a:rPr lang="en-US" dirty="0">
                <a:latin typeface="Helvetica Neue" panose="02000503000000020004" pitchFamily="2" charset="0"/>
                <a:ea typeface="Helvetica Neue" panose="02000503000000020004" pitchFamily="2" charset="0"/>
                <a:cs typeface="Helvetica Neue" panose="02000503000000020004" pitchFamily="2" charset="0"/>
                <a:hlinkClick r:id="rId4"/>
              </a:rPr>
              <a:t>http://www.biostars.org/p/68885/</a:t>
            </a: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endParaRPr lang="en-US" dirty="0">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21490827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p:cNvSpPr>
            <a:spLocks noGrp="1"/>
          </p:cNvSpPr>
          <p:nvPr>
            <p:ph type="title"/>
          </p:nvPr>
        </p:nvSpPr>
        <p:spPr>
          <a:xfrm>
            <a:off x="1676400" y="53752"/>
            <a:ext cx="8839200" cy="1143000"/>
          </a:xfrm>
        </p:spPr>
        <p:txBody>
          <a:bodyPr/>
          <a:lstStyle/>
          <a:p>
            <a:pPr algn="ctr"/>
            <a:r>
              <a:rPr lang="en-US" dirty="0">
                <a:latin typeface="Helvetica Neue" panose="02000503000000020004" pitchFamily="2" charset="0"/>
                <a:ea typeface="Helvetica Neue" panose="02000503000000020004" pitchFamily="2" charset="0"/>
                <a:cs typeface="Helvetica Neue" panose="02000503000000020004" pitchFamily="2" charset="0"/>
              </a:rPr>
              <a:t>Multiple testing correction</a:t>
            </a:r>
          </a:p>
        </p:txBody>
      </p:sp>
      <p:sp>
        <p:nvSpPr>
          <p:cNvPr id="35842" name="Content Placeholder 2"/>
          <p:cNvSpPr>
            <a:spLocks noGrp="1"/>
          </p:cNvSpPr>
          <p:nvPr>
            <p:ph idx="1"/>
          </p:nvPr>
        </p:nvSpPr>
        <p:spPr>
          <a:xfrm>
            <a:off x="581891" y="1196752"/>
            <a:ext cx="10877797" cy="4968552"/>
          </a:xfrm>
        </p:spPr>
        <p:txBody>
          <a:bodyPr>
            <a:normAutofit fontScale="92500" lnSpcReduction="20000"/>
          </a:bodyPr>
          <a:lstStyle/>
          <a:p>
            <a:r>
              <a:rPr lang="en-US" dirty="0">
                <a:latin typeface="Helvetica Neue" panose="02000503000000020004" pitchFamily="2" charset="0"/>
                <a:ea typeface="Helvetica Neue" panose="02000503000000020004" pitchFamily="2" charset="0"/>
                <a:cs typeface="Helvetica Neue" panose="02000503000000020004" pitchFamily="2" charset="0"/>
              </a:rPr>
              <a:t>As more attributes are compared, differences due solely to chance become more likely! </a:t>
            </a:r>
            <a:br>
              <a:rPr lang="en-US" dirty="0">
                <a:latin typeface="Helvetica Neue" panose="02000503000000020004" pitchFamily="2" charset="0"/>
                <a:ea typeface="Helvetica Neue" panose="02000503000000020004" pitchFamily="2" charset="0"/>
                <a:cs typeface="Helvetica Neue" panose="02000503000000020004" pitchFamily="2" charset="0"/>
              </a:rPr>
            </a:b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r>
              <a:rPr lang="en-US" dirty="0">
                <a:latin typeface="Helvetica Neue" panose="02000503000000020004" pitchFamily="2" charset="0"/>
                <a:ea typeface="Helvetica Neue" panose="02000503000000020004" pitchFamily="2" charset="0"/>
                <a:cs typeface="Helvetica Neue" panose="02000503000000020004" pitchFamily="2" charset="0"/>
              </a:rPr>
              <a:t>Well known from array studies</a:t>
            </a:r>
          </a:p>
          <a:p>
            <a:pPr lvl="1"/>
            <a:r>
              <a:rPr lang="en-US" dirty="0">
                <a:latin typeface="Helvetica Neue" panose="02000503000000020004" pitchFamily="2" charset="0"/>
                <a:ea typeface="Helvetica Neue" panose="02000503000000020004" pitchFamily="2" charset="0"/>
                <a:cs typeface="Helvetica Neue" panose="02000503000000020004" pitchFamily="2" charset="0"/>
              </a:rPr>
              <a:t>10,000s genes/transcripts</a:t>
            </a:r>
          </a:p>
          <a:p>
            <a:pPr lvl="1"/>
            <a:r>
              <a:rPr lang="en-US" dirty="0">
                <a:latin typeface="Helvetica Neue" panose="02000503000000020004" pitchFamily="2" charset="0"/>
                <a:ea typeface="Helvetica Neue" panose="02000503000000020004" pitchFamily="2" charset="0"/>
                <a:cs typeface="Helvetica Neue" panose="02000503000000020004" pitchFamily="2" charset="0"/>
              </a:rPr>
              <a:t>100,000s exons</a:t>
            </a:r>
            <a:br>
              <a:rPr lang="en-US" dirty="0">
                <a:latin typeface="Helvetica Neue" panose="02000503000000020004" pitchFamily="2" charset="0"/>
                <a:ea typeface="Helvetica Neue" panose="02000503000000020004" pitchFamily="2" charset="0"/>
                <a:cs typeface="Helvetica Neue" panose="02000503000000020004" pitchFamily="2" charset="0"/>
              </a:rPr>
            </a:b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pPr marL="342900" lvl="1" indent="-342900">
              <a:buFont typeface="Arial" charset="0"/>
              <a:buChar char="•"/>
            </a:pPr>
            <a:r>
              <a:rPr lang="en-US" dirty="0">
                <a:latin typeface="Helvetica Neue" panose="02000503000000020004" pitchFamily="2" charset="0"/>
                <a:ea typeface="Helvetica Neue" panose="02000503000000020004" pitchFamily="2" charset="0"/>
                <a:cs typeface="Helvetica Neue" panose="02000503000000020004" pitchFamily="2" charset="0"/>
              </a:rPr>
              <a:t>With RNA-</a:t>
            </a:r>
            <a:r>
              <a:rPr lang="en-US" dirty="0" err="1">
                <a:latin typeface="Helvetica Neue" panose="02000503000000020004" pitchFamily="2" charset="0"/>
                <a:ea typeface="Helvetica Neue" panose="02000503000000020004" pitchFamily="2" charset="0"/>
                <a:cs typeface="Helvetica Neue" panose="02000503000000020004" pitchFamily="2" charset="0"/>
              </a:rPr>
              <a:t>seq</a:t>
            </a:r>
            <a:r>
              <a:rPr lang="en-US" dirty="0">
                <a:latin typeface="Helvetica Neue" panose="02000503000000020004" pitchFamily="2" charset="0"/>
                <a:ea typeface="Helvetica Neue" panose="02000503000000020004" pitchFamily="2" charset="0"/>
                <a:cs typeface="Helvetica Neue" panose="02000503000000020004" pitchFamily="2" charset="0"/>
              </a:rPr>
              <a:t>, more of a problem than ever</a:t>
            </a:r>
          </a:p>
          <a:p>
            <a:pPr lvl="1"/>
            <a:r>
              <a:rPr lang="en-US" dirty="0">
                <a:latin typeface="Helvetica Neue" panose="02000503000000020004" pitchFamily="2" charset="0"/>
                <a:ea typeface="Helvetica Neue" panose="02000503000000020004" pitchFamily="2" charset="0"/>
                <a:cs typeface="Helvetica Neue" panose="02000503000000020004" pitchFamily="2" charset="0"/>
              </a:rPr>
              <a:t>All the complexity of the transcriptome gives huge numbers of potential features</a:t>
            </a:r>
          </a:p>
          <a:p>
            <a:pPr lvl="2"/>
            <a:r>
              <a:rPr lang="en-US" dirty="0">
                <a:latin typeface="Helvetica Neue" panose="02000503000000020004" pitchFamily="2" charset="0"/>
                <a:ea typeface="Helvetica Neue" panose="02000503000000020004" pitchFamily="2" charset="0"/>
                <a:cs typeface="Helvetica Neue" panose="02000503000000020004" pitchFamily="2" charset="0"/>
              </a:rPr>
              <a:t>Genes, transcripts, exons, junctions, retained introns, microRNAs, </a:t>
            </a:r>
            <a:r>
              <a:rPr lang="en-US" dirty="0" err="1">
                <a:latin typeface="Helvetica Neue" panose="02000503000000020004" pitchFamily="2" charset="0"/>
                <a:ea typeface="Helvetica Neue" panose="02000503000000020004" pitchFamily="2" charset="0"/>
                <a:cs typeface="Helvetica Neue" panose="02000503000000020004" pitchFamily="2" charset="0"/>
              </a:rPr>
              <a:t>lncRNAs</a:t>
            </a:r>
            <a:r>
              <a:rPr lang="en-US" dirty="0">
                <a:latin typeface="Helvetica Neue" panose="02000503000000020004" pitchFamily="2" charset="0"/>
                <a:ea typeface="Helvetica Neue" panose="02000503000000020004" pitchFamily="2" charset="0"/>
                <a:cs typeface="Helvetica Neue" panose="02000503000000020004" pitchFamily="2" charset="0"/>
              </a:rPr>
              <a:t>, </a:t>
            </a:r>
            <a:r>
              <a:rPr lang="en-US" dirty="0" err="1">
                <a:latin typeface="Helvetica Neue" panose="02000503000000020004" pitchFamily="2" charset="0"/>
                <a:ea typeface="Helvetica Neue" panose="02000503000000020004" pitchFamily="2" charset="0"/>
                <a:cs typeface="Helvetica Neue" panose="02000503000000020004" pitchFamily="2" charset="0"/>
              </a:rPr>
              <a:t>etc</a:t>
            </a:r>
            <a:br>
              <a:rPr lang="en-US" dirty="0">
                <a:latin typeface="Helvetica Neue" panose="02000503000000020004" pitchFamily="2" charset="0"/>
                <a:ea typeface="Helvetica Neue" panose="02000503000000020004" pitchFamily="2" charset="0"/>
                <a:cs typeface="Helvetica Neue" panose="02000503000000020004" pitchFamily="2" charset="0"/>
              </a:rPr>
            </a:b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r>
              <a:rPr lang="en-US" dirty="0" err="1">
                <a:latin typeface="Helvetica Neue" panose="02000503000000020004" pitchFamily="2" charset="0"/>
                <a:ea typeface="Helvetica Neue" panose="02000503000000020004" pitchFamily="2" charset="0"/>
                <a:cs typeface="Helvetica Neue" panose="02000503000000020004" pitchFamily="2" charset="0"/>
              </a:rPr>
              <a:t>Bioconductor</a:t>
            </a:r>
            <a:r>
              <a:rPr lang="en-US" dirty="0">
                <a:latin typeface="Helvetica Neue" panose="02000503000000020004" pitchFamily="2" charset="0"/>
                <a:ea typeface="Helvetica Neue" panose="02000503000000020004" pitchFamily="2" charset="0"/>
                <a:cs typeface="Helvetica Neue" panose="02000503000000020004" pitchFamily="2" charset="0"/>
              </a:rPr>
              <a:t> </a:t>
            </a:r>
            <a:r>
              <a:rPr lang="en-US" dirty="0" err="1">
                <a:latin typeface="Helvetica Neue" panose="02000503000000020004" pitchFamily="2" charset="0"/>
                <a:ea typeface="Helvetica Neue" panose="02000503000000020004" pitchFamily="2" charset="0"/>
                <a:cs typeface="Helvetica Neue" panose="02000503000000020004" pitchFamily="2" charset="0"/>
              </a:rPr>
              <a:t>multtest</a:t>
            </a: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pPr lvl="1"/>
            <a:r>
              <a:rPr lang="en-US" sz="1800" dirty="0">
                <a:latin typeface="Helvetica Neue" panose="02000503000000020004" pitchFamily="2" charset="0"/>
                <a:ea typeface="Helvetica Neue" panose="02000503000000020004" pitchFamily="2" charset="0"/>
                <a:cs typeface="Helvetica Neue" panose="02000503000000020004" pitchFamily="2" charset="0"/>
                <a:hlinkClick r:id="rId3"/>
              </a:rPr>
              <a:t>http://www.bioconductor.org/packages/release/bioc/html/multtest.html</a:t>
            </a:r>
            <a:endParaRPr lang="en-US" sz="1800" dirty="0">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12038379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a:xfrm>
            <a:off x="419725" y="-94828"/>
            <a:ext cx="11352550" cy="1143000"/>
          </a:xfrm>
        </p:spPr>
        <p:txBody>
          <a:bodyPr/>
          <a:lstStyle/>
          <a:p>
            <a:pPr algn="ctr"/>
            <a:r>
              <a:rPr lang="en-US" sz="3600" dirty="0">
                <a:latin typeface="Helvetica Neue" panose="02000503000000020004" pitchFamily="2" charset="0"/>
                <a:ea typeface="Helvetica Neue" panose="02000503000000020004" pitchFamily="2" charset="0"/>
                <a:cs typeface="Helvetica Neue" panose="02000503000000020004" pitchFamily="2" charset="0"/>
              </a:rPr>
              <a:t>Downstream interpretation of expression analysis</a:t>
            </a:r>
          </a:p>
        </p:txBody>
      </p:sp>
      <p:sp>
        <p:nvSpPr>
          <p:cNvPr id="2" name="Content Placeholder 1"/>
          <p:cNvSpPr>
            <a:spLocks noGrp="1"/>
          </p:cNvSpPr>
          <p:nvPr>
            <p:ph idx="1"/>
          </p:nvPr>
        </p:nvSpPr>
        <p:spPr>
          <a:xfrm>
            <a:off x="419725" y="944380"/>
            <a:ext cx="5101509" cy="5017724"/>
          </a:xfrm>
        </p:spPr>
        <p:txBody>
          <a:bodyPr>
            <a:normAutofit/>
          </a:bodyPr>
          <a:lstStyle/>
          <a:p>
            <a:pPr>
              <a:lnSpc>
                <a:spcPct val="110000"/>
              </a:lnSpc>
            </a:pPr>
            <a:r>
              <a:rPr lang="en-US" sz="2400" dirty="0">
                <a:latin typeface="Helvetica Neue" panose="02000503000000020004" pitchFamily="2" charset="0"/>
                <a:ea typeface="Helvetica Neue" panose="02000503000000020004" pitchFamily="2" charset="0"/>
                <a:cs typeface="Helvetica Neue" panose="02000503000000020004" pitchFamily="2" charset="0"/>
              </a:rPr>
              <a:t>Topic for an entire course</a:t>
            </a:r>
            <a:br>
              <a:rPr lang="en-US" sz="2400" dirty="0">
                <a:latin typeface="Helvetica Neue" panose="02000503000000020004" pitchFamily="2" charset="0"/>
                <a:ea typeface="Helvetica Neue" panose="02000503000000020004" pitchFamily="2" charset="0"/>
                <a:cs typeface="Helvetica Neue" panose="02000503000000020004" pitchFamily="2" charset="0"/>
              </a:rPr>
            </a:br>
            <a:endParaRPr lang="en-US" sz="2400" dirty="0">
              <a:latin typeface="Helvetica Neue" panose="02000503000000020004" pitchFamily="2" charset="0"/>
              <a:ea typeface="Helvetica Neue" panose="02000503000000020004" pitchFamily="2" charset="0"/>
              <a:cs typeface="Helvetica Neue" panose="02000503000000020004" pitchFamily="2" charset="0"/>
            </a:endParaRPr>
          </a:p>
          <a:p>
            <a:pPr>
              <a:lnSpc>
                <a:spcPct val="110000"/>
              </a:lnSpc>
            </a:pPr>
            <a:r>
              <a:rPr lang="en-US" sz="2400" dirty="0">
                <a:latin typeface="Helvetica Neue" panose="02000503000000020004" pitchFamily="2" charset="0"/>
                <a:ea typeface="Helvetica Neue" panose="02000503000000020004" pitchFamily="2" charset="0"/>
                <a:cs typeface="Helvetica Neue" panose="02000503000000020004" pitchFamily="2" charset="0"/>
              </a:rPr>
              <a:t>Expression estimates and differential expression lists from </a:t>
            </a:r>
            <a:r>
              <a:rPr lang="en-US" sz="2400" dirty="0" err="1">
                <a:latin typeface="Helvetica Neue" panose="02000503000000020004" pitchFamily="2" charset="0"/>
                <a:ea typeface="Helvetica Neue" panose="02000503000000020004" pitchFamily="2" charset="0"/>
                <a:cs typeface="Helvetica Neue" panose="02000503000000020004" pitchFamily="2" charset="0"/>
              </a:rPr>
              <a:t>StringTie</a:t>
            </a:r>
            <a:r>
              <a:rPr lang="en-US" sz="2400" dirty="0">
                <a:latin typeface="Helvetica Neue" panose="02000503000000020004" pitchFamily="2" charset="0"/>
                <a:ea typeface="Helvetica Neue" panose="02000503000000020004" pitchFamily="2" charset="0"/>
                <a:cs typeface="Helvetica Neue" panose="02000503000000020004" pitchFamily="2" charset="0"/>
              </a:rPr>
              <a:t>, Ballgown or other alternatives can be fed into many analysis pipelines</a:t>
            </a:r>
            <a:br>
              <a:rPr lang="en-US" sz="2400" dirty="0">
                <a:latin typeface="Helvetica Neue" panose="02000503000000020004" pitchFamily="2" charset="0"/>
                <a:ea typeface="Helvetica Neue" panose="02000503000000020004" pitchFamily="2" charset="0"/>
                <a:cs typeface="Helvetica Neue" panose="02000503000000020004" pitchFamily="2" charset="0"/>
              </a:rPr>
            </a:br>
            <a:endParaRPr lang="en-US" sz="2400" dirty="0">
              <a:latin typeface="Helvetica Neue" panose="02000503000000020004" pitchFamily="2" charset="0"/>
              <a:ea typeface="Helvetica Neue" panose="02000503000000020004" pitchFamily="2" charset="0"/>
              <a:cs typeface="Helvetica Neue" panose="02000503000000020004" pitchFamily="2" charset="0"/>
            </a:endParaRPr>
          </a:p>
          <a:p>
            <a:pPr>
              <a:lnSpc>
                <a:spcPct val="110000"/>
              </a:lnSpc>
            </a:pPr>
            <a:r>
              <a:rPr lang="en-US" sz="2400" dirty="0">
                <a:latin typeface="Helvetica Neue" panose="02000503000000020004" pitchFamily="2" charset="0"/>
                <a:ea typeface="Helvetica Neue" panose="02000503000000020004" pitchFamily="2" charset="0"/>
                <a:cs typeface="Helvetica Neue" panose="02000503000000020004" pitchFamily="2" charset="0"/>
              </a:rPr>
              <a:t>See supplemental R tutorial for how to format expression data and start manipulating in R</a:t>
            </a:r>
          </a:p>
        </p:txBody>
      </p:sp>
      <p:sp>
        <p:nvSpPr>
          <p:cNvPr id="3" name="Rectangle 2"/>
          <p:cNvSpPr/>
          <p:nvPr/>
        </p:nvSpPr>
        <p:spPr>
          <a:xfrm>
            <a:off x="170817" y="6010712"/>
            <a:ext cx="9933852" cy="338554"/>
          </a:xfrm>
          <a:prstGeom prst="rect">
            <a:avLst/>
          </a:prstGeom>
        </p:spPr>
        <p:txBody>
          <a:bodyPr wrap="square">
            <a:spAutoFit/>
          </a:bodyPr>
          <a:lstStyle/>
          <a:p>
            <a:r>
              <a:rPr lang="en-US" sz="1600" dirty="0">
                <a:latin typeface="Helvetica Neue" panose="02000503000000020004" pitchFamily="2" charset="0"/>
                <a:ea typeface="Helvetica Neue" panose="02000503000000020004" pitchFamily="2" charset="0"/>
                <a:cs typeface="Helvetica Neue" panose="02000503000000020004" pitchFamily="2" charset="0"/>
                <a:hlinkClick r:id="rId2"/>
              </a:rPr>
              <a:t>https://genviz.org/module-04-expression/0004/01/01/Expression_Profiling_and_Visualization/</a:t>
            </a:r>
            <a:r>
              <a:rPr lang="en-US" sz="1600" dirty="0">
                <a:latin typeface="Helvetica Neue" panose="02000503000000020004" pitchFamily="2" charset="0"/>
                <a:ea typeface="Helvetica Neue" panose="02000503000000020004" pitchFamily="2" charset="0"/>
                <a:cs typeface="Helvetica Neue" panose="02000503000000020004" pitchFamily="2" charset="0"/>
              </a:rPr>
              <a:t> </a:t>
            </a:r>
          </a:p>
        </p:txBody>
      </p:sp>
      <p:sp>
        <p:nvSpPr>
          <p:cNvPr id="5" name="Content Placeholder 1">
            <a:extLst>
              <a:ext uri="{FF2B5EF4-FFF2-40B4-BE49-F238E27FC236}">
                <a16:creationId xmlns:a16="http://schemas.microsoft.com/office/drawing/2014/main" id="{D6BA4DE4-E50B-8F4F-AC42-40CD85229C83}"/>
              </a:ext>
            </a:extLst>
          </p:cNvPr>
          <p:cNvSpPr txBox="1">
            <a:spLocks/>
          </p:cNvSpPr>
          <p:nvPr/>
        </p:nvSpPr>
        <p:spPr>
          <a:xfrm>
            <a:off x="5686697" y="944380"/>
            <a:ext cx="6412864" cy="54369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US" sz="2000" dirty="0">
                <a:latin typeface="Helvetica Neue" panose="02000503000000020004" pitchFamily="2" charset="0"/>
                <a:ea typeface="Helvetica Neue" panose="02000503000000020004" pitchFamily="2" charset="0"/>
                <a:cs typeface="Helvetica Neue" panose="02000503000000020004" pitchFamily="2" charset="0"/>
              </a:rPr>
              <a:t>Clustering/Heatmaps</a:t>
            </a:r>
          </a:p>
          <a:p>
            <a:pPr lvl="1">
              <a:lnSpc>
                <a:spcPct val="110000"/>
              </a:lnSpc>
            </a:pPr>
            <a:r>
              <a:rPr lang="en-US" sz="1800" dirty="0">
                <a:latin typeface="Helvetica Neue" panose="02000503000000020004" pitchFamily="2" charset="0"/>
                <a:ea typeface="Helvetica Neue" panose="02000503000000020004" pitchFamily="2" charset="0"/>
                <a:cs typeface="Helvetica Neue" panose="02000503000000020004" pitchFamily="2" charset="0"/>
              </a:rPr>
              <a:t>Provided by Ballgown</a:t>
            </a:r>
          </a:p>
          <a:p>
            <a:pPr lvl="1">
              <a:lnSpc>
                <a:spcPct val="110000"/>
              </a:lnSpc>
            </a:pPr>
            <a:r>
              <a:rPr lang="en-US" sz="1800" dirty="0">
                <a:latin typeface="Helvetica Neue" panose="02000503000000020004" pitchFamily="2" charset="0"/>
                <a:ea typeface="Helvetica Neue" panose="02000503000000020004" pitchFamily="2" charset="0"/>
                <a:cs typeface="Helvetica Neue" panose="02000503000000020004" pitchFamily="2" charset="0"/>
              </a:rPr>
              <a:t>For more customized analysis various R packages exist: </a:t>
            </a:r>
          </a:p>
          <a:p>
            <a:pPr lvl="2">
              <a:lnSpc>
                <a:spcPct val="110000"/>
              </a:lnSpc>
            </a:pPr>
            <a:r>
              <a:rPr lang="en-US" sz="1800" dirty="0" err="1">
                <a:latin typeface="Helvetica Neue" panose="02000503000000020004" pitchFamily="2" charset="0"/>
                <a:ea typeface="Helvetica Neue" panose="02000503000000020004" pitchFamily="2" charset="0"/>
                <a:cs typeface="Helvetica Neue" panose="02000503000000020004" pitchFamily="2" charset="0"/>
              </a:rPr>
              <a:t>hclust</a:t>
            </a:r>
            <a:r>
              <a:rPr lang="en-US" sz="1800" dirty="0">
                <a:latin typeface="Helvetica Neue" panose="02000503000000020004" pitchFamily="2" charset="0"/>
                <a:ea typeface="Helvetica Neue" panose="02000503000000020004" pitchFamily="2" charset="0"/>
                <a:cs typeface="Helvetica Neue" panose="02000503000000020004" pitchFamily="2" charset="0"/>
              </a:rPr>
              <a:t>, heatmap.2, </a:t>
            </a:r>
            <a:r>
              <a:rPr lang="en-US" sz="1800" dirty="0" err="1">
                <a:latin typeface="Helvetica Neue" panose="02000503000000020004" pitchFamily="2" charset="0"/>
                <a:ea typeface="Helvetica Neue" panose="02000503000000020004" pitchFamily="2" charset="0"/>
                <a:cs typeface="Helvetica Neue" panose="02000503000000020004" pitchFamily="2" charset="0"/>
              </a:rPr>
              <a:t>plotrix</a:t>
            </a:r>
            <a:r>
              <a:rPr lang="en-US" sz="1800" dirty="0">
                <a:latin typeface="Helvetica Neue" panose="02000503000000020004" pitchFamily="2" charset="0"/>
                <a:ea typeface="Helvetica Neue" panose="02000503000000020004" pitchFamily="2" charset="0"/>
                <a:cs typeface="Helvetica Neue" panose="02000503000000020004" pitchFamily="2" charset="0"/>
              </a:rPr>
              <a:t>, ggplot2, etc.</a:t>
            </a:r>
          </a:p>
          <a:p>
            <a:pPr>
              <a:lnSpc>
                <a:spcPct val="110000"/>
              </a:lnSpc>
            </a:pPr>
            <a:r>
              <a:rPr lang="en-US" sz="2000" dirty="0">
                <a:latin typeface="Helvetica Neue" panose="02000503000000020004" pitchFamily="2" charset="0"/>
                <a:ea typeface="Helvetica Neue" panose="02000503000000020004" pitchFamily="2" charset="0"/>
                <a:cs typeface="Helvetica Neue" panose="02000503000000020004" pitchFamily="2" charset="0"/>
              </a:rPr>
              <a:t>Classification</a:t>
            </a:r>
          </a:p>
          <a:p>
            <a:pPr lvl="1">
              <a:lnSpc>
                <a:spcPct val="110000"/>
              </a:lnSpc>
            </a:pPr>
            <a:r>
              <a:rPr lang="en-US" sz="2200" dirty="0">
                <a:latin typeface="Helvetica Neue" panose="02000503000000020004" pitchFamily="2" charset="0"/>
                <a:ea typeface="Helvetica Neue" panose="02000503000000020004" pitchFamily="2" charset="0"/>
                <a:cs typeface="Helvetica Neue" panose="02000503000000020004" pitchFamily="2" charset="0"/>
              </a:rPr>
              <a:t>Weka is a good learning tool</a:t>
            </a:r>
          </a:p>
          <a:p>
            <a:pPr>
              <a:lnSpc>
                <a:spcPct val="110000"/>
              </a:lnSpc>
            </a:pPr>
            <a:r>
              <a:rPr lang="en-US" sz="2000" dirty="0">
                <a:latin typeface="Helvetica Neue" panose="02000503000000020004" pitchFamily="2" charset="0"/>
                <a:ea typeface="Helvetica Neue" panose="02000503000000020004" pitchFamily="2" charset="0"/>
                <a:cs typeface="Helvetica Neue" panose="02000503000000020004" pitchFamily="2" charset="0"/>
              </a:rPr>
              <a:t>Pathway analysis</a:t>
            </a:r>
          </a:p>
          <a:p>
            <a:pPr lvl="1">
              <a:lnSpc>
                <a:spcPct val="110000"/>
              </a:lnSpc>
            </a:pPr>
            <a:r>
              <a:rPr lang="en-US" sz="1800" dirty="0">
                <a:latin typeface="Helvetica Neue" panose="02000503000000020004" pitchFamily="2" charset="0"/>
                <a:ea typeface="Helvetica Neue" panose="02000503000000020004" pitchFamily="2" charset="0"/>
                <a:cs typeface="Helvetica Neue" panose="02000503000000020004" pitchFamily="2" charset="0"/>
              </a:rPr>
              <a:t>GSEA, IPA, </a:t>
            </a:r>
            <a:r>
              <a:rPr lang="en-US" sz="1800" dirty="0" err="1">
                <a:latin typeface="Helvetica Neue" panose="02000503000000020004" pitchFamily="2" charset="0"/>
                <a:ea typeface="Helvetica Neue" panose="02000503000000020004" pitchFamily="2" charset="0"/>
                <a:cs typeface="Helvetica Neue" panose="02000503000000020004" pitchFamily="2" charset="0"/>
              </a:rPr>
              <a:t>Cytoscape</a:t>
            </a:r>
            <a:r>
              <a:rPr lang="en-US" sz="1800" dirty="0">
                <a:latin typeface="Helvetica Neue" panose="02000503000000020004" pitchFamily="2" charset="0"/>
                <a:ea typeface="Helvetica Neue" panose="02000503000000020004" pitchFamily="2" charset="0"/>
                <a:cs typeface="Helvetica Neue" panose="02000503000000020004" pitchFamily="2" charset="0"/>
              </a:rPr>
              <a:t>, many R/</a:t>
            </a:r>
            <a:r>
              <a:rPr lang="en-US" sz="1800" dirty="0" err="1">
                <a:latin typeface="Helvetica Neue" panose="02000503000000020004" pitchFamily="2" charset="0"/>
                <a:ea typeface="Helvetica Neue" panose="02000503000000020004" pitchFamily="2" charset="0"/>
                <a:cs typeface="Helvetica Neue" panose="02000503000000020004" pitchFamily="2" charset="0"/>
              </a:rPr>
              <a:t>BioConductor</a:t>
            </a:r>
            <a:r>
              <a:rPr lang="en-US" sz="1800" dirty="0">
                <a:latin typeface="Helvetica Neue" panose="02000503000000020004" pitchFamily="2" charset="0"/>
                <a:ea typeface="Helvetica Neue" panose="02000503000000020004" pitchFamily="2" charset="0"/>
                <a:cs typeface="Helvetica Neue" panose="02000503000000020004" pitchFamily="2" charset="0"/>
              </a:rPr>
              <a:t> packages:</a:t>
            </a:r>
            <a:br>
              <a:rPr lang="en-US" sz="1800" dirty="0">
                <a:latin typeface="Helvetica Neue" panose="02000503000000020004" pitchFamily="2" charset="0"/>
                <a:ea typeface="Helvetica Neue" panose="02000503000000020004" pitchFamily="2" charset="0"/>
                <a:cs typeface="Helvetica Neue" panose="02000503000000020004" pitchFamily="2" charset="0"/>
              </a:rPr>
            </a:br>
            <a:r>
              <a:rPr lang="en-US" sz="1600" dirty="0">
                <a:latin typeface="Helvetica Neue" panose="02000503000000020004" pitchFamily="2" charset="0"/>
                <a:ea typeface="Helvetica Neue" panose="02000503000000020004" pitchFamily="2" charset="0"/>
                <a:cs typeface="Helvetica Neue" panose="02000503000000020004" pitchFamily="2" charset="0"/>
                <a:hlinkClick r:id="rId3"/>
              </a:rPr>
              <a:t>http://www.bioconductor.org/help/search/index.html?q=pathway</a:t>
            </a:r>
            <a:endParaRPr lang="en-US" sz="1600" dirty="0">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8326347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Title 4"/>
          <p:cNvSpPr>
            <a:spLocks noGrp="1"/>
          </p:cNvSpPr>
          <p:nvPr>
            <p:ph type="title"/>
          </p:nvPr>
        </p:nvSpPr>
        <p:spPr>
          <a:xfrm>
            <a:off x="1676400" y="0"/>
            <a:ext cx="8839200" cy="1143000"/>
          </a:xfrm>
        </p:spPr>
        <p:txBody>
          <a:bodyPr>
            <a:normAutofit fontScale="90000"/>
          </a:bodyPr>
          <a:lstStyle/>
          <a:p>
            <a:pPr algn="ctr"/>
            <a:r>
              <a:rPr lang="en-US" dirty="0">
                <a:latin typeface="Helvetica Neue" panose="02000503000000020004" pitchFamily="2" charset="0"/>
                <a:ea typeface="Helvetica Neue" panose="02000503000000020004" pitchFamily="2" charset="0"/>
                <a:cs typeface="Helvetica Neue" panose="02000503000000020004" pitchFamily="2" charset="0"/>
              </a:rPr>
              <a:t>HISAT2/</a:t>
            </a:r>
            <a:r>
              <a:rPr lang="en-US" dirty="0" err="1">
                <a:latin typeface="Helvetica Neue" panose="02000503000000020004" pitchFamily="2" charset="0"/>
                <a:ea typeface="Helvetica Neue" panose="02000503000000020004" pitchFamily="2" charset="0"/>
                <a:cs typeface="Helvetica Neue" panose="02000503000000020004" pitchFamily="2" charset="0"/>
              </a:rPr>
              <a:t>StringTie</a:t>
            </a:r>
            <a:r>
              <a:rPr lang="en-US" dirty="0">
                <a:latin typeface="Helvetica Neue" panose="02000503000000020004" pitchFamily="2" charset="0"/>
                <a:ea typeface="Helvetica Neue" panose="02000503000000020004" pitchFamily="2" charset="0"/>
                <a:cs typeface="Helvetica Neue" panose="02000503000000020004" pitchFamily="2" charset="0"/>
              </a:rPr>
              <a:t>/</a:t>
            </a:r>
            <a:r>
              <a:rPr lang="en-US" dirty="0" err="1">
                <a:latin typeface="Helvetica Neue" panose="02000503000000020004" pitchFamily="2" charset="0"/>
                <a:ea typeface="Helvetica Neue" panose="02000503000000020004" pitchFamily="2" charset="0"/>
                <a:cs typeface="Helvetica Neue" panose="02000503000000020004" pitchFamily="2" charset="0"/>
              </a:rPr>
              <a:t>Ballgown</a:t>
            </a:r>
            <a:br>
              <a:rPr lang="en-US" dirty="0">
                <a:latin typeface="Helvetica Neue" panose="02000503000000020004" pitchFamily="2" charset="0"/>
                <a:ea typeface="Helvetica Neue" panose="02000503000000020004" pitchFamily="2" charset="0"/>
                <a:cs typeface="Helvetica Neue" panose="02000503000000020004" pitchFamily="2" charset="0"/>
              </a:rPr>
            </a:br>
            <a:r>
              <a:rPr lang="en-US" dirty="0">
                <a:latin typeface="Helvetica Neue" panose="02000503000000020004" pitchFamily="2" charset="0"/>
                <a:ea typeface="Helvetica Neue" panose="02000503000000020004" pitchFamily="2" charset="0"/>
                <a:cs typeface="Helvetica Neue" panose="02000503000000020004" pitchFamily="2" charset="0"/>
              </a:rPr>
              <a:t>RNA-</a:t>
            </a:r>
            <a:r>
              <a:rPr lang="en-US" dirty="0" err="1">
                <a:latin typeface="Helvetica Neue" panose="02000503000000020004" pitchFamily="2" charset="0"/>
                <a:ea typeface="Helvetica Neue" panose="02000503000000020004" pitchFamily="2" charset="0"/>
                <a:cs typeface="Helvetica Neue" panose="02000503000000020004" pitchFamily="2" charset="0"/>
              </a:rPr>
              <a:t>seq</a:t>
            </a:r>
            <a:r>
              <a:rPr lang="en-US" dirty="0">
                <a:latin typeface="Helvetica Neue" panose="02000503000000020004" pitchFamily="2" charset="0"/>
                <a:ea typeface="Helvetica Neue" panose="02000503000000020004" pitchFamily="2" charset="0"/>
                <a:cs typeface="Helvetica Neue" panose="02000503000000020004" pitchFamily="2" charset="0"/>
              </a:rPr>
              <a:t> Pipeline</a:t>
            </a:r>
          </a:p>
        </p:txBody>
      </p:sp>
      <p:sp>
        <p:nvSpPr>
          <p:cNvPr id="139" name="Rounded Rectangle 138">
            <a:extLst>
              <a:ext uri="{FF2B5EF4-FFF2-40B4-BE49-F238E27FC236}">
                <a16:creationId xmlns:a16="http://schemas.microsoft.com/office/drawing/2014/main" id="{83F6B337-7FA3-D842-92D1-44B24378278A}"/>
              </a:ext>
            </a:extLst>
          </p:cNvPr>
          <p:cNvSpPr/>
          <p:nvPr/>
        </p:nvSpPr>
        <p:spPr>
          <a:xfrm>
            <a:off x="5188312" y="1853627"/>
            <a:ext cx="1657350" cy="1800225"/>
          </a:xfrm>
          <a:prstGeom prst="roundRect">
            <a:avLst/>
          </a:prstGeom>
          <a:gradFill flip="none" rotWithShape="1">
            <a:gsLst>
              <a:gs pos="0">
                <a:sysClr val="windowText" lastClr="000000">
                  <a:tint val="50000"/>
                  <a:satMod val="300000"/>
                  <a:alpha val="13000"/>
                </a:sysClr>
              </a:gs>
              <a:gs pos="35000">
                <a:sysClr val="windowText" lastClr="000000">
                  <a:tint val="37000"/>
                  <a:satMod val="300000"/>
                  <a:alpha val="13000"/>
                </a:sysClr>
              </a:gs>
              <a:gs pos="100000">
                <a:sysClr val="windowText" lastClr="000000">
                  <a:tint val="15000"/>
                  <a:satMod val="350000"/>
                  <a:alpha val="13000"/>
                </a:sysClr>
              </a:gs>
            </a:gsLst>
            <a:lin ang="16200000" scaled="1"/>
            <a:tileRect/>
          </a:gradFill>
          <a:ln w="9525" cap="flat" cmpd="sng" algn="ctr">
            <a:solidFill>
              <a:sysClr val="windowText" lastClr="000000">
                <a:shade val="95000"/>
                <a:satMod val="105000"/>
              </a:sysClr>
            </a:solidFill>
            <a:prstDash val="dash"/>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i="0" u="none" strike="noStrike" kern="0" cap="none" spc="0" normalizeH="0" baseline="0" noProof="0">
              <a:ln w="76200" cmpd="sng">
                <a:noFill/>
                <a:prstDash val="dot"/>
              </a:ln>
              <a:noFill/>
              <a:effectLst/>
              <a:uLnTx/>
              <a:uFillTx/>
              <a:latin typeface="Segoe UI"/>
              <a:ea typeface="+mn-ea"/>
              <a:cs typeface="+mn-cs"/>
            </a:endParaRPr>
          </a:p>
        </p:txBody>
      </p:sp>
      <p:sp>
        <p:nvSpPr>
          <p:cNvPr id="140" name="Rounded Rectangle 139">
            <a:extLst>
              <a:ext uri="{FF2B5EF4-FFF2-40B4-BE49-F238E27FC236}">
                <a16:creationId xmlns:a16="http://schemas.microsoft.com/office/drawing/2014/main" id="{58E8C654-3C65-434B-97C7-F827154688E4}"/>
              </a:ext>
            </a:extLst>
          </p:cNvPr>
          <p:cNvSpPr/>
          <p:nvPr/>
        </p:nvSpPr>
        <p:spPr>
          <a:xfrm>
            <a:off x="6845662" y="1853627"/>
            <a:ext cx="3382963" cy="3600450"/>
          </a:xfrm>
          <a:prstGeom prst="roundRect">
            <a:avLst/>
          </a:prstGeom>
          <a:gradFill flip="none" rotWithShape="1">
            <a:gsLst>
              <a:gs pos="0">
                <a:sysClr val="windowText" lastClr="000000">
                  <a:tint val="50000"/>
                  <a:satMod val="300000"/>
                  <a:alpha val="13000"/>
                </a:sysClr>
              </a:gs>
              <a:gs pos="35000">
                <a:sysClr val="windowText" lastClr="000000">
                  <a:tint val="37000"/>
                  <a:satMod val="300000"/>
                  <a:alpha val="13000"/>
                </a:sysClr>
              </a:gs>
              <a:gs pos="100000">
                <a:sysClr val="windowText" lastClr="000000">
                  <a:tint val="15000"/>
                  <a:satMod val="350000"/>
                  <a:alpha val="13000"/>
                </a:sysClr>
              </a:gs>
            </a:gsLst>
            <a:lin ang="16200000" scaled="1"/>
            <a:tileRect/>
          </a:gradFill>
          <a:ln w="9525" cap="flat" cmpd="sng" algn="ctr">
            <a:solidFill>
              <a:sysClr val="windowText" lastClr="000000">
                <a:shade val="95000"/>
                <a:satMod val="105000"/>
              </a:sysClr>
            </a:solidFill>
            <a:prstDash val="dash"/>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i="0" u="none" strike="noStrike" kern="0" cap="none" spc="0" normalizeH="0" baseline="0" noProof="0">
              <a:ln w="76200" cmpd="sng">
                <a:noFill/>
                <a:prstDash val="dot"/>
              </a:ln>
              <a:noFill/>
              <a:effectLst/>
              <a:uLnTx/>
              <a:uFillTx/>
              <a:latin typeface="Segoe UI"/>
              <a:ea typeface="+mn-ea"/>
              <a:cs typeface="+mn-cs"/>
            </a:endParaRPr>
          </a:p>
        </p:txBody>
      </p:sp>
      <p:sp>
        <p:nvSpPr>
          <p:cNvPr id="141" name="TextBox 3">
            <a:extLst>
              <a:ext uri="{FF2B5EF4-FFF2-40B4-BE49-F238E27FC236}">
                <a16:creationId xmlns:a16="http://schemas.microsoft.com/office/drawing/2014/main" id="{66762F5F-329E-FC42-B53F-22CAB3AC5B00}"/>
              </a:ext>
            </a:extLst>
          </p:cNvPr>
          <p:cNvSpPr txBox="1">
            <a:spLocks noChangeArrowheads="1"/>
          </p:cNvSpPr>
          <p:nvPr/>
        </p:nvSpPr>
        <p:spPr bwMode="auto">
          <a:xfrm>
            <a:off x="7999775" y="5454077"/>
            <a:ext cx="1074333"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prstClr val="black"/>
                </a:solidFill>
                <a:effectLst/>
                <a:uLnTx/>
                <a:uFillTx/>
              </a:rPr>
              <a:t>Module 3</a:t>
            </a:r>
          </a:p>
        </p:txBody>
      </p:sp>
      <p:sp>
        <p:nvSpPr>
          <p:cNvPr id="142" name="Rounded Rectangle 141">
            <a:extLst>
              <a:ext uri="{FF2B5EF4-FFF2-40B4-BE49-F238E27FC236}">
                <a16:creationId xmlns:a16="http://schemas.microsoft.com/office/drawing/2014/main" id="{0C636F96-9D65-1343-9BB4-C1D2E715B291}"/>
              </a:ext>
            </a:extLst>
          </p:cNvPr>
          <p:cNvSpPr/>
          <p:nvPr/>
        </p:nvSpPr>
        <p:spPr bwMode="auto">
          <a:xfrm>
            <a:off x="1948225" y="3869752"/>
            <a:ext cx="4824412" cy="1008063"/>
          </a:xfrm>
          <a:prstGeom prst="roundRect">
            <a:avLst/>
          </a:prstGeom>
          <a:gradFill flip="none" rotWithShape="1">
            <a:gsLst>
              <a:gs pos="0">
                <a:sysClr val="windowText" lastClr="000000">
                  <a:tint val="50000"/>
                  <a:satMod val="300000"/>
                  <a:alpha val="51000"/>
                </a:sysClr>
              </a:gs>
              <a:gs pos="35000">
                <a:sysClr val="windowText" lastClr="000000">
                  <a:tint val="37000"/>
                  <a:satMod val="300000"/>
                  <a:alpha val="51000"/>
                </a:sysClr>
              </a:gs>
              <a:gs pos="100000">
                <a:sysClr val="windowText" lastClr="000000">
                  <a:tint val="15000"/>
                  <a:satMod val="350000"/>
                  <a:alpha val="51000"/>
                </a:sysClr>
              </a:gs>
            </a:gsLst>
            <a:lin ang="16200000" scaled="1"/>
            <a:tileRect/>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i="0" u="none" strike="noStrike" kern="0" cap="none" spc="0" normalizeH="0" baseline="0" noProof="0" dirty="0">
              <a:ln>
                <a:noFill/>
              </a:ln>
              <a:solidFill>
                <a:prstClr val="black"/>
              </a:solidFill>
              <a:effectLst/>
              <a:uLnTx/>
              <a:uFillTx/>
              <a:latin typeface="Segoe UI"/>
              <a:ea typeface="+mn-ea"/>
              <a:cs typeface="+mn-cs"/>
            </a:endParaRPr>
          </a:p>
        </p:txBody>
      </p:sp>
      <p:grpSp>
        <p:nvGrpSpPr>
          <p:cNvPr id="143" name="Group 142">
            <a:extLst>
              <a:ext uri="{FF2B5EF4-FFF2-40B4-BE49-F238E27FC236}">
                <a16:creationId xmlns:a16="http://schemas.microsoft.com/office/drawing/2014/main" id="{8C8CE3F5-B39A-FE40-A44C-4E7A3EA72F2B}"/>
              </a:ext>
            </a:extLst>
          </p:cNvPr>
          <p:cNvGrpSpPr>
            <a:grpSpLocks/>
          </p:cNvGrpSpPr>
          <p:nvPr/>
        </p:nvGrpSpPr>
        <p:grpSpPr bwMode="auto">
          <a:xfrm>
            <a:off x="2019662" y="2150490"/>
            <a:ext cx="1368425" cy="1287462"/>
            <a:chOff x="251520" y="1926414"/>
            <a:chExt cx="1368152" cy="1286562"/>
          </a:xfrm>
        </p:grpSpPr>
        <p:sp>
          <p:nvSpPr>
            <p:cNvPr id="144" name="Rounded Rectangle 143">
              <a:extLst>
                <a:ext uri="{FF2B5EF4-FFF2-40B4-BE49-F238E27FC236}">
                  <a16:creationId xmlns:a16="http://schemas.microsoft.com/office/drawing/2014/main" id="{3CDF1F0B-7581-8A41-B611-70C100B88672}"/>
                </a:ext>
              </a:extLst>
            </p:cNvPr>
            <p:cNvSpPr/>
            <p:nvPr/>
          </p:nvSpPr>
          <p:spPr>
            <a:xfrm>
              <a:off x="251520" y="2492755"/>
              <a:ext cx="1368152" cy="720221"/>
            </a:xfrm>
            <a:prstGeom prst="roundRect">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i="0" u="none" strike="noStrike" kern="0" cap="none" spc="0" normalizeH="0" baseline="0" noProof="0" dirty="0">
                  <a:ln>
                    <a:noFill/>
                  </a:ln>
                  <a:solidFill>
                    <a:prstClr val="black"/>
                  </a:solidFill>
                  <a:effectLst/>
                  <a:uLnTx/>
                  <a:uFillTx/>
                  <a:latin typeface="Segoe UI"/>
                  <a:ea typeface="+mn-ea"/>
                  <a:cs typeface="+mn-cs"/>
                </a:rPr>
                <a:t>RNA-</a:t>
              </a:r>
              <a:r>
                <a:rPr kumimoji="0" lang="en-US" sz="1200" i="0" u="none" strike="noStrike" kern="0" cap="none" spc="0" normalizeH="0" baseline="0" noProof="0" dirty="0" err="1">
                  <a:ln>
                    <a:noFill/>
                  </a:ln>
                  <a:solidFill>
                    <a:prstClr val="black"/>
                  </a:solidFill>
                  <a:effectLst/>
                  <a:uLnTx/>
                  <a:uFillTx/>
                  <a:latin typeface="Segoe UI"/>
                  <a:ea typeface="+mn-ea"/>
                  <a:cs typeface="+mn-cs"/>
                </a:rPr>
                <a:t>seq</a:t>
              </a:r>
              <a:r>
                <a:rPr kumimoji="0" lang="en-US" sz="1200" i="0" u="none" strike="noStrike" kern="0" cap="none" spc="0" normalizeH="0" baseline="0" noProof="0" dirty="0">
                  <a:ln>
                    <a:noFill/>
                  </a:ln>
                  <a:solidFill>
                    <a:prstClr val="black"/>
                  </a:solidFill>
                  <a:effectLst/>
                  <a:uLnTx/>
                  <a:uFillTx/>
                  <a:latin typeface="Segoe UI"/>
                  <a:ea typeface="+mn-ea"/>
                  <a:cs typeface="+mn-cs"/>
                </a:rPr>
                <a:t> reads (2 x 100 </a:t>
              </a:r>
              <a:r>
                <a:rPr kumimoji="0" lang="en-US" sz="1200" i="0" u="none" strike="noStrike" kern="0" cap="none" spc="0" normalizeH="0" baseline="0" noProof="0" dirty="0" err="1">
                  <a:ln>
                    <a:noFill/>
                  </a:ln>
                  <a:solidFill>
                    <a:prstClr val="black"/>
                  </a:solidFill>
                  <a:effectLst/>
                  <a:uLnTx/>
                  <a:uFillTx/>
                  <a:latin typeface="Segoe UI"/>
                  <a:ea typeface="+mn-ea"/>
                  <a:cs typeface="+mn-cs"/>
                </a:rPr>
                <a:t>bp</a:t>
              </a:r>
              <a:r>
                <a:rPr kumimoji="0" lang="en-US" sz="1200" i="0" u="none" strike="noStrike" kern="0" cap="none" spc="0" normalizeH="0" baseline="0" noProof="0" dirty="0">
                  <a:ln>
                    <a:noFill/>
                  </a:ln>
                  <a:solidFill>
                    <a:prstClr val="black"/>
                  </a:solidFill>
                  <a:effectLst/>
                  <a:uLnTx/>
                  <a:uFillTx/>
                  <a:latin typeface="Segoe UI"/>
                  <a:ea typeface="+mn-ea"/>
                  <a:cs typeface="+mn-cs"/>
                </a:rPr>
                <a:t>)</a:t>
              </a:r>
            </a:p>
          </p:txBody>
        </p:sp>
        <p:sp>
          <p:nvSpPr>
            <p:cNvPr id="145" name="TextBox 3">
              <a:extLst>
                <a:ext uri="{FF2B5EF4-FFF2-40B4-BE49-F238E27FC236}">
                  <a16:creationId xmlns:a16="http://schemas.microsoft.com/office/drawing/2014/main" id="{ED9FAD6E-D62D-C846-AB81-3A1A3E87C3D4}"/>
                </a:ext>
              </a:extLst>
            </p:cNvPr>
            <p:cNvSpPr txBox="1">
              <a:spLocks noChangeArrowheads="1"/>
            </p:cNvSpPr>
            <p:nvPr/>
          </p:nvSpPr>
          <p:spPr bwMode="auto">
            <a:xfrm>
              <a:off x="334504" y="1926414"/>
              <a:ext cx="1202185"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prstClr val="black"/>
                  </a:solidFill>
                  <a:effectLst/>
                  <a:uLnTx/>
                  <a:uFillTx/>
                </a:rPr>
                <a:t>Sequencing</a:t>
              </a:r>
            </a:p>
          </p:txBody>
        </p:sp>
      </p:grpSp>
      <p:grpSp>
        <p:nvGrpSpPr>
          <p:cNvPr id="146" name="Group 16">
            <a:extLst>
              <a:ext uri="{FF2B5EF4-FFF2-40B4-BE49-F238E27FC236}">
                <a16:creationId xmlns:a16="http://schemas.microsoft.com/office/drawing/2014/main" id="{8F275BF1-C9A6-D340-A7D4-A32810D8AE41}"/>
              </a:ext>
            </a:extLst>
          </p:cNvPr>
          <p:cNvGrpSpPr>
            <a:grpSpLocks/>
          </p:cNvGrpSpPr>
          <p:nvPr/>
        </p:nvGrpSpPr>
        <p:grpSpPr bwMode="auto">
          <a:xfrm>
            <a:off x="3684950" y="2044127"/>
            <a:ext cx="1368425" cy="1393825"/>
            <a:chOff x="1916196" y="1818692"/>
            <a:chExt cx="1368152" cy="1394284"/>
          </a:xfrm>
        </p:grpSpPr>
        <p:sp>
          <p:nvSpPr>
            <p:cNvPr id="147" name="Rounded Rectangle 146">
              <a:extLst>
                <a:ext uri="{FF2B5EF4-FFF2-40B4-BE49-F238E27FC236}">
                  <a16:creationId xmlns:a16="http://schemas.microsoft.com/office/drawing/2014/main" id="{4E5530C3-FA3E-0D45-8273-101FC172034D}"/>
                </a:ext>
              </a:extLst>
            </p:cNvPr>
            <p:cNvSpPr/>
            <p:nvPr/>
          </p:nvSpPr>
          <p:spPr>
            <a:xfrm>
              <a:off x="1916196" y="2493602"/>
              <a:ext cx="1368152" cy="719374"/>
            </a:xfrm>
            <a:prstGeom prst="roundRect">
              <a:avLst/>
            </a:prstGeom>
            <a:gradFill rotWithShape="1">
              <a:gsLst>
                <a:gs pos="0">
                  <a:srgbClr val="8064A2">
                    <a:tint val="50000"/>
                    <a:satMod val="300000"/>
                  </a:srgbClr>
                </a:gs>
                <a:gs pos="35000">
                  <a:srgbClr val="8064A2">
                    <a:tint val="37000"/>
                    <a:satMod val="300000"/>
                  </a:srgbClr>
                </a:gs>
                <a:gs pos="100000">
                  <a:srgbClr val="8064A2">
                    <a:tint val="15000"/>
                    <a:satMod val="350000"/>
                  </a:srgbClr>
                </a:gs>
              </a:gsLst>
              <a:lin ang="16200000" scaled="1"/>
            </a:gradFill>
            <a:ln w="9525" cap="flat" cmpd="sng" algn="ctr">
              <a:solidFill>
                <a:srgbClr val="8064A2">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i="0" u="none" strike="noStrike" kern="0" cap="none" spc="0" normalizeH="0" baseline="0" noProof="0" dirty="0">
                  <a:ln>
                    <a:noFill/>
                  </a:ln>
                  <a:solidFill>
                    <a:prstClr val="black"/>
                  </a:solidFill>
                  <a:effectLst/>
                  <a:uLnTx/>
                  <a:uFillTx/>
                  <a:latin typeface="Segoe UI"/>
                  <a:ea typeface="+mn-ea"/>
                  <a:cs typeface="+mn-cs"/>
                </a:rPr>
                <a:t>HISAT2</a:t>
              </a:r>
            </a:p>
          </p:txBody>
        </p:sp>
        <p:sp>
          <p:nvSpPr>
            <p:cNvPr id="148" name="TextBox 12">
              <a:extLst>
                <a:ext uri="{FF2B5EF4-FFF2-40B4-BE49-F238E27FC236}">
                  <a16:creationId xmlns:a16="http://schemas.microsoft.com/office/drawing/2014/main" id="{D8AD683B-C6F6-2247-B1E0-4FC544B8358F}"/>
                </a:ext>
              </a:extLst>
            </p:cNvPr>
            <p:cNvSpPr txBox="1">
              <a:spLocks noChangeArrowheads="1"/>
            </p:cNvSpPr>
            <p:nvPr/>
          </p:nvSpPr>
          <p:spPr bwMode="auto">
            <a:xfrm>
              <a:off x="1978694" y="1818692"/>
              <a:ext cx="1243156" cy="52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prstClr val="black"/>
                  </a:solidFill>
                  <a:effectLst/>
                  <a:uLnTx/>
                  <a:uFillTx/>
                </a:rPr>
                <a:t>Read alignment</a:t>
              </a:r>
            </a:p>
          </p:txBody>
        </p:sp>
      </p:grpSp>
      <p:grpSp>
        <p:nvGrpSpPr>
          <p:cNvPr id="149" name="Group 18">
            <a:extLst>
              <a:ext uri="{FF2B5EF4-FFF2-40B4-BE49-F238E27FC236}">
                <a16:creationId xmlns:a16="http://schemas.microsoft.com/office/drawing/2014/main" id="{A5CB1494-F9A4-E943-BA7A-4D87B31CA325}"/>
              </a:ext>
            </a:extLst>
          </p:cNvPr>
          <p:cNvGrpSpPr>
            <a:grpSpLocks/>
          </p:cNvGrpSpPr>
          <p:nvPr/>
        </p:nvGrpSpPr>
        <p:grpSpPr bwMode="auto">
          <a:xfrm>
            <a:off x="5188312" y="2044127"/>
            <a:ext cx="1657350" cy="1393825"/>
            <a:chOff x="3563889" y="1818692"/>
            <a:chExt cx="1656184" cy="1394284"/>
          </a:xfrm>
        </p:grpSpPr>
        <p:sp>
          <p:nvSpPr>
            <p:cNvPr id="150" name="Rounded Rectangle 149">
              <a:extLst>
                <a:ext uri="{FF2B5EF4-FFF2-40B4-BE49-F238E27FC236}">
                  <a16:creationId xmlns:a16="http://schemas.microsoft.com/office/drawing/2014/main" id="{7ACDB40E-C22B-254C-BD8D-DBDBF551D9EB}"/>
                </a:ext>
              </a:extLst>
            </p:cNvPr>
            <p:cNvSpPr/>
            <p:nvPr/>
          </p:nvSpPr>
          <p:spPr>
            <a:xfrm>
              <a:off x="3708250" y="2493602"/>
              <a:ext cx="1367462" cy="719374"/>
            </a:xfrm>
            <a:prstGeom prst="round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i="0" u="none" strike="noStrike" kern="0" cap="none" spc="0" normalizeH="0" baseline="0" noProof="0" dirty="0" err="1">
                  <a:ln>
                    <a:noFill/>
                  </a:ln>
                  <a:solidFill>
                    <a:prstClr val="black"/>
                  </a:solidFill>
                  <a:effectLst/>
                  <a:uLnTx/>
                  <a:uFillTx/>
                  <a:latin typeface="Segoe UI"/>
                  <a:ea typeface="+mn-ea"/>
                  <a:cs typeface="+mn-cs"/>
                </a:rPr>
                <a:t>StringTie</a:t>
              </a:r>
              <a:endParaRPr kumimoji="0" lang="en-US" sz="1200" i="0" u="none" strike="noStrike" kern="0" cap="none" spc="0" normalizeH="0" baseline="0" noProof="0" dirty="0">
                <a:ln>
                  <a:noFill/>
                </a:ln>
                <a:solidFill>
                  <a:prstClr val="black"/>
                </a:solidFill>
                <a:effectLst/>
                <a:uLnTx/>
                <a:uFillTx/>
                <a:latin typeface="Segoe UI"/>
                <a:ea typeface="+mn-ea"/>
                <a:cs typeface="+mn-cs"/>
              </a:endParaRPr>
            </a:p>
          </p:txBody>
        </p:sp>
        <p:sp>
          <p:nvSpPr>
            <p:cNvPr id="151" name="TextBox 13">
              <a:extLst>
                <a:ext uri="{FF2B5EF4-FFF2-40B4-BE49-F238E27FC236}">
                  <a16:creationId xmlns:a16="http://schemas.microsoft.com/office/drawing/2014/main" id="{A7825944-7783-BE41-A848-0E28C4724D58}"/>
                </a:ext>
              </a:extLst>
            </p:cNvPr>
            <p:cNvSpPr txBox="1">
              <a:spLocks noChangeArrowheads="1"/>
            </p:cNvSpPr>
            <p:nvPr/>
          </p:nvSpPr>
          <p:spPr bwMode="auto">
            <a:xfrm>
              <a:off x="3563889" y="1818692"/>
              <a:ext cx="1656184" cy="52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prstClr val="black"/>
                  </a:solidFill>
                  <a:effectLst/>
                  <a:uLnTx/>
                  <a:uFillTx/>
                </a:rPr>
                <a:t>Transcript compilation</a:t>
              </a:r>
            </a:p>
          </p:txBody>
        </p:sp>
      </p:grpSp>
      <p:grpSp>
        <p:nvGrpSpPr>
          <p:cNvPr id="152" name="Group 19">
            <a:extLst>
              <a:ext uri="{FF2B5EF4-FFF2-40B4-BE49-F238E27FC236}">
                <a16:creationId xmlns:a16="http://schemas.microsoft.com/office/drawing/2014/main" id="{7BB4E748-BBBD-2C4C-9F3F-1E2472B7CF3F}"/>
              </a:ext>
            </a:extLst>
          </p:cNvPr>
          <p:cNvGrpSpPr>
            <a:grpSpLocks/>
          </p:cNvGrpSpPr>
          <p:nvPr/>
        </p:nvGrpSpPr>
        <p:grpSpPr bwMode="auto">
          <a:xfrm>
            <a:off x="6845662" y="2044127"/>
            <a:ext cx="1655763" cy="1393825"/>
            <a:chOff x="5148064" y="1818692"/>
            <a:chExt cx="1656184" cy="1394284"/>
          </a:xfrm>
        </p:grpSpPr>
        <p:sp>
          <p:nvSpPr>
            <p:cNvPr id="153" name="Rounded Rectangle 152">
              <a:extLst>
                <a:ext uri="{FF2B5EF4-FFF2-40B4-BE49-F238E27FC236}">
                  <a16:creationId xmlns:a16="http://schemas.microsoft.com/office/drawing/2014/main" id="{F37D2FCE-51D0-DB42-8849-4AEA1E20A7CD}"/>
                </a:ext>
              </a:extLst>
            </p:cNvPr>
            <p:cNvSpPr/>
            <p:nvPr/>
          </p:nvSpPr>
          <p:spPr>
            <a:xfrm>
              <a:off x="5292564" y="2493602"/>
              <a:ext cx="1367185" cy="719374"/>
            </a:xfrm>
            <a:prstGeom prst="round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i="0" u="none" strike="noStrike" kern="0" cap="none" spc="0" normalizeH="0" baseline="0" noProof="0" dirty="0" err="1">
                  <a:ln>
                    <a:noFill/>
                  </a:ln>
                  <a:solidFill>
                    <a:prstClr val="black"/>
                  </a:solidFill>
                  <a:effectLst/>
                  <a:uLnTx/>
                  <a:uFillTx/>
                  <a:latin typeface="Segoe UI"/>
                  <a:ea typeface="+mn-ea"/>
                  <a:cs typeface="+mn-cs"/>
                </a:rPr>
                <a:t>StringTie</a:t>
              </a:r>
              <a:endParaRPr kumimoji="0" lang="en-US" sz="1200" i="0" u="none" strike="noStrike" kern="0" cap="none" spc="0" normalizeH="0" baseline="0" noProof="0" dirty="0">
                <a:ln>
                  <a:noFill/>
                </a:ln>
                <a:solidFill>
                  <a:prstClr val="black"/>
                </a:solidFill>
                <a:effectLst/>
                <a:uLnTx/>
                <a:uFillTx/>
                <a:latin typeface="Segoe UI"/>
                <a:ea typeface="+mn-ea"/>
                <a:cs typeface="+mn-cs"/>
              </a:endParaRPr>
            </a:p>
          </p:txBody>
        </p:sp>
        <p:sp>
          <p:nvSpPr>
            <p:cNvPr id="154" name="TextBox 14">
              <a:extLst>
                <a:ext uri="{FF2B5EF4-FFF2-40B4-BE49-F238E27FC236}">
                  <a16:creationId xmlns:a16="http://schemas.microsoft.com/office/drawing/2014/main" id="{060866B7-DA81-F141-90B5-F975B0089CA4}"/>
                </a:ext>
              </a:extLst>
            </p:cNvPr>
            <p:cNvSpPr txBox="1">
              <a:spLocks noChangeArrowheads="1"/>
            </p:cNvSpPr>
            <p:nvPr/>
          </p:nvSpPr>
          <p:spPr bwMode="auto">
            <a:xfrm>
              <a:off x="5148064" y="1818692"/>
              <a:ext cx="1656184" cy="5233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dirty="0">
                  <a:ln>
                    <a:noFill/>
                  </a:ln>
                  <a:solidFill>
                    <a:prstClr val="black"/>
                  </a:solidFill>
                  <a:effectLst/>
                  <a:uLnTx/>
                  <a:uFillTx/>
                </a:rPr>
                <a:t>Expression estimation</a:t>
              </a:r>
            </a:p>
          </p:txBody>
        </p:sp>
      </p:grpSp>
      <p:grpSp>
        <p:nvGrpSpPr>
          <p:cNvPr id="155" name="Group 20">
            <a:extLst>
              <a:ext uri="{FF2B5EF4-FFF2-40B4-BE49-F238E27FC236}">
                <a16:creationId xmlns:a16="http://schemas.microsoft.com/office/drawing/2014/main" id="{35F3C2FF-CDBC-9D44-AFFF-670824810127}"/>
              </a:ext>
            </a:extLst>
          </p:cNvPr>
          <p:cNvGrpSpPr>
            <a:grpSpLocks/>
          </p:cNvGrpSpPr>
          <p:nvPr/>
        </p:nvGrpSpPr>
        <p:grpSpPr bwMode="auto">
          <a:xfrm>
            <a:off x="8572862" y="2044127"/>
            <a:ext cx="1655763" cy="1393825"/>
            <a:chOff x="6804248" y="1818692"/>
            <a:chExt cx="1656184" cy="1394284"/>
          </a:xfrm>
        </p:grpSpPr>
        <p:sp>
          <p:nvSpPr>
            <p:cNvPr id="156" name="Rounded Rectangle 155">
              <a:extLst>
                <a:ext uri="{FF2B5EF4-FFF2-40B4-BE49-F238E27FC236}">
                  <a16:creationId xmlns:a16="http://schemas.microsoft.com/office/drawing/2014/main" id="{2C8F8E8B-829D-E34D-8E11-8964918D60DA}"/>
                </a:ext>
              </a:extLst>
            </p:cNvPr>
            <p:cNvSpPr/>
            <p:nvPr/>
          </p:nvSpPr>
          <p:spPr>
            <a:xfrm>
              <a:off x="6912225" y="2493602"/>
              <a:ext cx="1440229" cy="719374"/>
            </a:xfrm>
            <a:prstGeom prst="round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i="0" u="none" strike="noStrike" kern="0" cap="none" spc="0" normalizeH="0" baseline="0" noProof="0" dirty="0" err="1">
                  <a:ln>
                    <a:noFill/>
                  </a:ln>
                  <a:solidFill>
                    <a:prstClr val="black"/>
                  </a:solidFill>
                  <a:effectLst/>
                  <a:uLnTx/>
                  <a:uFillTx/>
                  <a:latin typeface="Segoe UI"/>
                  <a:ea typeface="+mn-ea"/>
                  <a:cs typeface="+mn-cs"/>
                </a:rPr>
                <a:t>Ballgown</a:t>
              </a:r>
              <a:endParaRPr kumimoji="0" lang="en-US" sz="1200" i="0" u="none" strike="noStrike" kern="0" cap="none" spc="0" normalizeH="0" baseline="0" noProof="0" dirty="0">
                <a:ln>
                  <a:noFill/>
                </a:ln>
                <a:solidFill>
                  <a:prstClr val="black"/>
                </a:solidFill>
                <a:effectLst/>
                <a:uLnTx/>
                <a:uFillTx/>
                <a:latin typeface="Segoe UI"/>
                <a:ea typeface="+mn-ea"/>
                <a:cs typeface="+mn-cs"/>
              </a:endParaRPr>
            </a:p>
          </p:txBody>
        </p:sp>
        <p:sp>
          <p:nvSpPr>
            <p:cNvPr id="157" name="TextBox 15">
              <a:extLst>
                <a:ext uri="{FF2B5EF4-FFF2-40B4-BE49-F238E27FC236}">
                  <a16:creationId xmlns:a16="http://schemas.microsoft.com/office/drawing/2014/main" id="{DCBFD905-C5BC-6D46-8DC8-4574681670AC}"/>
                </a:ext>
              </a:extLst>
            </p:cNvPr>
            <p:cNvSpPr txBox="1">
              <a:spLocks noChangeArrowheads="1"/>
            </p:cNvSpPr>
            <p:nvPr/>
          </p:nvSpPr>
          <p:spPr bwMode="auto">
            <a:xfrm>
              <a:off x="6804248" y="1818692"/>
              <a:ext cx="1656184" cy="5233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prstClr val="black"/>
                  </a:solidFill>
                  <a:effectLst/>
                  <a:uLnTx/>
                  <a:uFillTx/>
                </a:rPr>
                <a:t>Differential expression</a:t>
              </a:r>
            </a:p>
          </p:txBody>
        </p:sp>
      </p:grpSp>
      <p:grpSp>
        <p:nvGrpSpPr>
          <p:cNvPr id="158" name="Group 157">
            <a:extLst>
              <a:ext uri="{FF2B5EF4-FFF2-40B4-BE49-F238E27FC236}">
                <a16:creationId xmlns:a16="http://schemas.microsoft.com/office/drawing/2014/main" id="{94A89F73-DCF8-CE44-880A-3C88F44DF554}"/>
              </a:ext>
            </a:extLst>
          </p:cNvPr>
          <p:cNvGrpSpPr>
            <a:grpSpLocks/>
          </p:cNvGrpSpPr>
          <p:nvPr/>
        </p:nvGrpSpPr>
        <p:grpSpPr bwMode="auto">
          <a:xfrm>
            <a:off x="8572862" y="4014215"/>
            <a:ext cx="1655763" cy="1171575"/>
            <a:chOff x="6804248" y="3861048"/>
            <a:chExt cx="1656184" cy="1171873"/>
          </a:xfrm>
        </p:grpSpPr>
        <p:sp>
          <p:nvSpPr>
            <p:cNvPr id="159" name="Rounded Rectangle 158">
              <a:extLst>
                <a:ext uri="{FF2B5EF4-FFF2-40B4-BE49-F238E27FC236}">
                  <a16:creationId xmlns:a16="http://schemas.microsoft.com/office/drawing/2014/main" id="{BA239D61-B3C2-AF4B-84D1-2ABE3930D1DA}"/>
                </a:ext>
              </a:extLst>
            </p:cNvPr>
            <p:cNvSpPr/>
            <p:nvPr/>
          </p:nvSpPr>
          <p:spPr>
            <a:xfrm>
              <a:off x="6948748" y="3861048"/>
              <a:ext cx="1367185" cy="719320"/>
            </a:xfrm>
            <a:prstGeom prst="roundRect">
              <a:avLst/>
            </a:prstGeom>
            <a:gradFill rotWithShape="1">
              <a:gsLst>
                <a:gs pos="0">
                  <a:srgbClr val="C0504D">
                    <a:tint val="50000"/>
                    <a:satMod val="300000"/>
                  </a:srgbClr>
                </a:gs>
                <a:gs pos="35000">
                  <a:srgbClr val="C0504D">
                    <a:tint val="37000"/>
                    <a:satMod val="300000"/>
                  </a:srgbClr>
                </a:gs>
                <a:gs pos="100000">
                  <a:srgbClr val="C0504D">
                    <a:tint val="15000"/>
                    <a:satMod val="350000"/>
                  </a:srgbClr>
                </a:gs>
              </a:gsLst>
              <a:lin ang="16200000" scaled="1"/>
            </a:gradFill>
            <a:ln w="9525" cap="flat" cmpd="sng" algn="ctr">
              <a:solidFill>
                <a:srgbClr val="C0504D">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i="0" u="none" strike="noStrike" kern="0" cap="none" spc="0" normalizeH="0" baseline="0" noProof="0" dirty="0" err="1">
                  <a:ln>
                    <a:noFill/>
                  </a:ln>
                  <a:solidFill>
                    <a:prstClr val="black"/>
                  </a:solidFill>
                  <a:effectLst/>
                  <a:uLnTx/>
                  <a:uFillTx/>
                  <a:latin typeface="Segoe UI"/>
                  <a:ea typeface="+mn-ea"/>
                  <a:cs typeface="+mn-cs"/>
                </a:rPr>
                <a:t>Ballgown</a:t>
              </a:r>
              <a:r>
                <a:rPr kumimoji="0" lang="en-US" sz="1200" i="0" u="none" strike="noStrike" kern="0" cap="none" spc="0" normalizeH="0" baseline="0" noProof="0" dirty="0">
                  <a:ln>
                    <a:noFill/>
                  </a:ln>
                  <a:solidFill>
                    <a:prstClr val="black"/>
                  </a:solidFill>
                  <a:effectLst/>
                  <a:uLnTx/>
                  <a:uFillTx/>
                  <a:latin typeface="Segoe UI"/>
                  <a:ea typeface="+mn-ea"/>
                  <a:cs typeface="+mn-cs"/>
                </a:rPr>
                <a:t> &amp; R</a:t>
              </a:r>
            </a:p>
          </p:txBody>
        </p:sp>
        <p:sp>
          <p:nvSpPr>
            <p:cNvPr id="160" name="TextBox 17">
              <a:extLst>
                <a:ext uri="{FF2B5EF4-FFF2-40B4-BE49-F238E27FC236}">
                  <a16:creationId xmlns:a16="http://schemas.microsoft.com/office/drawing/2014/main" id="{E31FF49D-844F-C649-8059-AD0365853582}"/>
                </a:ext>
              </a:extLst>
            </p:cNvPr>
            <p:cNvSpPr txBox="1">
              <a:spLocks noChangeArrowheads="1"/>
            </p:cNvSpPr>
            <p:nvPr/>
          </p:nvSpPr>
          <p:spPr bwMode="auto">
            <a:xfrm>
              <a:off x="6804248" y="4725144"/>
              <a:ext cx="1656184"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prstClr val="black"/>
                  </a:solidFill>
                  <a:effectLst/>
                  <a:uLnTx/>
                  <a:uFillTx/>
                </a:rPr>
                <a:t>Visualization</a:t>
              </a:r>
            </a:p>
          </p:txBody>
        </p:sp>
      </p:grpSp>
      <p:cxnSp>
        <p:nvCxnSpPr>
          <p:cNvPr id="161" name="Straight Arrow Connector 160">
            <a:extLst>
              <a:ext uri="{FF2B5EF4-FFF2-40B4-BE49-F238E27FC236}">
                <a16:creationId xmlns:a16="http://schemas.microsoft.com/office/drawing/2014/main" id="{60851C13-5F9B-AA41-86F7-03E649A86AFF}"/>
              </a:ext>
            </a:extLst>
          </p:cNvPr>
          <p:cNvCxnSpPr>
            <a:stCxn id="144" idx="3"/>
            <a:endCxn id="147" idx="1"/>
          </p:cNvCxnSpPr>
          <p:nvPr/>
        </p:nvCxnSpPr>
        <p:spPr>
          <a:xfrm>
            <a:off x="3388087" y="3077590"/>
            <a:ext cx="296863" cy="0"/>
          </a:xfrm>
          <a:prstGeom prst="straightConnector1">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cxnSp>
        <p:nvCxnSpPr>
          <p:cNvPr id="162" name="Straight Arrow Connector 161">
            <a:extLst>
              <a:ext uri="{FF2B5EF4-FFF2-40B4-BE49-F238E27FC236}">
                <a16:creationId xmlns:a16="http://schemas.microsoft.com/office/drawing/2014/main" id="{5E9A5C36-602E-454F-A4E3-1649106A92BD}"/>
              </a:ext>
            </a:extLst>
          </p:cNvPr>
          <p:cNvCxnSpPr>
            <a:stCxn id="147" idx="3"/>
            <a:endCxn id="150" idx="1"/>
          </p:cNvCxnSpPr>
          <p:nvPr/>
        </p:nvCxnSpPr>
        <p:spPr>
          <a:xfrm>
            <a:off x="5053375" y="3077590"/>
            <a:ext cx="279400" cy="0"/>
          </a:xfrm>
          <a:prstGeom prst="straightConnector1">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cxnSp>
        <p:nvCxnSpPr>
          <p:cNvPr id="163" name="Straight Arrow Connector 162">
            <a:extLst>
              <a:ext uri="{FF2B5EF4-FFF2-40B4-BE49-F238E27FC236}">
                <a16:creationId xmlns:a16="http://schemas.microsoft.com/office/drawing/2014/main" id="{599199B8-BDB5-484E-9557-19468EFC7AD5}"/>
              </a:ext>
            </a:extLst>
          </p:cNvPr>
          <p:cNvCxnSpPr>
            <a:stCxn id="150" idx="3"/>
            <a:endCxn id="153" idx="1"/>
          </p:cNvCxnSpPr>
          <p:nvPr/>
        </p:nvCxnSpPr>
        <p:spPr>
          <a:xfrm>
            <a:off x="6701200" y="3077590"/>
            <a:ext cx="287337" cy="0"/>
          </a:xfrm>
          <a:prstGeom prst="straightConnector1">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cxnSp>
        <p:nvCxnSpPr>
          <p:cNvPr id="164" name="Straight Arrow Connector 163">
            <a:extLst>
              <a:ext uri="{FF2B5EF4-FFF2-40B4-BE49-F238E27FC236}">
                <a16:creationId xmlns:a16="http://schemas.microsoft.com/office/drawing/2014/main" id="{0E4F0C9B-91FA-9346-B5E6-87EC7F968CE6}"/>
              </a:ext>
            </a:extLst>
          </p:cNvPr>
          <p:cNvCxnSpPr>
            <a:stCxn id="153" idx="3"/>
            <a:endCxn id="156" idx="1"/>
          </p:cNvCxnSpPr>
          <p:nvPr/>
        </p:nvCxnSpPr>
        <p:spPr>
          <a:xfrm>
            <a:off x="8356962" y="3077590"/>
            <a:ext cx="323850" cy="0"/>
          </a:xfrm>
          <a:prstGeom prst="straightConnector1">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cxnSp>
        <p:nvCxnSpPr>
          <p:cNvPr id="165" name="Straight Arrow Connector 164">
            <a:extLst>
              <a:ext uri="{FF2B5EF4-FFF2-40B4-BE49-F238E27FC236}">
                <a16:creationId xmlns:a16="http://schemas.microsoft.com/office/drawing/2014/main" id="{6E91CD16-520C-4A41-8A38-28B1AD7FAFE5}"/>
              </a:ext>
            </a:extLst>
          </p:cNvPr>
          <p:cNvCxnSpPr>
            <a:stCxn id="156" idx="2"/>
            <a:endCxn id="159" idx="0"/>
          </p:cNvCxnSpPr>
          <p:nvPr/>
        </p:nvCxnSpPr>
        <p:spPr>
          <a:xfrm>
            <a:off x="9401537" y="3437952"/>
            <a:ext cx="0" cy="576263"/>
          </a:xfrm>
          <a:prstGeom prst="straightConnector1">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sp>
        <p:nvSpPr>
          <p:cNvPr id="166" name="Rounded Rectangle 165">
            <a:extLst>
              <a:ext uri="{FF2B5EF4-FFF2-40B4-BE49-F238E27FC236}">
                <a16:creationId xmlns:a16="http://schemas.microsoft.com/office/drawing/2014/main" id="{29398F2E-FD79-8D4E-88FA-6A3C0CEB0D15}"/>
              </a:ext>
            </a:extLst>
          </p:cNvPr>
          <p:cNvSpPr/>
          <p:nvPr/>
        </p:nvSpPr>
        <p:spPr bwMode="auto">
          <a:xfrm>
            <a:off x="5332775" y="4014215"/>
            <a:ext cx="1368425" cy="719137"/>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i="0" u="none" strike="noStrike" kern="0" cap="none" spc="0" normalizeH="0" baseline="0" noProof="0" dirty="0">
                <a:ln>
                  <a:noFill/>
                </a:ln>
                <a:solidFill>
                  <a:prstClr val="black"/>
                </a:solidFill>
                <a:effectLst/>
                <a:uLnTx/>
                <a:uFillTx/>
                <a:latin typeface="Segoe UI"/>
                <a:ea typeface="+mn-ea"/>
                <a:cs typeface="+mn-cs"/>
              </a:rPr>
              <a:t>Gene annotation </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i="0" u="none" strike="noStrike" kern="0" cap="none" spc="0" normalizeH="0" baseline="0" noProof="0" dirty="0">
                <a:ln>
                  <a:noFill/>
                </a:ln>
                <a:solidFill>
                  <a:prstClr val="black"/>
                </a:solidFill>
                <a:effectLst/>
                <a:uLnTx/>
                <a:uFillTx/>
                <a:latin typeface="Segoe UI"/>
                <a:ea typeface="+mn-ea"/>
                <a:cs typeface="+mn-cs"/>
              </a:rPr>
              <a:t>(.</a:t>
            </a:r>
            <a:r>
              <a:rPr kumimoji="0" lang="en-US" sz="1200" i="0" u="none" strike="noStrike" kern="0" cap="none" spc="0" normalizeH="0" baseline="0" noProof="0" dirty="0" err="1">
                <a:ln>
                  <a:noFill/>
                </a:ln>
                <a:solidFill>
                  <a:prstClr val="black"/>
                </a:solidFill>
                <a:effectLst/>
                <a:uLnTx/>
                <a:uFillTx/>
                <a:latin typeface="Segoe UI"/>
                <a:ea typeface="+mn-ea"/>
                <a:cs typeface="+mn-cs"/>
              </a:rPr>
              <a:t>gtf</a:t>
            </a:r>
            <a:r>
              <a:rPr kumimoji="0" lang="en-US" sz="1200" i="0" u="none" strike="noStrike" kern="0" cap="none" spc="0" normalizeH="0" baseline="0" noProof="0" dirty="0">
                <a:ln>
                  <a:noFill/>
                </a:ln>
                <a:solidFill>
                  <a:prstClr val="black"/>
                </a:solidFill>
                <a:effectLst/>
                <a:uLnTx/>
                <a:uFillTx/>
                <a:latin typeface="Segoe UI"/>
                <a:ea typeface="+mn-ea"/>
                <a:cs typeface="+mn-cs"/>
              </a:rPr>
              <a:t> file)</a:t>
            </a:r>
          </a:p>
        </p:txBody>
      </p:sp>
      <p:sp>
        <p:nvSpPr>
          <p:cNvPr id="167" name="Rounded Rectangle 166">
            <a:extLst>
              <a:ext uri="{FF2B5EF4-FFF2-40B4-BE49-F238E27FC236}">
                <a16:creationId xmlns:a16="http://schemas.microsoft.com/office/drawing/2014/main" id="{D61245BC-1EFA-8844-92ED-7A207C142388}"/>
              </a:ext>
            </a:extLst>
          </p:cNvPr>
          <p:cNvSpPr/>
          <p:nvPr/>
        </p:nvSpPr>
        <p:spPr bwMode="auto">
          <a:xfrm>
            <a:off x="3677012" y="4014215"/>
            <a:ext cx="1368425" cy="719137"/>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i="0" u="none" strike="noStrike" kern="0" cap="none" spc="0" normalizeH="0" baseline="0" noProof="0" dirty="0">
                <a:ln>
                  <a:noFill/>
                </a:ln>
                <a:solidFill>
                  <a:prstClr val="black"/>
                </a:solidFill>
                <a:effectLst/>
                <a:uLnTx/>
                <a:uFillTx/>
                <a:latin typeface="Segoe UI"/>
                <a:ea typeface="+mn-ea"/>
                <a:cs typeface="+mn-cs"/>
              </a:rPr>
              <a:t>Reference genome</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i="0" u="none" strike="noStrike" kern="0" cap="none" spc="0" normalizeH="0" baseline="0" noProof="0" dirty="0">
                <a:ln>
                  <a:noFill/>
                </a:ln>
                <a:solidFill>
                  <a:prstClr val="black"/>
                </a:solidFill>
                <a:effectLst/>
                <a:uLnTx/>
                <a:uFillTx/>
                <a:latin typeface="Segoe UI"/>
                <a:ea typeface="+mn-ea"/>
                <a:cs typeface="+mn-cs"/>
              </a:rPr>
              <a:t>(.</a:t>
            </a:r>
            <a:r>
              <a:rPr kumimoji="0" lang="en-US" sz="1200" i="0" u="none" strike="noStrike" kern="0" cap="none" spc="0" normalizeH="0" baseline="0" noProof="0" dirty="0" err="1">
                <a:ln>
                  <a:noFill/>
                </a:ln>
                <a:solidFill>
                  <a:prstClr val="black"/>
                </a:solidFill>
                <a:effectLst/>
                <a:uLnTx/>
                <a:uFillTx/>
                <a:latin typeface="Segoe UI"/>
                <a:ea typeface="+mn-ea"/>
                <a:cs typeface="+mn-cs"/>
              </a:rPr>
              <a:t>fa</a:t>
            </a:r>
            <a:r>
              <a:rPr kumimoji="0" lang="en-US" sz="1200" i="0" u="none" strike="noStrike" kern="0" cap="none" spc="0" normalizeH="0" baseline="0" noProof="0" dirty="0">
                <a:ln>
                  <a:noFill/>
                </a:ln>
                <a:solidFill>
                  <a:prstClr val="black"/>
                </a:solidFill>
                <a:effectLst/>
                <a:uLnTx/>
                <a:uFillTx/>
                <a:latin typeface="Segoe UI"/>
                <a:ea typeface="+mn-ea"/>
                <a:cs typeface="+mn-cs"/>
              </a:rPr>
              <a:t> file)</a:t>
            </a:r>
          </a:p>
        </p:txBody>
      </p:sp>
      <p:sp>
        <p:nvSpPr>
          <p:cNvPr id="168" name="Rounded Rectangle 167">
            <a:extLst>
              <a:ext uri="{FF2B5EF4-FFF2-40B4-BE49-F238E27FC236}">
                <a16:creationId xmlns:a16="http://schemas.microsoft.com/office/drawing/2014/main" id="{C99728FA-45CB-BF4E-8867-454B4D983AFA}"/>
              </a:ext>
            </a:extLst>
          </p:cNvPr>
          <p:cNvSpPr/>
          <p:nvPr/>
        </p:nvSpPr>
        <p:spPr bwMode="auto">
          <a:xfrm>
            <a:off x="2019662" y="4014215"/>
            <a:ext cx="1368425" cy="719137"/>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i="0" u="none" strike="noStrike" kern="0" cap="none" spc="0" normalizeH="0" baseline="0" noProof="0" dirty="0">
                <a:ln>
                  <a:noFill/>
                </a:ln>
                <a:solidFill>
                  <a:prstClr val="black"/>
                </a:solidFill>
                <a:effectLst/>
                <a:uLnTx/>
                <a:uFillTx/>
                <a:latin typeface="Segoe UI"/>
                <a:ea typeface="+mn-ea"/>
                <a:cs typeface="+mn-cs"/>
              </a:rPr>
              <a:t>Raw sequence data</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i="0" u="none" strike="noStrike" kern="0" cap="none" spc="0" normalizeH="0" baseline="0" noProof="0" dirty="0">
                <a:ln>
                  <a:noFill/>
                </a:ln>
                <a:solidFill>
                  <a:prstClr val="black"/>
                </a:solidFill>
                <a:effectLst/>
                <a:uLnTx/>
                <a:uFillTx/>
                <a:latin typeface="Segoe UI"/>
                <a:ea typeface="+mn-ea"/>
                <a:cs typeface="+mn-cs"/>
              </a:rPr>
              <a:t>(.</a:t>
            </a:r>
            <a:r>
              <a:rPr kumimoji="0" lang="en-US" sz="1200" i="0" u="none" strike="noStrike" kern="0" cap="none" spc="0" normalizeH="0" baseline="0" noProof="0" dirty="0" err="1">
                <a:ln>
                  <a:noFill/>
                </a:ln>
                <a:solidFill>
                  <a:prstClr val="black"/>
                </a:solidFill>
                <a:effectLst/>
                <a:uLnTx/>
                <a:uFillTx/>
                <a:latin typeface="Segoe UI"/>
                <a:ea typeface="+mn-ea"/>
                <a:cs typeface="+mn-cs"/>
              </a:rPr>
              <a:t>fastq</a:t>
            </a:r>
            <a:r>
              <a:rPr kumimoji="0" lang="en-US" sz="1200" i="0" u="none" strike="noStrike" kern="0" cap="none" spc="0" normalizeH="0" baseline="0" noProof="0" dirty="0">
                <a:ln>
                  <a:noFill/>
                </a:ln>
                <a:solidFill>
                  <a:prstClr val="black"/>
                </a:solidFill>
                <a:effectLst/>
                <a:uLnTx/>
                <a:uFillTx/>
                <a:latin typeface="Segoe UI"/>
                <a:ea typeface="+mn-ea"/>
                <a:cs typeface="+mn-cs"/>
              </a:rPr>
              <a:t> files)</a:t>
            </a:r>
          </a:p>
        </p:txBody>
      </p:sp>
      <p:cxnSp>
        <p:nvCxnSpPr>
          <p:cNvPr id="169" name="Straight Arrow Connector 168">
            <a:extLst>
              <a:ext uri="{FF2B5EF4-FFF2-40B4-BE49-F238E27FC236}">
                <a16:creationId xmlns:a16="http://schemas.microsoft.com/office/drawing/2014/main" id="{F2EF1B6B-FCE1-1A40-A27D-8F7864AF0810}"/>
              </a:ext>
            </a:extLst>
          </p:cNvPr>
          <p:cNvCxnSpPr>
            <a:stCxn id="168" idx="0"/>
            <a:endCxn id="144" idx="2"/>
          </p:cNvCxnSpPr>
          <p:nvPr/>
        </p:nvCxnSpPr>
        <p:spPr>
          <a:xfrm flipH="1" flipV="1">
            <a:off x="2703875" y="3437952"/>
            <a:ext cx="0" cy="576263"/>
          </a:xfrm>
          <a:prstGeom prst="straightConnector1">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cxnSp>
        <p:nvCxnSpPr>
          <p:cNvPr id="170" name="Straight Arrow Connector 169">
            <a:extLst>
              <a:ext uri="{FF2B5EF4-FFF2-40B4-BE49-F238E27FC236}">
                <a16:creationId xmlns:a16="http://schemas.microsoft.com/office/drawing/2014/main" id="{7E091E60-474B-4F44-B05E-7A57B73E9D45}"/>
              </a:ext>
            </a:extLst>
          </p:cNvPr>
          <p:cNvCxnSpPr>
            <a:stCxn id="167" idx="0"/>
            <a:endCxn id="147" idx="2"/>
          </p:cNvCxnSpPr>
          <p:nvPr/>
        </p:nvCxnSpPr>
        <p:spPr>
          <a:xfrm flipV="1">
            <a:off x="4361225" y="3437952"/>
            <a:ext cx="7937" cy="576263"/>
          </a:xfrm>
          <a:prstGeom prst="straightConnector1">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cxnSp>
        <p:nvCxnSpPr>
          <p:cNvPr id="171" name="Straight Arrow Connector 170">
            <a:extLst>
              <a:ext uri="{FF2B5EF4-FFF2-40B4-BE49-F238E27FC236}">
                <a16:creationId xmlns:a16="http://schemas.microsoft.com/office/drawing/2014/main" id="{0B7DC8A0-D7B5-1146-A8DD-4B0858F5D546}"/>
              </a:ext>
            </a:extLst>
          </p:cNvPr>
          <p:cNvCxnSpPr>
            <a:stCxn id="166" idx="0"/>
            <a:endCxn id="150" idx="2"/>
          </p:cNvCxnSpPr>
          <p:nvPr/>
        </p:nvCxnSpPr>
        <p:spPr>
          <a:xfrm flipV="1">
            <a:off x="6016987" y="3437952"/>
            <a:ext cx="0" cy="576263"/>
          </a:xfrm>
          <a:prstGeom prst="straightConnector1">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sp>
        <p:nvSpPr>
          <p:cNvPr id="172" name="TextBox 3">
            <a:extLst>
              <a:ext uri="{FF2B5EF4-FFF2-40B4-BE49-F238E27FC236}">
                <a16:creationId xmlns:a16="http://schemas.microsoft.com/office/drawing/2014/main" id="{11FB1091-C4BF-F342-8983-EA7F5C9DDEF8}"/>
              </a:ext>
            </a:extLst>
          </p:cNvPr>
          <p:cNvSpPr txBox="1">
            <a:spLocks noChangeArrowheads="1"/>
          </p:cNvSpPr>
          <p:nvPr/>
        </p:nvSpPr>
        <p:spPr bwMode="auto">
          <a:xfrm>
            <a:off x="3961175" y="5001640"/>
            <a:ext cx="72390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prstClr val="black"/>
                </a:solidFill>
                <a:effectLst/>
                <a:uLnTx/>
                <a:uFillTx/>
              </a:rPr>
              <a:t>Inputs</a:t>
            </a:r>
          </a:p>
        </p:txBody>
      </p:sp>
    </p:spTree>
    <p:extLst>
      <p:ext uri="{BB962C8B-B14F-4D97-AF65-F5344CB8AC3E}">
        <p14:creationId xmlns:p14="http://schemas.microsoft.com/office/powerpoint/2010/main" val="27009962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NA-seq_Flowchart4">
            <a:extLst>
              <a:ext uri="{FF2B5EF4-FFF2-40B4-BE49-F238E27FC236}">
                <a16:creationId xmlns:a16="http://schemas.microsoft.com/office/drawing/2014/main" id="{EE617E35-C486-68D3-DE4F-56E74F782E5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31920" y="1742736"/>
            <a:ext cx="8625333" cy="4104826"/>
          </a:xfrm>
          <a:prstGeom prst="rect">
            <a:avLst/>
          </a:prstGeom>
          <a:noFill/>
          <a:extLst>
            <a:ext uri="{909E8E84-426E-40DD-AFC4-6F175D3DCCD1}">
              <a14:hiddenFill xmlns:a14="http://schemas.microsoft.com/office/drawing/2010/main">
                <a:solidFill>
                  <a:srgbClr val="FFFFFF"/>
                </a:solidFill>
              </a14:hiddenFill>
            </a:ext>
          </a:extLst>
        </p:spPr>
      </p:pic>
      <p:sp>
        <p:nvSpPr>
          <p:cNvPr id="4" name="Title 4">
            <a:extLst>
              <a:ext uri="{FF2B5EF4-FFF2-40B4-BE49-F238E27FC236}">
                <a16:creationId xmlns:a16="http://schemas.microsoft.com/office/drawing/2014/main" id="{304E825B-1737-E6EA-951F-9DD79B7899AF}"/>
              </a:ext>
            </a:extLst>
          </p:cNvPr>
          <p:cNvSpPr>
            <a:spLocks noGrp="1"/>
          </p:cNvSpPr>
          <p:nvPr>
            <p:ph type="title"/>
          </p:nvPr>
        </p:nvSpPr>
        <p:spPr>
          <a:xfrm>
            <a:off x="1676400" y="0"/>
            <a:ext cx="8839200" cy="1143000"/>
          </a:xfrm>
        </p:spPr>
        <p:txBody>
          <a:bodyPr>
            <a:normAutofit fontScale="90000"/>
          </a:bodyPr>
          <a:lstStyle/>
          <a:p>
            <a:pPr algn="ctr"/>
            <a:r>
              <a:rPr lang="en-US" dirty="0">
                <a:latin typeface="Helvetica Neue" panose="02000503000000020004" pitchFamily="2" charset="0"/>
                <a:ea typeface="Helvetica Neue" panose="02000503000000020004" pitchFamily="2" charset="0"/>
                <a:cs typeface="Helvetica Neue" panose="02000503000000020004" pitchFamily="2" charset="0"/>
              </a:rPr>
              <a:t>HISAT2/</a:t>
            </a:r>
            <a:r>
              <a:rPr lang="en-US" dirty="0" err="1">
                <a:latin typeface="Helvetica Neue" panose="02000503000000020004" pitchFamily="2" charset="0"/>
                <a:ea typeface="Helvetica Neue" panose="02000503000000020004" pitchFamily="2" charset="0"/>
                <a:cs typeface="Helvetica Neue" panose="02000503000000020004" pitchFamily="2" charset="0"/>
              </a:rPr>
              <a:t>htseq</a:t>
            </a:r>
            <a:r>
              <a:rPr lang="en-US" dirty="0">
                <a:latin typeface="Helvetica Neue" panose="02000503000000020004" pitchFamily="2" charset="0"/>
                <a:ea typeface="Helvetica Neue" panose="02000503000000020004" pitchFamily="2" charset="0"/>
                <a:cs typeface="Helvetica Neue" panose="02000503000000020004" pitchFamily="2" charset="0"/>
              </a:rPr>
              <a:t>/DESeq2</a:t>
            </a:r>
            <a:br>
              <a:rPr lang="en-US" dirty="0">
                <a:latin typeface="Helvetica Neue" panose="02000503000000020004" pitchFamily="2" charset="0"/>
                <a:ea typeface="Helvetica Neue" panose="02000503000000020004" pitchFamily="2" charset="0"/>
                <a:cs typeface="Helvetica Neue" panose="02000503000000020004" pitchFamily="2" charset="0"/>
              </a:rPr>
            </a:br>
            <a:r>
              <a:rPr lang="en-US" dirty="0">
                <a:latin typeface="Helvetica Neue" panose="02000503000000020004" pitchFamily="2" charset="0"/>
                <a:ea typeface="Helvetica Neue" panose="02000503000000020004" pitchFamily="2" charset="0"/>
                <a:cs typeface="Helvetica Neue" panose="02000503000000020004" pitchFamily="2" charset="0"/>
              </a:rPr>
              <a:t>RNA-seq Pipeline</a:t>
            </a:r>
          </a:p>
        </p:txBody>
      </p:sp>
    </p:spTree>
    <p:extLst>
      <p:ext uri="{BB962C8B-B14F-4D97-AF65-F5344CB8AC3E}">
        <p14:creationId xmlns:p14="http://schemas.microsoft.com/office/powerpoint/2010/main" val="40063040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6"/>
          <p:cNvSpPr txBox="1">
            <a:spLocks noGrp="1"/>
          </p:cNvSpPr>
          <p:nvPr>
            <p:ph type="title"/>
          </p:nvPr>
        </p:nvSpPr>
        <p:spPr>
          <a:xfrm>
            <a:off x="838200" y="2103437"/>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Helvetica Neue Light"/>
              <a:buNone/>
            </a:pPr>
            <a:r>
              <a:rPr lang="en-US"/>
              <a:t>Coffee Break &amp; Networking Session</a:t>
            </a:r>
            <a:endParaRPr/>
          </a:p>
        </p:txBody>
      </p:sp>
      <p:sp>
        <p:nvSpPr>
          <p:cNvPr id="107" name="Google Shape;107;p6"/>
          <p:cNvSpPr txBox="1">
            <a:spLocks noGrp="1"/>
          </p:cNvSpPr>
          <p:nvPr>
            <p:ph type="body" idx="1"/>
          </p:nvPr>
        </p:nvSpPr>
        <p:spPr>
          <a:xfrm>
            <a:off x="4386262" y="4511675"/>
            <a:ext cx="3419475" cy="517525"/>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chemeClr val="dk1"/>
              </a:buClr>
              <a:buSzPts val="2000"/>
              <a:buNone/>
            </a:pPr>
            <a:r>
              <a:rPr lang="en-US" sz="2000"/>
              <a:t>Workshop Sponsors</a:t>
            </a:r>
            <a:endParaRPr/>
          </a:p>
        </p:txBody>
      </p:sp>
      <p:pic>
        <p:nvPicPr>
          <p:cNvPr id="108" name="Google Shape;108;p6" title="cihr.png"/>
          <p:cNvPicPr preferRelativeResize="0"/>
          <p:nvPr/>
        </p:nvPicPr>
        <p:blipFill rotWithShape="1">
          <a:blip r:embed="rId3">
            <a:alphaModFix/>
          </a:blip>
          <a:srcRect/>
          <a:stretch/>
        </p:blipFill>
        <p:spPr>
          <a:xfrm>
            <a:off x="1310652" y="5262657"/>
            <a:ext cx="3500780" cy="833735"/>
          </a:xfrm>
          <a:prstGeom prst="rect">
            <a:avLst/>
          </a:prstGeom>
          <a:noFill/>
          <a:ln>
            <a:noFill/>
          </a:ln>
        </p:spPr>
      </p:pic>
      <p:pic>
        <p:nvPicPr>
          <p:cNvPr id="109" name="Google Shape;109;p6" title="oicr.png"/>
          <p:cNvPicPr preferRelativeResize="0"/>
          <p:nvPr/>
        </p:nvPicPr>
        <p:blipFill rotWithShape="1">
          <a:blip r:embed="rId4">
            <a:alphaModFix/>
          </a:blip>
          <a:srcRect/>
          <a:stretch/>
        </p:blipFill>
        <p:spPr>
          <a:xfrm>
            <a:off x="9624569" y="5223333"/>
            <a:ext cx="1256757" cy="912349"/>
          </a:xfrm>
          <a:prstGeom prst="rect">
            <a:avLst/>
          </a:prstGeom>
          <a:noFill/>
          <a:ln>
            <a:noFill/>
          </a:ln>
        </p:spPr>
      </p:pic>
      <p:pic>
        <p:nvPicPr>
          <p:cNvPr id="110" name="Google Shape;110;p6" title="genomecanada.png"/>
          <p:cNvPicPr preferRelativeResize="0"/>
          <p:nvPr/>
        </p:nvPicPr>
        <p:blipFill>
          <a:blip r:embed="rId5">
            <a:alphaModFix/>
          </a:blip>
          <a:stretch>
            <a:fillRect/>
          </a:stretch>
        </p:blipFill>
        <p:spPr>
          <a:xfrm>
            <a:off x="5190215" y="5262645"/>
            <a:ext cx="1724888" cy="833750"/>
          </a:xfrm>
          <a:prstGeom prst="rect">
            <a:avLst/>
          </a:prstGeom>
          <a:noFill/>
          <a:ln>
            <a:noFill/>
          </a:ln>
        </p:spPr>
      </p:pic>
      <p:pic>
        <p:nvPicPr>
          <p:cNvPr id="111" name="Google Shape;111;p6" title="ontariogenomics.png"/>
          <p:cNvPicPr preferRelativeResize="0"/>
          <p:nvPr/>
        </p:nvPicPr>
        <p:blipFill>
          <a:blip r:embed="rId6">
            <a:alphaModFix/>
          </a:blip>
          <a:stretch>
            <a:fillRect/>
          </a:stretch>
        </p:blipFill>
        <p:spPr>
          <a:xfrm>
            <a:off x="7291450" y="5288156"/>
            <a:ext cx="1956783" cy="782704"/>
          </a:xfrm>
          <a:prstGeom prst="rect">
            <a:avLst/>
          </a:prstGeom>
          <a:noFill/>
          <a:ln>
            <a:noFill/>
          </a:ln>
        </p:spPr>
      </p:pic>
    </p:spTree>
  </p:cSld>
  <p:clrMapOvr>
    <a:masterClrMapping/>
  </p:clrMapOvr>
</p:sld>
</file>

<file path=ppt/theme/theme1.xml><?xml version="1.0" encoding="utf-8"?>
<a:theme xmlns:a="http://schemas.openxmlformats.org/drawingml/2006/main" name="1_Custom Design">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TotalTime>
  <Words>2004</Words>
  <Application>Microsoft Macintosh PowerPoint</Application>
  <PresentationFormat>Widescreen</PresentationFormat>
  <Paragraphs>209</Paragraphs>
  <Slides>27</Slides>
  <Notes>17</Notes>
  <HiddenSlides>2</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27</vt:i4>
      </vt:variant>
    </vt:vector>
  </HeadingPairs>
  <TitlesOfParts>
    <vt:vector size="35" baseType="lpstr">
      <vt:lpstr>Segoe UI</vt:lpstr>
      <vt:lpstr>Helvetica Neue</vt:lpstr>
      <vt:lpstr>Helvetica Neue Light</vt:lpstr>
      <vt:lpstr>Calibri</vt:lpstr>
      <vt:lpstr>Arial</vt:lpstr>
      <vt:lpstr>1_Custom Design</vt:lpstr>
      <vt:lpstr>Office Theme</vt:lpstr>
      <vt:lpstr>Custom Design</vt:lpstr>
      <vt:lpstr>PowerPoint Presentation</vt:lpstr>
      <vt:lpstr>PowerPoint Presentation</vt:lpstr>
      <vt:lpstr>Module 3: RNA Expression and Differential Expression</vt:lpstr>
      <vt:lpstr>Learning objectives of module 3</vt:lpstr>
      <vt:lpstr>Expression estimation for known genes and transcripts</vt:lpstr>
      <vt:lpstr>What is FPKM (RPKM)?</vt:lpstr>
      <vt:lpstr>What is FPKM?</vt:lpstr>
      <vt:lpstr>What is FPKM?</vt:lpstr>
      <vt:lpstr>How do FPKM and TPM differ?</vt:lpstr>
      <vt:lpstr>How does StringTie work?</vt:lpstr>
      <vt:lpstr>From flow network for each transcript, maximum flow is used to assemble transcript and estimate abundance </vt:lpstr>
      <vt:lpstr>StringTie -merge</vt:lpstr>
      <vt:lpstr>gffcompare</vt:lpstr>
      <vt:lpstr>Alternatives to FPKM</vt:lpstr>
      <vt:lpstr>HTSeq-count basically counts reads supporting a feature (exon, gene) by assessing overlapping coordinates</vt:lpstr>
      <vt:lpstr>Differential Expression</vt:lpstr>
      <vt:lpstr>Differential Expression with Ballgown</vt:lpstr>
      <vt:lpstr>Ballgown for Visualization with R</vt:lpstr>
      <vt:lpstr>Alternative differential expression methods</vt:lpstr>
      <vt:lpstr>‘FPKM/TPM’ expression estimates vs. ‘raw’ counts</vt:lpstr>
      <vt:lpstr>Multiple approaches advisable</vt:lpstr>
      <vt:lpstr>Lessons learned from microarray days</vt:lpstr>
      <vt:lpstr>Multiple testing correction</vt:lpstr>
      <vt:lpstr>Downstream interpretation of expression analysis</vt:lpstr>
      <vt:lpstr>HISAT2/StringTie/Ballgown RNA-seq Pipeline</vt:lpstr>
      <vt:lpstr>HISAT2/htseq/DESeq2 RNA-seq Pipeline</vt:lpstr>
      <vt:lpstr>Coffee Break &amp; Networking Session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Nia Hughes</dc:creator>
  <cp:lastModifiedBy>Griffith, Obi</cp:lastModifiedBy>
  <cp:revision>4</cp:revision>
  <dcterms:created xsi:type="dcterms:W3CDTF">2025-05-15T14:28:53Z</dcterms:created>
  <dcterms:modified xsi:type="dcterms:W3CDTF">2026-06-19T18:44:50Z</dcterms:modified>
</cp:coreProperties>
</file>