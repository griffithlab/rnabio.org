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2"/>
  </p:sldMasterIdLst>
  <p:notesMasterIdLst>
    <p:notesMasterId r:id="rId10"/>
  </p:notesMasterIdLst>
  <p:sldIdLst>
    <p:sldId id="256" r:id="rId3"/>
    <p:sldId id="257" r:id="rId4"/>
    <p:sldId id="585" r:id="rId5"/>
    <p:sldId id="582" r:id="rId6"/>
    <p:sldId id="583" r:id="rId7"/>
    <p:sldId id="579" r:id="rId8"/>
    <p:sldId id="261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hVbweRC3svyl4ieGmmriuc70gD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21" Type="http://customschemas.google.com/relationships/presentationmetadata" Target="metadata"/><Relationship Id="rId7" Type="http://schemas.openxmlformats.org/officeDocument/2006/relationships/slide" Target="slides/slide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23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8"/>
          <p:cNvSpPr txBox="1">
            <a:spLocks noGrp="1"/>
          </p:cNvSpPr>
          <p:nvPr>
            <p:ph type="ctrTitle"/>
          </p:nvPr>
        </p:nvSpPr>
        <p:spPr>
          <a:xfrm>
            <a:off x="2548581" y="2505673"/>
            <a:ext cx="7094838" cy="1026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Helvetica Neue Light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subTitle" idx="1"/>
          </p:nvPr>
        </p:nvSpPr>
        <p:spPr>
          <a:xfrm>
            <a:off x="3690730" y="3532213"/>
            <a:ext cx="4810539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Helvetica Neue"/>
              <a:buNone/>
              <a:defRPr sz="6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Helvetica Neue Light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7" name="Google Shape;37;p1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Helvetica Neue Ligh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Helvetica Neue Ligh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2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4393F"/>
            </a:gs>
            <a:gs pos="45000">
              <a:srgbClr val="70247F"/>
            </a:gs>
            <a:gs pos="100000">
              <a:srgbClr val="B40805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  <a:defRPr sz="4400" b="0" i="0" u="none" strike="noStrike" cap="non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/>
          <p:nvPr/>
        </p:nvSpPr>
        <p:spPr>
          <a:xfrm>
            <a:off x="0" y="6492874"/>
            <a:ext cx="12192000" cy="365126"/>
          </a:xfrm>
          <a:prstGeom prst="rect">
            <a:avLst/>
          </a:prstGeom>
          <a:solidFill>
            <a:srgbClr val="7024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Helvetica Neue Light"/>
              <a:buNone/>
              <a:defRPr sz="4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9"/>
          <p:cNvSpPr txBox="1"/>
          <p:nvPr/>
        </p:nvSpPr>
        <p:spPr>
          <a:xfrm>
            <a:off x="0" y="6521547"/>
            <a:ext cx="481053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Canadian Bioinformatics Workshops | bioinformatics.ca</a:t>
            </a:r>
            <a:endParaRPr sz="1400" b="0" i="0">
              <a:solidFill>
                <a:schemeClr val="lt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20" name="Google Shape;20;p9" descr="Purple circles on a black background&#10;&#10;AI-generated content may be incorrect.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1352340" y="0"/>
            <a:ext cx="839659" cy="839659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mbio.org/" TargetMode="External"/><Relationship Id="rId13" Type="http://schemas.openxmlformats.org/officeDocument/2006/relationships/hyperlink" Target="http://vatools.org/" TargetMode="External"/><Relationship Id="rId18" Type="http://schemas.openxmlformats.org/officeDocument/2006/relationships/image" Target="../media/image11.jpg"/><Relationship Id="rId3" Type="http://schemas.openxmlformats.org/officeDocument/2006/relationships/image" Target="../media/image5.jpg"/><Relationship Id="rId21" Type="http://schemas.openxmlformats.org/officeDocument/2006/relationships/image" Target="../media/image14.png"/><Relationship Id="rId7" Type="http://schemas.openxmlformats.org/officeDocument/2006/relationships/hyperlink" Target="http://www.genviz.org/" TargetMode="External"/><Relationship Id="rId12" Type="http://schemas.openxmlformats.org/officeDocument/2006/relationships/hyperlink" Target="http://regtools.org/" TargetMode="External"/><Relationship Id="rId17" Type="http://schemas.openxmlformats.org/officeDocument/2006/relationships/image" Target="../media/image10.jpeg"/><Relationship Id="rId2" Type="http://schemas.openxmlformats.org/officeDocument/2006/relationships/image" Target="../media/image4.jpg"/><Relationship Id="rId16" Type="http://schemas.openxmlformats.org/officeDocument/2006/relationships/image" Target="../media/image9.png"/><Relationship Id="rId20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://www.rnabio.org/" TargetMode="External"/><Relationship Id="rId11" Type="http://schemas.openxmlformats.org/officeDocument/2006/relationships/hyperlink" Target="http://dgidb.org/" TargetMode="External"/><Relationship Id="rId5" Type="http://schemas.openxmlformats.org/officeDocument/2006/relationships/hyperlink" Target="http://www.griffithlab.org/" TargetMode="External"/><Relationship Id="rId15" Type="http://schemas.openxmlformats.org/officeDocument/2006/relationships/image" Target="../media/image8.png"/><Relationship Id="rId10" Type="http://schemas.openxmlformats.org/officeDocument/2006/relationships/hyperlink" Target="https://pvactools.org/" TargetMode="External"/><Relationship Id="rId19" Type="http://schemas.openxmlformats.org/officeDocument/2006/relationships/image" Target="../media/image12.jpg"/><Relationship Id="rId4" Type="http://schemas.openxmlformats.org/officeDocument/2006/relationships/image" Target="../media/image6.png"/><Relationship Id="rId9" Type="http://schemas.openxmlformats.org/officeDocument/2006/relationships/hyperlink" Target="https://civicdb.org/" TargetMode="External"/><Relationship Id="rId14" Type="http://schemas.openxmlformats.org/officeDocument/2006/relationships/image" Target="../media/image7.gi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4393F"/>
            </a:gs>
            <a:gs pos="24000">
              <a:srgbClr val="70247F"/>
            </a:gs>
            <a:gs pos="100000">
              <a:srgbClr val="B40805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"/>
          <p:cNvSpPr txBox="1">
            <a:spLocks noGrp="1"/>
          </p:cNvSpPr>
          <p:nvPr>
            <p:ph type="subTitle" idx="1"/>
          </p:nvPr>
        </p:nvSpPr>
        <p:spPr>
          <a:xfrm>
            <a:off x="6801238" y="3429000"/>
            <a:ext cx="4567235" cy="781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en-US" sz="4400" b="1">
                <a:latin typeface="Helvetica Neue"/>
                <a:ea typeface="Helvetica Neue"/>
                <a:cs typeface="Helvetica Neue"/>
                <a:sym typeface="Helvetica Neue"/>
              </a:rPr>
              <a:t>bioinformatics.ca</a:t>
            </a:r>
            <a:endParaRPr/>
          </a:p>
        </p:txBody>
      </p:sp>
      <p:pic>
        <p:nvPicPr>
          <p:cNvPr id="72" name="Google Shape;72;p1" descr="A logo with white dots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 l="12297" r="12122"/>
          <a:stretch/>
        </p:blipFill>
        <p:spPr>
          <a:xfrm>
            <a:off x="670379" y="1341316"/>
            <a:ext cx="5766816" cy="3815097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"/>
          <p:cNvSpPr txBox="1"/>
          <p:nvPr/>
        </p:nvSpPr>
        <p:spPr>
          <a:xfrm>
            <a:off x="6648092" y="4210755"/>
            <a:ext cx="4873529" cy="4161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bioinformaticsdotca.github.io</a:t>
            </a:r>
            <a:endParaRPr/>
          </a:p>
        </p:txBody>
      </p:sp>
      <p:sp>
        <p:nvSpPr>
          <p:cNvPr id="74" name="Google Shape;74;p1"/>
          <p:cNvSpPr txBox="1"/>
          <p:nvPr/>
        </p:nvSpPr>
        <p:spPr>
          <a:xfrm>
            <a:off x="10523913" y="465513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85493" y="271515"/>
            <a:ext cx="4021014" cy="60336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6400" y="44624"/>
            <a:ext cx="8839200" cy="648072"/>
          </a:xfrm>
        </p:spPr>
        <p:txBody>
          <a:bodyPr/>
          <a:lstStyle/>
          <a:p>
            <a:r>
              <a:rPr lang="en-US" sz="3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Introductions to </a:t>
            </a:r>
            <a:r>
              <a:rPr lang="en-US" sz="32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RNAseq</a:t>
            </a:r>
            <a:r>
              <a:rPr lang="en-US" sz="3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instructors</a:t>
            </a:r>
          </a:p>
        </p:txBody>
      </p:sp>
      <p:pic>
        <p:nvPicPr>
          <p:cNvPr id="8" name="Picture 7" descr="MalachiGriffith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586" y="852590"/>
            <a:ext cx="1504063" cy="1671180"/>
          </a:xfrm>
          <a:prstGeom prst="ellipse">
            <a:avLst/>
          </a:prstGeom>
        </p:spPr>
      </p:pic>
      <p:pic>
        <p:nvPicPr>
          <p:cNvPr id="9" name="Picture 8" descr="ObiGriffith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313"/>
          <a:stretch>
            <a:fillRect/>
          </a:stretch>
        </p:blipFill>
        <p:spPr>
          <a:xfrm>
            <a:off x="2647722" y="836712"/>
            <a:ext cx="1504062" cy="1595323"/>
          </a:xfrm>
          <a:prstGeom prst="ellipse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1939" y="2502912"/>
            <a:ext cx="2413355" cy="854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Malachi Griffith</a:t>
            </a:r>
            <a:b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Professor of Medicine</a:t>
            </a:r>
            <a:br>
              <a:rPr lang="en-US" sz="1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Professor of Genetics</a:t>
            </a:r>
          </a:p>
          <a:p>
            <a:pPr algn="ctr"/>
            <a:r>
              <a:rPr lang="en-US" sz="1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Assistant Director, MGI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1873" y="2502912"/>
            <a:ext cx="2147637" cy="854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Obi Griffith</a:t>
            </a:r>
          </a:p>
          <a:p>
            <a:pPr algn="ctr"/>
            <a:r>
              <a:rPr lang="en-US" sz="1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Professor of Medicine</a:t>
            </a:r>
            <a:br>
              <a:rPr lang="en-US" sz="1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Professor of Genetics</a:t>
            </a:r>
          </a:p>
          <a:p>
            <a:pPr algn="ctr"/>
            <a:r>
              <a:rPr lang="en-US" sz="1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Assistant Director, MGI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2A286-F53C-9F44-96AA-03E0C86F55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697" y="3501008"/>
            <a:ext cx="3240360" cy="6785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82E6C50-C9F1-204F-9954-3A2E9FD467C3}"/>
              </a:ext>
            </a:extLst>
          </p:cNvPr>
          <p:cNvSpPr txBox="1"/>
          <p:nvPr/>
        </p:nvSpPr>
        <p:spPr>
          <a:xfrm>
            <a:off x="-24680" y="4221088"/>
            <a:ext cx="47784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  <a:hlinkClick r:id="rId5"/>
              </a:rPr>
              <a:t>griffithlab.org</a:t>
            </a:r>
            <a:endPara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algn="ctr"/>
            <a:r>
              <a:rPr lang="en-US" sz="18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  <a:hlinkClick r:id="rId6"/>
              </a:rPr>
              <a:t>rnabio.org</a:t>
            </a:r>
            <a:r>
              <a:rPr lang="en-US" sz="18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</a:t>
            </a:r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  <a:hlinkClick r:id="rId7"/>
              </a:rPr>
              <a:t>genviz.org</a:t>
            </a:r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</a:t>
            </a:r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  <a:hlinkClick r:id="rId8"/>
              </a:rPr>
              <a:t>pmbio.org</a:t>
            </a:r>
            <a:endPara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algn="ctr"/>
            <a:r>
              <a:rPr lang="en-US" sz="18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  <a:hlinkClick r:id="rId9"/>
              </a:rPr>
              <a:t>civicdb.org</a:t>
            </a:r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</a:t>
            </a:r>
            <a:r>
              <a:rPr lang="en-US" sz="18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  <a:hlinkClick r:id="rId10"/>
              </a:rPr>
              <a:t>pvactools.org</a:t>
            </a:r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</a:t>
            </a:r>
            <a:r>
              <a:rPr lang="en-US" sz="18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  <a:hlinkClick r:id="rId11"/>
              </a:rPr>
              <a:t>dgidb.org</a:t>
            </a:r>
            <a:endPara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algn="ctr"/>
            <a:r>
              <a:rPr lang="en-US" sz="18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  <a:hlinkClick r:id="rId12"/>
              </a:rPr>
              <a:t>regtools.org</a:t>
            </a:r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</a:t>
            </a:r>
            <a:r>
              <a:rPr lang="en-US" sz="18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  <a:hlinkClick r:id="rId13"/>
              </a:rPr>
              <a:t>vatools.org</a:t>
            </a:r>
            <a:endPara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D647F2E-2160-114E-B90D-D382568A25B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030" y="5301208"/>
            <a:ext cx="3534528" cy="1095978"/>
          </a:xfrm>
          <a:prstGeom prst="rect">
            <a:avLst/>
          </a:prstGeom>
        </p:spPr>
      </p:pic>
      <p:pic>
        <p:nvPicPr>
          <p:cNvPr id="16" name="Google Shape;97;p5">
            <a:extLst>
              <a:ext uri="{FF2B5EF4-FFF2-40B4-BE49-F238E27FC236}">
                <a16:creationId xmlns:a16="http://schemas.microsoft.com/office/drawing/2014/main" id="{C22B3B4A-CE50-5044-8C06-929A87208C24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522500" y="5065452"/>
            <a:ext cx="1496701" cy="107717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0FFF3B7-638B-4946-ABCF-7FC6DEBB6E1D}"/>
              </a:ext>
            </a:extLst>
          </p:cNvPr>
          <p:cNvSpPr txBox="1"/>
          <p:nvPr/>
        </p:nvSpPr>
        <p:spPr>
          <a:xfrm>
            <a:off x="6612659" y="5003884"/>
            <a:ext cx="2147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Isabel </a:t>
            </a:r>
            <a:r>
              <a:rPr lang="en-US" sz="18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Risch</a:t>
            </a:r>
            <a:endParaRPr lang="en-US" sz="18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DA4968-8DA1-E245-A982-23E0A25AC84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4059" y="3563724"/>
            <a:ext cx="1252271" cy="1440112"/>
          </a:xfrm>
          <a:prstGeom prst="ellipse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7E41054-C85B-E847-9B65-53321D2EA15B}"/>
              </a:ext>
            </a:extLst>
          </p:cNvPr>
          <p:cNvSpPr txBox="1"/>
          <p:nvPr/>
        </p:nvSpPr>
        <p:spPr>
          <a:xfrm>
            <a:off x="5041086" y="5003884"/>
            <a:ext cx="15715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Zhibin</a:t>
            </a:r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Lu</a:t>
            </a:r>
          </a:p>
        </p:txBody>
      </p:sp>
      <p:pic>
        <p:nvPicPr>
          <p:cNvPr id="6" name="Picture 5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D809D737-A41C-DB52-FF55-CB51C924194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7303" y="3553263"/>
            <a:ext cx="1440112" cy="1440112"/>
          </a:xfrm>
          <a:prstGeom prst="ellipse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9B4E565-3E23-2104-B8F7-7022ADBC7B0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48" r="8448"/>
          <a:stretch/>
        </p:blipFill>
        <p:spPr>
          <a:xfrm>
            <a:off x="5227901" y="1362851"/>
            <a:ext cx="1203758" cy="1370247"/>
          </a:xfrm>
          <a:prstGeom prst="ellipse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BAAC268-E31B-178C-4DE2-EA0879EE99FE}"/>
              </a:ext>
            </a:extLst>
          </p:cNvPr>
          <p:cNvSpPr txBox="1"/>
          <p:nvPr/>
        </p:nvSpPr>
        <p:spPr>
          <a:xfrm>
            <a:off x="4956475" y="2762916"/>
            <a:ext cx="16912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Diogo Pellegrina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E46AF0-2E1D-82C5-148E-5E7F8273CFEA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31" b="6631"/>
          <a:stretch/>
        </p:blipFill>
        <p:spPr>
          <a:xfrm>
            <a:off x="7052058" y="1393023"/>
            <a:ext cx="1286895" cy="1286895"/>
          </a:xfrm>
          <a:prstGeom prst="ellipse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7E9D434-18BD-ECC9-A39D-8C0976709E0B}"/>
              </a:ext>
            </a:extLst>
          </p:cNvPr>
          <p:cNvSpPr txBox="1"/>
          <p:nvPr/>
        </p:nvSpPr>
        <p:spPr>
          <a:xfrm>
            <a:off x="6828683" y="2709736"/>
            <a:ext cx="16912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Alyona Ivanova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C54DFF7-2C5E-95F0-C023-CD648C37BCC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010406" y="1352309"/>
            <a:ext cx="2520888" cy="168059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42C48A-834B-5DAC-EA29-307B809B03C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348132" y="2961740"/>
            <a:ext cx="1790902" cy="39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04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9F7C8-464C-1340-A041-0A03F3FD1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Introduction to course – philosophy and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81B26-1E7E-7B40-81E7-5F8F8FBCA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en-US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 “the bioinformatics” for someone, and you help them for a day. Teach someone to do bioinformatics, and you help them for a lifetime.</a:t>
            </a:r>
          </a:p>
          <a:p>
            <a:pPr marL="0" indent="0" algn="r">
              <a:buNone/>
            </a:pPr>
            <a:r>
              <a:rPr lang="en-US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- Ancient Chinese proverb</a:t>
            </a:r>
          </a:p>
          <a:p>
            <a:endParaRPr lang="en-US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Course goals</a:t>
            </a:r>
          </a:p>
          <a:p>
            <a:pPr lvl="1"/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Learn concepts and develop skills for sequence analysis</a:t>
            </a:r>
          </a:p>
          <a:p>
            <a:pPr lvl="1"/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Build the foundation for tackling your own analysis challenges</a:t>
            </a:r>
          </a:p>
          <a:p>
            <a:pPr lvl="1"/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Learn to think like a bioinformatician</a:t>
            </a:r>
          </a:p>
          <a:p>
            <a:pPr lvl="1"/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Have fun</a:t>
            </a:r>
          </a:p>
        </p:txBody>
      </p:sp>
    </p:spTree>
    <p:extLst>
      <p:ext uri="{BB962C8B-B14F-4D97-AF65-F5344CB8AC3E}">
        <p14:creationId xmlns:p14="http://schemas.microsoft.com/office/powerpoint/2010/main" val="46028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D3AF-EEB6-2448-BCD4-FCA3CA1C4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Course format for a typical 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1C395-B60A-F44C-876E-337B8CAFF9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423926"/>
            <a:ext cx="11785600" cy="4724400"/>
          </a:xfrm>
        </p:spPr>
        <p:txBody>
          <a:bodyPr/>
          <a:lstStyle/>
          <a:p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Lecture</a:t>
            </a:r>
          </a:p>
          <a:p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BREAK</a:t>
            </a:r>
          </a:p>
          <a:p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Practical exercises</a:t>
            </a:r>
          </a:p>
          <a:p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Lunch</a:t>
            </a:r>
          </a:p>
          <a:p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Practical exercises</a:t>
            </a:r>
          </a:p>
          <a:p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BREAK</a:t>
            </a:r>
          </a:p>
          <a:p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Practical exercises</a:t>
            </a:r>
          </a:p>
          <a:p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Wrap-up and Q&amp;A</a:t>
            </a:r>
          </a:p>
        </p:txBody>
      </p:sp>
    </p:spTree>
    <p:extLst>
      <p:ext uri="{BB962C8B-B14F-4D97-AF65-F5344CB8AC3E}">
        <p14:creationId xmlns:p14="http://schemas.microsoft.com/office/powerpoint/2010/main" val="3541161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6400" y="-27384"/>
            <a:ext cx="8839200" cy="792088"/>
          </a:xfrm>
        </p:spPr>
        <p:txBody>
          <a:bodyPr/>
          <a:lstStyle/>
          <a:p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Student poll (respond in slack)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1384" y="836712"/>
            <a:ext cx="9964216" cy="5300464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Not counting the pre-requisites and materials for this course:</a:t>
            </a:r>
          </a:p>
          <a:p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 you consider yourself a bioinformatician? Computational biologist?</a:t>
            </a:r>
          </a:p>
          <a:p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Are you familiar with </a:t>
            </a:r>
            <a:r>
              <a:rPr lang="en-US" sz="20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linux</a:t>
            </a:r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/command line?</a:t>
            </a:r>
          </a:p>
          <a:p>
            <a:pPr lvl="1"/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Intermediate? </a:t>
            </a:r>
          </a:p>
          <a:p>
            <a:pPr lvl="1"/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Expert?</a:t>
            </a:r>
          </a:p>
          <a:p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 you sometimes write code?</a:t>
            </a:r>
          </a:p>
          <a:p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Are you familiar with R?</a:t>
            </a:r>
          </a:p>
          <a:p>
            <a:pPr lvl="1"/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Intermediate?</a:t>
            </a:r>
          </a:p>
          <a:p>
            <a:pPr lvl="1"/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Expert?</a:t>
            </a:r>
          </a:p>
          <a:p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 you use git/</a:t>
            </a:r>
            <a:r>
              <a:rPr lang="en-US" sz="20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github</a:t>
            </a:r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?</a:t>
            </a:r>
          </a:p>
          <a:p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organism do you work with? (Put an animal emoji in slack)</a:t>
            </a:r>
          </a:p>
          <a:p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Are you interested in bulk </a:t>
            </a:r>
            <a:r>
              <a:rPr lang="en-US" sz="20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RNAseq</a:t>
            </a:r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</a:t>
            </a:r>
            <a:r>
              <a:rPr lang="en-US" sz="20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scRNAseq</a:t>
            </a:r>
            <a:r>
              <a:rPr lang="en-US" sz="2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, or both?</a:t>
            </a:r>
          </a:p>
        </p:txBody>
      </p:sp>
    </p:spTree>
    <p:extLst>
      <p:ext uri="{BB962C8B-B14F-4D97-AF65-F5344CB8AC3E}">
        <p14:creationId xmlns:p14="http://schemas.microsoft.com/office/powerpoint/2010/main" val="244493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6"/>
          <p:cNvSpPr txBox="1"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Helvetica Neue Light"/>
              <a:buNone/>
            </a:pPr>
            <a: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Coffee Break &amp; Networking Session</a:t>
            </a:r>
            <a:endParaRPr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7" name="Google Shape;107;p6"/>
          <p:cNvSpPr txBox="1">
            <a:spLocks noGrp="1"/>
          </p:cNvSpPr>
          <p:nvPr>
            <p:ph type="body" idx="1"/>
          </p:nvPr>
        </p:nvSpPr>
        <p:spPr>
          <a:xfrm>
            <a:off x="4386262" y="4511675"/>
            <a:ext cx="3419475" cy="517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0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Workshop Sponsors</a:t>
            </a:r>
            <a:endParaRPr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108" name="Google Shape;108;p6" title="cih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10652" y="5262657"/>
            <a:ext cx="3500780" cy="8337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6" title="oicr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24569" y="5223333"/>
            <a:ext cx="1256757" cy="912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6" title="genomecanada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90215" y="5262645"/>
            <a:ext cx="1724888" cy="8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6" title="ontariogenomic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91450" y="5288156"/>
            <a:ext cx="1956783" cy="7827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1_Custom Design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262</Words>
  <Application>Microsoft Macintosh PowerPoint</Application>
  <PresentationFormat>Widescreen</PresentationFormat>
  <Paragraphs>51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Helvetica Neue</vt:lpstr>
      <vt:lpstr>Helvetica Neue Light</vt:lpstr>
      <vt:lpstr>Arial</vt:lpstr>
      <vt:lpstr>1_Custom Design</vt:lpstr>
      <vt:lpstr>Office Theme</vt:lpstr>
      <vt:lpstr>PowerPoint Presentation</vt:lpstr>
      <vt:lpstr>PowerPoint Presentation</vt:lpstr>
      <vt:lpstr>Introductions to RNAseq instructors</vt:lpstr>
      <vt:lpstr>Introduction to course – philosophy and goals</vt:lpstr>
      <vt:lpstr>Course format for a typical day</vt:lpstr>
      <vt:lpstr>Student poll (respond in slack)</vt:lpstr>
      <vt:lpstr>Coffee Break &amp; Networking Session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Nia Hughes</dc:creator>
  <cp:lastModifiedBy>Griffith, Obi</cp:lastModifiedBy>
  <cp:revision>1</cp:revision>
  <dcterms:created xsi:type="dcterms:W3CDTF">2025-05-15T14:28:53Z</dcterms:created>
  <dcterms:modified xsi:type="dcterms:W3CDTF">2026-06-19T18:57:29Z</dcterms:modified>
</cp:coreProperties>
</file>