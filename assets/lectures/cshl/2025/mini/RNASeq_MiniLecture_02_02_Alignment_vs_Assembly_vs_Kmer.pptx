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7"/>
  </p:notesMasterIdLst>
  <p:sldIdLst>
    <p:sldId id="517" r:id="rId2"/>
    <p:sldId id="262" r:id="rId3"/>
    <p:sldId id="264" r:id="rId4"/>
    <p:sldId id="266" r:id="rId5"/>
    <p:sldId id="51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BD9F9-8452-A342-BB1B-28ECF19E2CC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65747-E6F5-D94A-981D-658B04DED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6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15875-1AE6-CC48-9CDA-83B4DB9E01BD}"/>
              </a:ext>
            </a:extLst>
          </p:cNvPr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9" name="Picture 7" descr="cshl_logo_alternate rgb.png">
            <a:extLst>
              <a:ext uri="{FF2B5EF4-FFF2-40B4-BE49-F238E27FC236}">
                <a16:creationId xmlns:a16="http://schemas.microsoft.com/office/drawing/2014/main" id="{2ABB33F8-A05E-3547-922B-CE0D69252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4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7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59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1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4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0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769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43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8FB569-0485-8045-BFD7-167815E77336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Segoe UI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C1412E-69E1-864D-A0DF-94DDC7C8003B}" type="slidenum">
              <a:rPr lang="en-US" sz="900" smtClean="0"/>
              <a:pPr>
                <a:defRPr/>
              </a:pPr>
              <a:t>‹#›</a:t>
            </a:fld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306AE-18A0-4C44-8452-FDAD4CEC049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81E6-F19D-9E4F-A613-5717CEE394C4}"/>
              </a:ext>
            </a:extLst>
          </p:cNvPr>
          <p:cNvSpPr txBox="1"/>
          <p:nvPr userDrawn="1"/>
        </p:nvSpPr>
        <p:spPr>
          <a:xfrm>
            <a:off x="9721408" y="6447904"/>
            <a:ext cx="23622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5D193-BF70-C04D-ACCD-2D3C430B970A}"/>
              </a:ext>
            </a:extLst>
          </p:cNvPr>
          <p:cNvSpPr txBox="1"/>
          <p:nvPr userDrawn="1"/>
        </p:nvSpPr>
        <p:spPr>
          <a:xfrm>
            <a:off x="5867412" y="6447904"/>
            <a:ext cx="4571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80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1EB652-D19B-3146-BD1E-BFCBA6FE97A3}"/>
              </a:ext>
            </a:extLst>
          </p:cNvPr>
          <p:cNvSpPr txBox="1">
            <a:spLocks/>
          </p:cNvSpPr>
          <p:nvPr/>
        </p:nvSpPr>
        <p:spPr>
          <a:xfrm>
            <a:off x="2867887" y="141514"/>
            <a:ext cx="9144000" cy="131418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  <a:t>RNA-Seq Module 2:</a:t>
            </a:r>
            <a:b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</a:br>
            <a: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  <a:t>Alignment vs Assembly vs Pseudoalignment</a:t>
            </a:r>
            <a:endParaRPr lang="en-US" sz="2800" b="1" dirty="0">
              <a:solidFill>
                <a:schemeClr val="bg1"/>
              </a:solidFill>
              <a:latin typeface="Calibri" charset="0"/>
              <a:cs typeface="Segoe UI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FC6A5E-CEB4-014E-BCFA-E9E6507C96B4}"/>
              </a:ext>
            </a:extLst>
          </p:cNvPr>
          <p:cNvSpPr/>
          <p:nvPr/>
        </p:nvSpPr>
        <p:spPr>
          <a:xfrm>
            <a:off x="0" y="2522835"/>
            <a:ext cx="12192000" cy="388954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Calibri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E99539-0AC7-2447-A13C-1C37026DB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" y="2890275"/>
            <a:ext cx="3128830" cy="3128830"/>
          </a:xfrm>
          <a:prstGeom prst="rect">
            <a:avLst/>
          </a:prstGeom>
        </p:spPr>
      </p:pic>
      <p:pic>
        <p:nvPicPr>
          <p:cNvPr id="18" name="Picture 1" descr="RNA-Seq-alignment.png">
            <a:extLst>
              <a:ext uri="{FF2B5EF4-FFF2-40B4-BE49-F238E27FC236}">
                <a16:creationId xmlns:a16="http://schemas.microsoft.com/office/drawing/2014/main" id="{B27B40BB-C7AE-A641-A466-C46EFEB06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51" y="2888092"/>
            <a:ext cx="3271336" cy="31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52CE828-0AAA-214F-866C-6B6CBD9C64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1" y="3731538"/>
            <a:ext cx="5263149" cy="163198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AC5D815-A0A8-1A01-1CB8-04B1188052F7}"/>
              </a:ext>
            </a:extLst>
          </p:cNvPr>
          <p:cNvSpPr txBox="1">
            <a:spLocks/>
          </p:cNvSpPr>
          <p:nvPr/>
        </p:nvSpPr>
        <p:spPr>
          <a:xfrm>
            <a:off x="3647728" y="1219199"/>
            <a:ext cx="8468072" cy="1161346"/>
          </a:xfrm>
          <a:prstGeom prst="rect">
            <a:avLst/>
          </a:prstGeom>
        </p:spPr>
        <p:txBody>
          <a:bodyPr anchor="ctr"/>
          <a:lstStyle>
            <a:lvl1pPr algn="r">
              <a:defRPr sz="3200" baseline="0">
                <a:solidFill>
                  <a:schemeClr val="bg1"/>
                </a:solidFill>
                <a:latin typeface="Adobe Jenson Pro" pitchFamily="18" charset="0"/>
              </a:defRPr>
            </a:lvl1pPr>
          </a:lstStyle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Felicia Gomez, </a:t>
            </a:r>
            <a:r>
              <a:rPr lang="en-US" sz="1800" dirty="0" err="1">
                <a:latin typeface="Calibri"/>
                <a:cs typeface="Calibri"/>
              </a:rPr>
              <a:t>Charlz</a:t>
            </a:r>
            <a:r>
              <a:rPr lang="en-US" sz="1800" dirty="0">
                <a:latin typeface="Calibri"/>
                <a:cs typeface="Calibri"/>
              </a:rPr>
              <a:t> Jerold, Obi Griffith, Malachi Griffith, 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My Hoang, Mariam Khanfar, Chris Miller, Kartik Singhal, Jennie Yao </a:t>
            </a:r>
          </a:p>
          <a:p>
            <a:pPr>
              <a:defRPr/>
            </a:pPr>
            <a:r>
              <a:rPr lang="en-US" sz="18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Advanced Sequencing Technologies &amp; Bioinformatics Analysis </a:t>
            </a:r>
            <a:r>
              <a:rPr lang="en-US" sz="16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November 10-21, 2025</a:t>
            </a:r>
          </a:p>
        </p:txBody>
      </p:sp>
    </p:spTree>
    <p:extLst>
      <p:ext uri="{BB962C8B-B14F-4D97-AF65-F5344CB8AC3E}">
        <p14:creationId xmlns:p14="http://schemas.microsoft.com/office/powerpoint/2010/main" val="177109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11850"/>
            <a:ext cx="11684000" cy="949695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Alignment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5D69118-F980-4445-A15D-D1AD23AC1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1111721"/>
            <a:ext cx="9902952" cy="49498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Uses a reference genome/transcriptome to map reads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Capable of some novel transcript inference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Relatively fast runtime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Tools: HISAT2, STAR, GSNAP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B346A8B-CAEA-554D-B217-85CB5F9022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29" b="76561"/>
          <a:stretch/>
        </p:blipFill>
        <p:spPr>
          <a:xfrm>
            <a:off x="5109464" y="3636242"/>
            <a:ext cx="6879336" cy="2312461"/>
          </a:xfrm>
          <a:prstGeom prst="rect">
            <a:avLst/>
          </a:prstGeom>
        </p:spPr>
      </p:pic>
      <p:sp>
        <p:nvSpPr>
          <p:cNvPr id="28" name="TextBox 4">
            <a:extLst>
              <a:ext uri="{FF2B5EF4-FFF2-40B4-BE49-F238E27FC236}">
                <a16:creationId xmlns:a16="http://schemas.microsoft.com/office/drawing/2014/main" id="{5AFEB9DE-982C-574C-87C9-AE0E2A683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296" y="6061546"/>
            <a:ext cx="41764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Kim et al. 2015. Nat Methods 12:357–360 </a:t>
            </a:r>
          </a:p>
        </p:txBody>
      </p:sp>
    </p:spTree>
    <p:extLst>
      <p:ext uri="{BB962C8B-B14F-4D97-AF65-F5344CB8AC3E}">
        <p14:creationId xmlns:p14="http://schemas.microsoft.com/office/powerpoint/2010/main" val="2013802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11850"/>
            <a:ext cx="11684000" cy="949695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Assembly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98E2D7-EC46-2A45-9812-69336E1E3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315" y="294730"/>
            <a:ext cx="4575329" cy="5763244"/>
          </a:xfrm>
          <a:prstGeom prst="rect">
            <a:avLst/>
          </a:prstGeom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5D69118-F980-4445-A15D-D1AD23AC1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1111721"/>
            <a:ext cx="5123688" cy="49498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Infer transcript structure directly from the data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Useful when you do not have a reference sequence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Other uses – highly rearranged genomes (some cancers)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Computationally expensive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Tools: Trinity, Velvet, </a:t>
            </a:r>
            <a:r>
              <a:rPr lang="en-US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SPAdes</a:t>
            </a:r>
            <a:endParaRPr lang="en-US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128747-9506-4749-94BB-23A91E79761A}"/>
              </a:ext>
            </a:extLst>
          </p:cNvPr>
          <p:cNvSpPr txBox="1"/>
          <p:nvPr/>
        </p:nvSpPr>
        <p:spPr>
          <a:xfrm>
            <a:off x="7243062" y="6057974"/>
            <a:ext cx="4552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" sz="1400" dirty="0"/>
              <a:t>Haas, et al (2013) doi: 10.1038/nprot.2013.084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1895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11850"/>
            <a:ext cx="11684000" cy="949695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Pseudoalignment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5D69118-F980-4445-A15D-D1AD23AC1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1111721"/>
            <a:ext cx="5123688" cy="49498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Does not determine where in the genome a read lies, only which transcripts it is compatible with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Very fast!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Does not produce a bam by default (though pseudo-</a:t>
            </a:r>
            <a:r>
              <a:rPr lang="en-US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bams</a:t>
            </a: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can be created), not useful for variant detection.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Tools: </a:t>
            </a:r>
            <a:r>
              <a:rPr lang="en-US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Kallisto</a:t>
            </a: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, Sailfish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CAD46F-D1C4-FE45-A50B-7BF109E34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78" y="958850"/>
            <a:ext cx="5975322" cy="27475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0C8D58-673E-6E47-89D7-061E9EB57ECC}"/>
              </a:ext>
            </a:extLst>
          </p:cNvPr>
          <p:cNvSpPr/>
          <p:nvPr/>
        </p:nvSpPr>
        <p:spPr>
          <a:xfrm>
            <a:off x="5152898" y="5529818"/>
            <a:ext cx="68681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Bray, 2016  doi:10.1038/nbt.3519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https://</a:t>
            </a:r>
            <a:r>
              <a:rPr lang="en-US" sz="1400" dirty="0" err="1"/>
              <a:t>tinyheero.github.io</a:t>
            </a:r>
            <a:r>
              <a:rPr lang="en-US" sz="1400" dirty="0"/>
              <a:t>/2015/09/02/pseudoalignments-</a:t>
            </a:r>
            <a:r>
              <a:rPr lang="en-US" sz="1400" dirty="0" err="1"/>
              <a:t>kallisto.html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8554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34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/>
              <a:t>We are on a Coffee Break &amp; Networking Session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186057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FC4E7CA-796F-DC46-8477-EB1B03D9751B}" vid="{7600C917-09B9-FA45-B59E-E0879212E2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0</TotalTime>
  <Words>214</Words>
  <Application>Microsoft Macintosh PowerPoint</Application>
  <PresentationFormat>Widescreen</PresentationFormat>
  <Paragraphs>25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Segoe UI</vt:lpstr>
      <vt:lpstr>1_Office Theme</vt:lpstr>
      <vt:lpstr>PowerPoint Presentation</vt:lpstr>
      <vt:lpstr>Alignment</vt:lpstr>
      <vt:lpstr>Assembly</vt:lpstr>
      <vt:lpstr>Pseudoalignment</vt:lpstr>
      <vt:lpstr>We are on a Coffee Break &amp; Networking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Gomez, Felicia</dc:creator>
  <cp:lastModifiedBy>Jennie Yao</cp:lastModifiedBy>
  <cp:revision>3</cp:revision>
  <dcterms:created xsi:type="dcterms:W3CDTF">2023-11-13T22:42:31Z</dcterms:created>
  <dcterms:modified xsi:type="dcterms:W3CDTF">2025-11-11T18:36:09Z</dcterms:modified>
</cp:coreProperties>
</file>