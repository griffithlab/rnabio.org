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6"/>
  </p:notesMasterIdLst>
  <p:sldIdLst>
    <p:sldId id="517" r:id="rId2"/>
    <p:sldId id="529" r:id="rId3"/>
    <p:sldId id="530" r:id="rId4"/>
    <p:sldId id="54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71301"/>
  </p:normalViewPr>
  <p:slideViewPr>
    <p:cSldViewPr snapToGrid="0" snapToObjects="1">
      <p:cViewPr varScale="1">
        <p:scale>
          <a:sx n="88" d="100"/>
          <a:sy n="88" d="100"/>
        </p:scale>
        <p:origin x="1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C65747-E6F5-D94A-981D-658B04DED6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8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recommend </a:t>
            </a:r>
            <a:r>
              <a:rPr lang="en-US" dirty="0" err="1"/>
              <a:t>intersection_strict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969550-FBCF-404B-9FAA-7B1DCDF2C4F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53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tseq.readthedocs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eqanswers.com/forums/showthread.php?t=1806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1EB652-D19B-3146-BD1E-BFCBA6FE97A3}"/>
              </a:ext>
            </a:extLst>
          </p:cNvPr>
          <p:cNvSpPr txBox="1">
            <a:spLocks/>
          </p:cNvSpPr>
          <p:nvPr/>
        </p:nvSpPr>
        <p:spPr>
          <a:xfrm>
            <a:off x="2915000" y="141514"/>
            <a:ext cx="9144000" cy="13141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RNA-Seq Module 3</a:t>
            </a:r>
            <a:b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</a:br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Abundance Estimation and Differential Expression</a:t>
            </a:r>
            <a:endParaRPr lang="en-US" sz="28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AB5ADE-E513-DF42-86C4-3D6C4B6F0DE7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1B4EC5-2163-754F-BB45-0B4F307C5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8" name="Picture 1" descr="RNA-Seq-alignment.png">
            <a:extLst>
              <a:ext uri="{FF2B5EF4-FFF2-40B4-BE49-F238E27FC236}">
                <a16:creationId xmlns:a16="http://schemas.microsoft.com/office/drawing/2014/main" id="{79365D22-94FE-2F45-A8C0-C3DC697DA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15FD68-F5E0-B64F-B423-ADB72752E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3DF2B1-34AD-CDCD-E306-5EA533CAC00F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28029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76400" y="-27384"/>
            <a:ext cx="8839200" cy="1143000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Alternatives to FPKM</a:t>
            </a: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1045029" y="1124744"/>
            <a:ext cx="10474036" cy="4983832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charset="0"/>
                <a:ea typeface="ＭＳ Ｐゴシック" charset="0"/>
              </a:rPr>
              <a:t>Raw read counts for differential expression analysis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Assign reads/fragments to defined genes/transcripts, get “raw counts”</a:t>
            </a:r>
          </a:p>
          <a:p>
            <a:pPr lvl="2"/>
            <a:r>
              <a:rPr lang="en-US" dirty="0">
                <a:latin typeface="Calibri" charset="0"/>
                <a:ea typeface="ＭＳ Ｐゴシック" charset="0"/>
              </a:rPr>
              <a:t>Transcript structures could still be defined by something like </a:t>
            </a:r>
            <a:r>
              <a:rPr lang="en-US" dirty="0" err="1">
                <a:latin typeface="Calibri" charset="0"/>
                <a:ea typeface="ＭＳ Ｐゴシック" charset="0"/>
              </a:rPr>
              <a:t>Stringtie</a:t>
            </a:r>
            <a:r>
              <a:rPr lang="en-US" dirty="0">
                <a:latin typeface="Calibri" charset="0"/>
                <a:ea typeface="ＭＳ Ｐゴシック" charset="0"/>
              </a:rPr>
              <a:t> 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 err="1">
                <a:latin typeface="Calibri" charset="0"/>
                <a:ea typeface="ＭＳ Ｐゴシック" charset="0"/>
              </a:rPr>
              <a:t>HTSeq</a:t>
            </a:r>
            <a:r>
              <a:rPr lang="en-US" dirty="0">
                <a:latin typeface="Calibri" charset="0"/>
                <a:ea typeface="ＭＳ Ｐゴシック" charset="0"/>
              </a:rPr>
              <a:t> (</a:t>
            </a:r>
            <a:r>
              <a:rPr lang="en-US" dirty="0" err="1">
                <a:latin typeface="Calibri" charset="0"/>
                <a:ea typeface="ＭＳ Ｐゴシック" charset="0"/>
              </a:rPr>
              <a:t>htseq</a:t>
            </a:r>
            <a:r>
              <a:rPr lang="en-US" dirty="0">
                <a:latin typeface="Calibri" charset="0"/>
                <a:ea typeface="ＭＳ Ｐゴシック" charset="0"/>
              </a:rPr>
              <a:t>-count)</a:t>
            </a:r>
          </a:p>
          <a:p>
            <a:pPr lvl="1"/>
            <a:r>
              <a:rPr lang="en-US" sz="2200" dirty="0">
                <a:latin typeface="Calibri" charset="0"/>
                <a:ea typeface="ＭＳ Ｐゴシック" charset="0"/>
                <a:hlinkClick r:id="rId3"/>
              </a:rPr>
              <a:t>https://htseq.readthedocs.io/</a:t>
            </a:r>
            <a:endParaRPr lang="en-US" sz="2200" dirty="0">
              <a:latin typeface="Calibri" charset="0"/>
              <a:ea typeface="ＭＳ Ｐゴシック" charset="0"/>
            </a:endParaRPr>
          </a:p>
          <a:p>
            <a:pPr marL="457200" lvl="1" indent="0">
              <a:buNone/>
            </a:pPr>
            <a:br>
              <a:rPr lang="en-US" sz="1600" dirty="0">
                <a:latin typeface="+mj-lt"/>
                <a:ea typeface="ＭＳ Ｐゴシック" charset="0"/>
              </a:rPr>
            </a:br>
            <a:br>
              <a:rPr lang="en-US" sz="2200" dirty="0">
                <a:latin typeface="Calibri" charset="0"/>
                <a:ea typeface="ＭＳ Ｐゴシック" charset="0"/>
              </a:rPr>
            </a:br>
            <a:endParaRPr lang="en-US" sz="2200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Caveats of ‘transcript’ analysis by </a:t>
            </a:r>
            <a:r>
              <a:rPr lang="en-US" dirty="0" err="1">
                <a:latin typeface="Calibri" charset="0"/>
                <a:ea typeface="ＭＳ Ｐゴシック" charset="0"/>
              </a:rPr>
              <a:t>htseq</a:t>
            </a:r>
            <a:r>
              <a:rPr lang="en-US" dirty="0">
                <a:latin typeface="Calibri" charset="0"/>
                <a:ea typeface="ＭＳ Ｐゴシック" charset="0"/>
              </a:rPr>
              <a:t>-count:</a:t>
            </a:r>
          </a:p>
          <a:p>
            <a:pPr lvl="2"/>
            <a:r>
              <a:rPr lang="en-US" dirty="0">
                <a:latin typeface="Calibri" charset="0"/>
                <a:ea typeface="ＭＳ Ｐゴシック" charset="0"/>
              </a:rPr>
              <a:t>Designed for genes - ambiguous reads from overlapping transcripts may not be handled!</a:t>
            </a:r>
          </a:p>
          <a:p>
            <a:pPr lvl="2"/>
            <a:r>
              <a:rPr lang="en-US" dirty="0">
                <a:latin typeface="Calibri" charset="0"/>
                <a:ea typeface="ＭＳ Ｐゴシック" charset="0"/>
                <a:hlinkClick r:id="rId4"/>
              </a:rPr>
              <a:t>http://seqanswers.com/forums/showthread.php?t=18068</a:t>
            </a:r>
            <a:endParaRPr lang="en-US" dirty="0">
              <a:latin typeface="Calibri" charset="0"/>
              <a:ea typeface="ＭＳ Ｐゴシック" charset="0"/>
            </a:endParaRPr>
          </a:p>
          <a:p>
            <a:pPr marL="914400" lvl="2" indent="0">
              <a:buNone/>
            </a:pPr>
            <a:endParaRPr lang="en-US" dirty="0">
              <a:latin typeface="Calibri" charset="0"/>
              <a:ea typeface="ＭＳ Ｐゴシック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F5DC6-5771-2F44-9C89-5147A5B3C655}"/>
              </a:ext>
            </a:extLst>
          </p:cNvPr>
          <p:cNvSpPr txBox="1"/>
          <p:nvPr/>
        </p:nvSpPr>
        <p:spPr>
          <a:xfrm>
            <a:off x="1567898" y="3537148"/>
            <a:ext cx="8538002" cy="83099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+mj-lt"/>
                <a:ea typeface="ＭＳ Ｐゴシック" charset="0"/>
              </a:rPr>
              <a:t>htseq</a:t>
            </a:r>
            <a:r>
              <a:rPr lang="en-US" sz="1600" dirty="0">
                <a:latin typeface="+mj-lt"/>
                <a:ea typeface="ＭＳ Ｐゴシック" charset="0"/>
              </a:rPr>
              <a:t>-count --mode intersection-strict --stranded no --</a:t>
            </a:r>
            <a:r>
              <a:rPr lang="en-US" sz="1600" dirty="0" err="1">
                <a:latin typeface="+mj-lt"/>
                <a:ea typeface="ＭＳ Ｐゴシック" charset="0"/>
              </a:rPr>
              <a:t>minaqual</a:t>
            </a:r>
            <a:r>
              <a:rPr lang="en-US" sz="1600" dirty="0">
                <a:latin typeface="+mj-lt"/>
                <a:ea typeface="ＭＳ Ｐゴシック" charset="0"/>
              </a:rPr>
              <a:t> 1 --type exon --</a:t>
            </a:r>
            <a:r>
              <a:rPr lang="en-US" sz="1600" dirty="0" err="1">
                <a:latin typeface="+mj-lt"/>
                <a:ea typeface="ＭＳ Ｐゴシック" charset="0"/>
              </a:rPr>
              <a:t>idattr</a:t>
            </a:r>
            <a:r>
              <a:rPr lang="en-US" sz="1600" dirty="0">
                <a:latin typeface="+mj-lt"/>
                <a:ea typeface="ＭＳ Ｐゴシック" charset="0"/>
              </a:rPr>
              <a:t> </a:t>
            </a:r>
            <a:r>
              <a:rPr lang="en-US" sz="1600" dirty="0" err="1">
                <a:latin typeface="+mj-lt"/>
                <a:ea typeface="ＭＳ Ｐゴシック" charset="0"/>
              </a:rPr>
              <a:t>transcript_id</a:t>
            </a:r>
            <a:r>
              <a:rPr lang="en-US" sz="1600" dirty="0">
                <a:latin typeface="+mj-lt"/>
                <a:ea typeface="ＭＳ Ｐゴシック" charset="0"/>
              </a:rPr>
              <a:t> </a:t>
            </a:r>
            <a:r>
              <a:rPr lang="en-US" sz="1600" dirty="0" err="1">
                <a:latin typeface="+mj-lt"/>
                <a:ea typeface="ＭＳ Ｐゴシック" charset="0"/>
              </a:rPr>
              <a:t>accepted_hits.sam</a:t>
            </a:r>
            <a:r>
              <a:rPr lang="en-US" sz="1600" dirty="0">
                <a:latin typeface="+mj-lt"/>
                <a:ea typeface="ＭＳ Ｐゴシック" charset="0"/>
              </a:rPr>
              <a:t> chr22.gff &gt; </a:t>
            </a:r>
            <a:r>
              <a:rPr lang="en-US" sz="1600" dirty="0" err="1">
                <a:latin typeface="+mj-lt"/>
                <a:ea typeface="ＭＳ Ｐゴシック" charset="0"/>
              </a:rPr>
              <a:t>transcript_read_counts_table.tsv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943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44624"/>
            <a:ext cx="8839200" cy="93610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HTSeq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-count basically counts reads supporting a feature (exon, gene) by assessing overlapping coordinates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280" y="1124744"/>
            <a:ext cx="5290992" cy="4752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405" y="5939989"/>
            <a:ext cx="9987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Whether a read is counted depends on the nature of overlap and “mode” selected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DF895-6130-984C-8108-62F9AFE0CC83}"/>
              </a:ext>
            </a:extLst>
          </p:cNvPr>
          <p:cNvSpPr txBox="1"/>
          <p:nvPr/>
        </p:nvSpPr>
        <p:spPr>
          <a:xfrm>
            <a:off x="8869682" y="4754879"/>
            <a:ext cx="3174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Note, if </a:t>
            </a:r>
            <a:r>
              <a:rPr lang="en-US" sz="1400" dirty="0" err="1"/>
              <a:t>gene_A</a:t>
            </a:r>
            <a:r>
              <a:rPr lang="en-US" sz="1400" dirty="0"/>
              <a:t> and </a:t>
            </a:r>
            <a:r>
              <a:rPr lang="en-US" sz="1400" dirty="0" err="1"/>
              <a:t>gene_B</a:t>
            </a:r>
            <a:r>
              <a:rPr lang="en-US" sz="1400" dirty="0"/>
              <a:t> on opposite strands, sequence data is stranded, and correct </a:t>
            </a:r>
            <a:r>
              <a:rPr lang="en-US" sz="1400" dirty="0" err="1"/>
              <a:t>HTSeq</a:t>
            </a:r>
            <a:r>
              <a:rPr lang="en-US" sz="1400" dirty="0"/>
              <a:t> parameter set then this read may not be ambiguous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204E8E-A299-0646-B04B-7C6AC750E5B3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8544274" y="5339655"/>
            <a:ext cx="325408" cy="2120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72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93929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FC4E7CA-796F-DC46-8477-EB1B03D9751B}" vid="{7600C917-09B9-FA45-B59E-E0879212E2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124</TotalTime>
  <Words>249</Words>
  <Application>Microsoft Macintosh PowerPoint</Application>
  <PresentationFormat>Widescreen</PresentationFormat>
  <Paragraphs>23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Segoe UI</vt:lpstr>
      <vt:lpstr>1_Office Theme</vt:lpstr>
      <vt:lpstr>PowerPoint Presentation</vt:lpstr>
      <vt:lpstr>Alternatives to FPKM</vt:lpstr>
      <vt:lpstr>HTSeq-count basically counts reads supporting a feature (exon, gene) by assessing overlapping coordinates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9</cp:revision>
  <dcterms:created xsi:type="dcterms:W3CDTF">2023-11-13T22:26:23Z</dcterms:created>
  <dcterms:modified xsi:type="dcterms:W3CDTF">2025-11-11T18:38:36Z</dcterms:modified>
</cp:coreProperties>
</file>