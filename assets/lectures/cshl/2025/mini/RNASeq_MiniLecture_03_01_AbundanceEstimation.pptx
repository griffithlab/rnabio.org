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14"/>
  </p:notesMasterIdLst>
  <p:sldIdLst>
    <p:sldId id="517" r:id="rId2"/>
    <p:sldId id="518" r:id="rId3"/>
    <p:sldId id="519" r:id="rId4"/>
    <p:sldId id="525" r:id="rId5"/>
    <p:sldId id="526" r:id="rId6"/>
    <p:sldId id="527" r:id="rId7"/>
    <p:sldId id="520" r:id="rId8"/>
    <p:sldId id="521" r:id="rId9"/>
    <p:sldId id="544" r:id="rId10"/>
    <p:sldId id="522" r:id="rId11"/>
    <p:sldId id="528" r:id="rId12"/>
    <p:sldId id="54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41"/>
    <p:restoredTop sz="71301"/>
  </p:normalViewPr>
  <p:slideViewPr>
    <p:cSldViewPr snapToGrid="0" snapToObjects="1">
      <p:cViewPr varScale="1">
        <p:scale>
          <a:sx n="88" d="100"/>
          <a:sy n="88" d="100"/>
        </p:scale>
        <p:origin x="1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BD9F9-8452-A342-BB1B-28ECF19E2CC5}" type="datetimeFigureOut">
              <a:rPr lang="en-US" smtClean="0"/>
              <a:t>11/11/25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65747-E6F5-D94A-981D-658B04DED679}" type="slidenum">
              <a:rPr lang="en-US" smtClean="0"/>
              <a:t>‹#›</a:t>
            </a:fld>
            <a:endParaRPr lang="en-US"/>
          </a:p>
        </p:txBody>
      </p:sp>
    </p:spTree>
    <p:extLst>
      <p:ext uri="{BB962C8B-B14F-4D97-AF65-F5344CB8AC3E}">
        <p14:creationId xmlns:p14="http://schemas.microsoft.com/office/powerpoint/2010/main" val="287473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3</a:t>
            </a:fld>
            <a:endParaRPr lang="en-US"/>
          </a:p>
        </p:txBody>
      </p:sp>
    </p:spTree>
    <p:extLst>
      <p:ext uri="{BB962C8B-B14F-4D97-AF65-F5344CB8AC3E}">
        <p14:creationId xmlns:p14="http://schemas.microsoft.com/office/powerpoint/2010/main" val="119059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4</a:t>
            </a:fld>
            <a:endParaRPr lang="en-US"/>
          </a:p>
        </p:txBody>
      </p:sp>
    </p:spTree>
    <p:extLst>
      <p:ext uri="{BB962C8B-B14F-4D97-AF65-F5344CB8AC3E}">
        <p14:creationId xmlns:p14="http://schemas.microsoft.com/office/powerpoint/2010/main" val="3652089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5</a:t>
            </a:fld>
            <a:endParaRPr lang="en-US"/>
          </a:p>
        </p:txBody>
      </p:sp>
    </p:spTree>
    <p:extLst>
      <p:ext uri="{BB962C8B-B14F-4D97-AF65-F5344CB8AC3E}">
        <p14:creationId xmlns:p14="http://schemas.microsoft.com/office/powerpoint/2010/main" val="2867275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use TPM, the sum of all TPMs in each sample are the same. This makes it easier to compare the proportion of reads that mapped to a gene in each sample. In contrast, with RPKM and FPKM, the sum of the normalized reads in each sample may be different, and this makes it harder to compare samples directly.</a:t>
            </a:r>
          </a:p>
        </p:txBody>
      </p:sp>
      <p:sp>
        <p:nvSpPr>
          <p:cNvPr id="4" name="Slide Number Placeholder 3"/>
          <p:cNvSpPr>
            <a:spLocks noGrp="1"/>
          </p:cNvSpPr>
          <p:nvPr>
            <p:ph type="sldNum" sz="quarter" idx="10"/>
          </p:nvPr>
        </p:nvSpPr>
        <p:spPr/>
        <p:txBody>
          <a:bodyPr/>
          <a:lstStyle/>
          <a:p>
            <a:pPr>
              <a:defRPr/>
            </a:pPr>
            <a:fld id="{58FBEE90-0CDA-3447-B595-4F8759630F3A}" type="slidenum">
              <a:rPr lang="en-US" smtClean="0"/>
              <a:pPr>
                <a:defRPr/>
              </a:pPr>
              <a:t>6</a:t>
            </a:fld>
            <a:endParaRPr lang="en-US"/>
          </a:p>
        </p:txBody>
      </p:sp>
    </p:spTree>
    <p:extLst>
      <p:ext uri="{BB962C8B-B14F-4D97-AF65-F5344CB8AC3E}">
        <p14:creationId xmlns:p14="http://schemas.microsoft.com/office/powerpoint/2010/main" val="512950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The </a:t>
            </a:r>
            <a:r>
              <a:rPr lang="en-US" sz="1200" b="0" i="0" u="none" strike="noStrike" kern="1200" baseline="0" dirty="0" err="1">
                <a:solidFill>
                  <a:schemeClr val="tx1"/>
                </a:solidFill>
                <a:latin typeface="+mn-lt"/>
                <a:ea typeface="ＭＳ Ｐゴシック" pitchFamily="-28" charset="-128"/>
                <a:cs typeface="ＭＳ Ｐゴシック" pitchFamily="-28" charset="-128"/>
              </a:rPr>
              <a:t>StringTie</a:t>
            </a:r>
            <a:r>
              <a:rPr lang="en-US" sz="1200" b="0" i="0" u="none" strike="noStrike" kern="1200" baseline="0" dirty="0">
                <a:solidFill>
                  <a:schemeClr val="tx1"/>
                </a:solidFill>
                <a:latin typeface="+mn-lt"/>
                <a:ea typeface="ＭＳ Ｐゴシック" pitchFamily="-28" charset="-128"/>
                <a:cs typeface="ＭＳ Ｐゴシック" pitchFamily="-28" charset="-128"/>
              </a:rPr>
              <a:t> algorithm optionally accepts RNA-seq reads that are assembled into super-reads (Step 1).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Super-reads plus un-assembled reads or just un-assembled reads (if skipping super-read assembly step) are mapped to the genome (Step 2).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In Step 3, mapped reads (and super-reads) are grouped into clusters. Basically, any reads aligned within some minimum distance (configurable) are grouped together. Each cluster is used to build an alternative splice graph (ASG). The ASG captures all possible transcripts that are consistent with the mapped reads, where nodes in the graph correspond to contiguous regions of the genome that are uninterrupted by any spliced read alignment, and directed edges correspond to reads that align across two such nodes in the correct 5′ to 3′ order.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The path from source (s) to sink (t) with the heaviest coverage is used to build a flow network corresponding to the transcript represented by that path (Step 4).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The maximum flow in this network represents the coverage of one assembled transcript, which is removed from the splice graph (Step 5). Steps 4 and 5 are repeated until no more transcripts can be assembled. </a:t>
            </a:r>
            <a:endParaRPr lang="en-US" dirty="0"/>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7</a:t>
            </a:fld>
            <a:endParaRPr lang="en-US"/>
          </a:p>
        </p:txBody>
      </p:sp>
    </p:spTree>
    <p:extLst>
      <p:ext uri="{BB962C8B-B14F-4D97-AF65-F5344CB8AC3E}">
        <p14:creationId xmlns:p14="http://schemas.microsoft.com/office/powerpoint/2010/main" val="1197420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ＭＳ Ｐゴシック" pitchFamily="-28" charset="-128"/>
                <a:cs typeface="ＭＳ Ｐゴシック" pitchFamily="-28" charset="-128"/>
              </a:rPr>
              <a:t>Flow network associated with a transcript (shown with colored nodes). 15 fragments (shown in grey) align to the transcript. Two nodes in the flow network are connected if a fragment starts and ends at those nodes. E.g., nodes 1 and 5 are connected because fragment (a) starts at node 1 and ends at node 5. For each colored node in the transcript, two nodes are created in the flow network. Capacities on edges (not connecting source or sink) are shown in red.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In the first node (corresponding to exon1) there are 7 fragments. One of these fragments is connected to exon5 (starts at beginning of exon1 and ends at end of exon5), while 6 fragments are connected to exon3. In the second node (corresponding to exon3) there are 13 fragments, of which 3 are connected to exon 5. The final node (corresponding to exon5) has 4 supporting fragments. The maximum flow is clearly 1 – 3 – 5.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sz="1200" b="0" i="0" u="none" strike="noStrike" kern="1200" baseline="0" dirty="0">
                <a:solidFill>
                  <a:schemeClr val="tx1"/>
                </a:solidFill>
                <a:latin typeface="+mn-lt"/>
                <a:ea typeface="ＭＳ Ｐゴシック" pitchFamily="-28" charset="-128"/>
                <a:cs typeface="ＭＳ Ｐゴシック" pitchFamily="-28" charset="-128"/>
              </a:rPr>
              <a:t>StringTie estimates the coverage level of the transcript by solving a maximum-flow problem that determines the maximum number of fragments that can be associated with the chosen transcript. </a:t>
            </a:r>
          </a:p>
          <a:p>
            <a:endParaRPr lang="en-US" sz="1200" b="0" i="0" u="none" strike="noStrike" kern="1200" baseline="0" dirty="0">
              <a:solidFill>
                <a:schemeClr val="tx1"/>
              </a:solidFill>
              <a:latin typeface="+mn-lt"/>
              <a:ea typeface="ＭＳ Ｐゴシック" pitchFamily="-28" charset="-128"/>
              <a:cs typeface="ＭＳ Ｐゴシック" pitchFamily="-28" charset="-128"/>
            </a:endParaRPr>
          </a:p>
          <a:p>
            <a:r>
              <a:rPr lang="en-US" dirty="0"/>
              <a:t>The maximum flow problem is a well-studied problem in optimization theory.</a:t>
            </a:r>
          </a:p>
        </p:txBody>
      </p:sp>
      <p:sp>
        <p:nvSpPr>
          <p:cNvPr id="4" name="Slide Number Placeholder 3"/>
          <p:cNvSpPr>
            <a:spLocks noGrp="1"/>
          </p:cNvSpPr>
          <p:nvPr>
            <p:ph type="sldNum" sz="quarter" idx="10"/>
          </p:nvPr>
        </p:nvSpPr>
        <p:spPr/>
        <p:txBody>
          <a:bodyPr/>
          <a:lstStyle/>
          <a:p>
            <a:pPr>
              <a:defRPr/>
            </a:pPr>
            <a:fld id="{F3969550-FBCF-404B-9FAA-7B1DCDF2C4FF}" type="slidenum">
              <a:rPr lang="en-US" smtClean="0"/>
              <a:pPr>
                <a:defRPr/>
              </a:pPr>
              <a:t>8</a:t>
            </a:fld>
            <a:endParaRPr lang="en-US"/>
          </a:p>
        </p:txBody>
      </p:sp>
    </p:spTree>
    <p:extLst>
      <p:ext uri="{BB962C8B-B14F-4D97-AF65-F5344CB8AC3E}">
        <p14:creationId xmlns:p14="http://schemas.microsoft.com/office/powerpoint/2010/main" val="1651807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9</a:t>
            </a:fld>
            <a:endParaRPr lang="en-US"/>
          </a:p>
        </p:txBody>
      </p:sp>
    </p:spTree>
    <p:extLst>
      <p:ext uri="{BB962C8B-B14F-4D97-AF65-F5344CB8AC3E}">
        <p14:creationId xmlns:p14="http://schemas.microsoft.com/office/powerpoint/2010/main" val="1359088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10</a:t>
            </a:fld>
            <a:endParaRPr lang="en-US"/>
          </a:p>
        </p:txBody>
      </p:sp>
    </p:spTree>
    <p:extLst>
      <p:ext uri="{BB962C8B-B14F-4D97-AF65-F5344CB8AC3E}">
        <p14:creationId xmlns:p14="http://schemas.microsoft.com/office/powerpoint/2010/main" val="576724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11</a:t>
            </a:fld>
            <a:endParaRPr lang="en-US"/>
          </a:p>
        </p:txBody>
      </p:sp>
    </p:spTree>
    <p:extLst>
      <p:ext uri="{BB962C8B-B14F-4D97-AF65-F5344CB8AC3E}">
        <p14:creationId xmlns:p14="http://schemas.microsoft.com/office/powerpoint/2010/main" val="2314245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2646544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24615875-1AE6-CC48-9CDA-83B4DB9E01BD}"/>
              </a:ext>
            </a:extLst>
          </p:cNvPr>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dirty="0"/>
          </a:p>
        </p:txBody>
      </p:sp>
      <p:pic>
        <p:nvPicPr>
          <p:cNvPr id="9" name="Picture 7" descr="cshl_logo_alternate rgb.png">
            <a:extLst>
              <a:ext uri="{FF2B5EF4-FFF2-40B4-BE49-F238E27FC236}">
                <a16:creationId xmlns:a16="http://schemas.microsoft.com/office/drawing/2014/main" id="{2ABB33F8-A05E-3547-922B-CE0D692524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16461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877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159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6314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884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88281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07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87695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55438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328FB569-0485-8045-BFD7-167815E77336}"/>
              </a:ext>
            </a:extLst>
          </p:cNvPr>
          <p:cNvSpPr txBox="1">
            <a:spLocks/>
          </p:cNvSpPr>
          <p:nvPr userDrawn="1"/>
        </p:nvSpPr>
        <p:spPr>
          <a:xfrm>
            <a:off x="6553200" y="6356356"/>
            <a:ext cx="21336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marL="0" algn="r" defTabSz="914400" rtl="0" eaLnBrk="1" latinLnBrk="0" hangingPunct="1">
              <a:defRPr sz="1200" kern="1200">
                <a:solidFill>
                  <a:srgbClr val="898989"/>
                </a:solidFill>
                <a:latin typeface="Segoe UI"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8C1412E-69E1-864D-A0DF-94DDC7C8003B}" type="slidenum">
              <a:rPr lang="en-US" sz="900" smtClean="0"/>
              <a:pPr>
                <a:defRPr/>
              </a:pPr>
              <a:t>‹#›</a:t>
            </a:fld>
            <a:endParaRPr lang="en-US" sz="900"/>
          </a:p>
        </p:txBody>
      </p:sp>
      <p:sp>
        <p:nvSpPr>
          <p:cNvPr id="8" name="Rectangle 7">
            <a:extLst>
              <a:ext uri="{FF2B5EF4-FFF2-40B4-BE49-F238E27FC236}">
                <a16:creationId xmlns:a16="http://schemas.microsoft.com/office/drawing/2014/main" id="{ED0306AE-18A0-4C44-8452-FDAD4CEC049D}"/>
              </a:ext>
            </a:extLst>
          </p:cNvPr>
          <p:cNvSpPr/>
          <p:nvPr userDrawn="1"/>
        </p:nvSpPr>
        <p:spPr>
          <a:xfrm>
            <a:off x="0" y="6400800"/>
            <a:ext cx="12192000" cy="457200"/>
          </a:xfrm>
          <a:prstGeom prst="rect">
            <a:avLst/>
          </a:prstGeom>
          <a:solidFill>
            <a:srgbClr val="9A33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1" name="TextBox 10">
            <a:extLst>
              <a:ext uri="{FF2B5EF4-FFF2-40B4-BE49-F238E27FC236}">
                <a16:creationId xmlns:a16="http://schemas.microsoft.com/office/drawing/2014/main" id="{E5BC81E6-F19D-9E4F-A613-5717CEE394C4}"/>
              </a:ext>
            </a:extLst>
          </p:cNvPr>
          <p:cNvSpPr txBox="1"/>
          <p:nvPr userDrawn="1"/>
        </p:nvSpPr>
        <p:spPr>
          <a:xfrm>
            <a:off x="9721408" y="6447904"/>
            <a:ext cx="2362200" cy="369332"/>
          </a:xfrm>
          <a:prstGeom prst="rect">
            <a:avLst/>
          </a:prstGeom>
          <a:noFill/>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800" b="1" dirty="0">
                <a:solidFill>
                  <a:schemeClr val="bg1"/>
                </a:solidFill>
                <a:cs typeface="Arial" charset="0"/>
              </a:rPr>
              <a:t>rnabio.org</a:t>
            </a:r>
            <a:endParaRPr lang="en-US" sz="1800" dirty="0">
              <a:solidFill>
                <a:schemeClr val="bg1"/>
              </a:solidFill>
              <a:cs typeface="Arial" charset="0"/>
            </a:endParaRPr>
          </a:p>
        </p:txBody>
      </p:sp>
      <p:sp>
        <p:nvSpPr>
          <p:cNvPr id="12" name="TextBox 11">
            <a:extLst>
              <a:ext uri="{FF2B5EF4-FFF2-40B4-BE49-F238E27FC236}">
                <a16:creationId xmlns:a16="http://schemas.microsoft.com/office/drawing/2014/main" id="{B8F5D193-BF70-C04D-ACCD-2D3C430B970A}"/>
              </a:ext>
            </a:extLst>
          </p:cNvPr>
          <p:cNvSpPr txBox="1"/>
          <p:nvPr userDrawn="1"/>
        </p:nvSpPr>
        <p:spPr>
          <a:xfrm>
            <a:off x="5867412" y="6447904"/>
            <a:ext cx="457176" cy="369332"/>
          </a:xfrm>
          <a:prstGeom prst="rect">
            <a:avLst/>
          </a:prstGeom>
          <a:noFill/>
        </p:spPr>
        <p:txBody>
          <a:bodyPr wrap="none" rtlCol="0" anchor="ctr">
            <a:spAutoFit/>
          </a:bodyPr>
          <a:lstStyle/>
          <a:p>
            <a:pPr algn="ctr"/>
            <a:fld id="{0153C3B2-0654-1049-821D-A9450C27E9C9}" type="slidenum">
              <a:rPr lang="en-US" sz="1800" smtClean="0">
                <a:solidFill>
                  <a:schemeClr val="bg1"/>
                </a:solidFill>
              </a:rPr>
              <a:pPr algn="ctr"/>
              <a:t>‹#›</a:t>
            </a:fld>
            <a:endParaRPr lang="en-US" sz="1800" dirty="0">
              <a:solidFill>
                <a:schemeClr val="bg1"/>
              </a:solidFill>
            </a:endParaRPr>
          </a:p>
        </p:txBody>
      </p:sp>
    </p:spTree>
    <p:extLst>
      <p:ext uri="{BB962C8B-B14F-4D97-AF65-F5344CB8AC3E}">
        <p14:creationId xmlns:p14="http://schemas.microsoft.com/office/powerpoint/2010/main" val="391269066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biostars.org/p/1137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www.biostars.org/p/68126/"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rna-seqblog.com/rpkm-fpkm-and-tpm-clearly-explained/"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ncbi.nlm.nih.gov/pubmed/2287250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cole-trapnell-lab.github.io/cufflinks/cuffcompare/index.html#cuffcompare-output-file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11EB652-D19B-3146-BD1E-BFCBA6FE97A3}"/>
              </a:ext>
            </a:extLst>
          </p:cNvPr>
          <p:cNvSpPr txBox="1">
            <a:spLocks/>
          </p:cNvSpPr>
          <p:nvPr/>
        </p:nvSpPr>
        <p:spPr>
          <a:xfrm>
            <a:off x="2915000" y="141514"/>
            <a:ext cx="9144000" cy="131418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200" dirty="0">
                <a:solidFill>
                  <a:schemeClr val="bg1"/>
                </a:solidFill>
                <a:latin typeface="Calibri" charset="0"/>
                <a:cs typeface="Segoe UI" charset="0"/>
              </a:rPr>
              <a:t>RNA-Seq Module 3</a:t>
            </a:r>
            <a:br>
              <a:rPr lang="en-US" sz="3200" dirty="0">
                <a:solidFill>
                  <a:schemeClr val="bg1"/>
                </a:solidFill>
                <a:latin typeface="Calibri" charset="0"/>
                <a:cs typeface="Segoe UI" charset="0"/>
              </a:rPr>
            </a:br>
            <a:r>
              <a:rPr lang="en-US" sz="3200" dirty="0">
                <a:solidFill>
                  <a:schemeClr val="bg1"/>
                </a:solidFill>
                <a:latin typeface="Calibri" charset="0"/>
                <a:cs typeface="Segoe UI" charset="0"/>
              </a:rPr>
              <a:t>Abundance Estimation and Differential Expression</a:t>
            </a:r>
            <a:endParaRPr lang="en-US" sz="2800" b="1" dirty="0">
              <a:solidFill>
                <a:schemeClr val="bg1"/>
              </a:solidFill>
              <a:latin typeface="Calibri" charset="0"/>
              <a:cs typeface="Segoe UI" charset="0"/>
            </a:endParaRPr>
          </a:p>
        </p:txBody>
      </p:sp>
      <p:sp>
        <p:nvSpPr>
          <p:cNvPr id="16" name="Rectangle 15">
            <a:extLst>
              <a:ext uri="{FF2B5EF4-FFF2-40B4-BE49-F238E27FC236}">
                <a16:creationId xmlns:a16="http://schemas.microsoft.com/office/drawing/2014/main" id="{1FAB5ADE-E513-DF42-86C4-3D6C4B6F0DE7}"/>
              </a:ext>
            </a:extLst>
          </p:cNvPr>
          <p:cNvSpPr/>
          <p:nvPr/>
        </p:nvSpPr>
        <p:spPr>
          <a:xfrm>
            <a:off x="0" y="2522835"/>
            <a:ext cx="12192000" cy="3889541"/>
          </a:xfrm>
          <a:prstGeom prst="rect">
            <a:avLst/>
          </a:prstGeom>
          <a:solidFill>
            <a:schemeClr val="accent1">
              <a:alpha val="18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latin typeface="Calibri" charset="0"/>
              <a:ea typeface="ＭＳ Ｐゴシック" charset="0"/>
              <a:cs typeface="Calibri" charset="0"/>
            </a:endParaRPr>
          </a:p>
        </p:txBody>
      </p:sp>
      <p:pic>
        <p:nvPicPr>
          <p:cNvPr id="17" name="Picture 16">
            <a:extLst>
              <a:ext uri="{FF2B5EF4-FFF2-40B4-BE49-F238E27FC236}">
                <a16:creationId xmlns:a16="http://schemas.microsoft.com/office/drawing/2014/main" id="{D81B4EC5-2163-754F-BB45-0B4F307C560A}"/>
              </a:ext>
            </a:extLst>
          </p:cNvPr>
          <p:cNvPicPr>
            <a:picLocks noChangeAspect="1"/>
          </p:cNvPicPr>
          <p:nvPr/>
        </p:nvPicPr>
        <p:blipFill>
          <a:blip r:embed="rId2"/>
          <a:stretch>
            <a:fillRect/>
          </a:stretch>
        </p:blipFill>
        <p:spPr>
          <a:xfrm>
            <a:off x="204216" y="2890275"/>
            <a:ext cx="3128830" cy="3128830"/>
          </a:xfrm>
          <a:prstGeom prst="rect">
            <a:avLst/>
          </a:prstGeom>
        </p:spPr>
      </p:pic>
      <p:pic>
        <p:nvPicPr>
          <p:cNvPr id="18" name="Picture 1" descr="RNA-Seq-alignment.png">
            <a:extLst>
              <a:ext uri="{FF2B5EF4-FFF2-40B4-BE49-F238E27FC236}">
                <a16:creationId xmlns:a16="http://schemas.microsoft.com/office/drawing/2014/main" id="{79365D22-94FE-2F45-A8C0-C3DC697DAA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57151" y="2888092"/>
            <a:ext cx="3271336" cy="31331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9" name="Picture 18">
            <a:extLst>
              <a:ext uri="{FF2B5EF4-FFF2-40B4-BE49-F238E27FC236}">
                <a16:creationId xmlns:a16="http://schemas.microsoft.com/office/drawing/2014/main" id="{8915FD68-F5E0-B64F-B423-ADB72752E6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8851" y="3731538"/>
            <a:ext cx="5263149" cy="1631984"/>
          </a:xfrm>
          <a:prstGeom prst="rect">
            <a:avLst/>
          </a:prstGeom>
        </p:spPr>
      </p:pic>
      <p:sp>
        <p:nvSpPr>
          <p:cNvPr id="3" name="Title 1">
            <a:extLst>
              <a:ext uri="{FF2B5EF4-FFF2-40B4-BE49-F238E27FC236}">
                <a16:creationId xmlns:a16="http://schemas.microsoft.com/office/drawing/2014/main" id="{1CF946EC-8F22-AD59-A6CC-5D29EC1ACF3C}"/>
              </a:ext>
            </a:extLst>
          </p:cNvPr>
          <p:cNvSpPr txBox="1">
            <a:spLocks/>
          </p:cNvSpPr>
          <p:nvPr/>
        </p:nvSpPr>
        <p:spPr>
          <a:xfrm>
            <a:off x="3647728" y="1219199"/>
            <a:ext cx="8468072" cy="1161346"/>
          </a:xfrm>
          <a:prstGeom prst="rect">
            <a:avLst/>
          </a:prstGeom>
        </p:spPr>
        <p:txBody>
          <a:bodyPr anchor="ctr"/>
          <a:lstStyle>
            <a:lvl1pPr algn="r">
              <a:defRPr sz="3200" baseline="0">
                <a:solidFill>
                  <a:schemeClr val="bg1"/>
                </a:solidFill>
                <a:latin typeface="Adobe Jenson Pro" pitchFamily="18" charset="0"/>
              </a:defRPr>
            </a:lvl1pPr>
          </a:lstStyle>
          <a:p>
            <a:pPr>
              <a:defRPr/>
            </a:pPr>
            <a:r>
              <a:rPr lang="en-US" sz="1800" dirty="0">
                <a:latin typeface="Calibri"/>
                <a:cs typeface="Calibri"/>
              </a:rPr>
              <a:t>Felicia Gomez, </a:t>
            </a:r>
            <a:r>
              <a:rPr lang="en-US" sz="1800" dirty="0" err="1">
                <a:latin typeface="Calibri"/>
                <a:cs typeface="Calibri"/>
              </a:rPr>
              <a:t>Charlz</a:t>
            </a:r>
            <a:r>
              <a:rPr lang="en-US" sz="1800" dirty="0">
                <a:latin typeface="Calibri"/>
                <a:cs typeface="Calibri"/>
              </a:rPr>
              <a:t> Jerold, Obi Griffith, Malachi Griffith, </a:t>
            </a:r>
          </a:p>
          <a:p>
            <a:pPr>
              <a:defRPr/>
            </a:pPr>
            <a:r>
              <a:rPr lang="en-US" sz="1800" dirty="0">
                <a:latin typeface="Calibri"/>
                <a:cs typeface="Calibri"/>
              </a:rPr>
              <a:t>My Hoang, Mariam Khanfar, Chris Miller, Kartik Singhal, Jennie Yao </a:t>
            </a:r>
          </a:p>
          <a:p>
            <a:pPr>
              <a:defRPr/>
            </a:pPr>
            <a:r>
              <a:rPr lang="en-US" sz="1800" dirty="0">
                <a:ln w="1270">
                  <a:solidFill>
                    <a:schemeClr val="tx1">
                      <a:alpha val="38000"/>
                    </a:schemeClr>
                  </a:solidFill>
                </a:ln>
                <a:latin typeface="Calibri"/>
                <a:cs typeface="Calibri"/>
              </a:rPr>
              <a:t>Advanced Sequencing Technologies &amp; Bioinformatics Analysis </a:t>
            </a:r>
            <a:r>
              <a:rPr lang="en-US" sz="1600" dirty="0">
                <a:ln w="1270">
                  <a:solidFill>
                    <a:schemeClr val="tx1">
                      <a:alpha val="38000"/>
                    </a:schemeClr>
                  </a:solidFill>
                </a:ln>
                <a:latin typeface="Calibri"/>
                <a:cs typeface="Calibri"/>
              </a:rPr>
              <a:t>November 10-21, 2025</a:t>
            </a:r>
          </a:p>
        </p:txBody>
      </p:sp>
    </p:spTree>
    <p:extLst>
      <p:ext uri="{BB962C8B-B14F-4D97-AF65-F5344CB8AC3E}">
        <p14:creationId xmlns:p14="http://schemas.microsoft.com/office/powerpoint/2010/main" val="280293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0" y="10886"/>
            <a:ext cx="12192000" cy="801914"/>
          </a:xfrm>
        </p:spPr>
        <p:txBody>
          <a:bodyPr>
            <a:normAutofit fontScale="90000"/>
          </a:bodyPr>
          <a:lstStyle/>
          <a:p>
            <a:pPr algn="ctr"/>
            <a:r>
              <a:rPr lang="en-US" b="1" dirty="0">
                <a:latin typeface="Calibri" charset="0"/>
                <a:ea typeface="ＭＳ Ｐゴシック" charset="0"/>
              </a:rPr>
              <a:t>Expression estimation for known genes and transcripts</a:t>
            </a:r>
          </a:p>
        </p:txBody>
      </p:sp>
      <p:cxnSp>
        <p:nvCxnSpPr>
          <p:cNvPr id="6" name="Straight Arrow Connector 5"/>
          <p:cNvCxnSpPr/>
          <p:nvPr/>
        </p:nvCxnSpPr>
        <p:spPr>
          <a:xfrm>
            <a:off x="9600990" y="2394925"/>
            <a:ext cx="700955" cy="248"/>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2" name="TextBox 6"/>
          <p:cNvSpPr txBox="1">
            <a:spLocks noChangeArrowheads="1"/>
          </p:cNvSpPr>
          <p:nvPr/>
        </p:nvSpPr>
        <p:spPr bwMode="auto">
          <a:xfrm>
            <a:off x="9456973" y="1963125"/>
            <a:ext cx="915988"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dirty="0"/>
              <a:t>3’ bias</a:t>
            </a:r>
          </a:p>
        </p:txBody>
      </p:sp>
      <p:cxnSp>
        <p:nvCxnSpPr>
          <p:cNvPr id="8" name="Straight Arrow Connector 7"/>
          <p:cNvCxnSpPr/>
          <p:nvPr/>
        </p:nvCxnSpPr>
        <p:spPr>
          <a:xfrm>
            <a:off x="9459305" y="3907342"/>
            <a:ext cx="0" cy="647873"/>
          </a:xfrm>
          <a:prstGeom prst="straightConnector1">
            <a:avLst/>
          </a:prstGeom>
          <a:ln w="38100" cmpd="sng">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27654" name="TextBox 9"/>
          <p:cNvSpPr txBox="1">
            <a:spLocks noChangeArrowheads="1"/>
          </p:cNvSpPr>
          <p:nvPr/>
        </p:nvSpPr>
        <p:spPr bwMode="auto">
          <a:xfrm>
            <a:off x="9384693" y="3907342"/>
            <a:ext cx="1331913"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800" dirty="0"/>
              <a:t>Down-regulated</a:t>
            </a:r>
          </a:p>
        </p:txBody>
      </p:sp>
      <p:pic>
        <p:nvPicPr>
          <p:cNvPr id="3" name="Content Placeholder 2" descr="Screen Shot 2013-05-30 at 8.54.37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575" r="-700"/>
          <a:stretch/>
        </p:blipFill>
        <p:spPr>
          <a:xfrm>
            <a:off x="1631951" y="705927"/>
            <a:ext cx="7739111" cy="5618673"/>
          </a:xfrm>
        </p:spPr>
      </p:pic>
    </p:spTree>
    <p:extLst>
      <p:ext uri="{BB962C8B-B14F-4D97-AF65-F5344CB8AC3E}">
        <p14:creationId xmlns:p14="http://schemas.microsoft.com/office/powerpoint/2010/main" val="136903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 (RPKM)?</a:t>
            </a:r>
          </a:p>
        </p:txBody>
      </p:sp>
      <p:sp>
        <p:nvSpPr>
          <p:cNvPr id="28674" name="Content Placeholder 2"/>
          <p:cNvSpPr>
            <a:spLocks noGrp="1"/>
          </p:cNvSpPr>
          <p:nvPr>
            <p:ph idx="1"/>
          </p:nvPr>
        </p:nvSpPr>
        <p:spPr>
          <a:xfrm>
            <a:off x="740979" y="1340768"/>
            <a:ext cx="10570780" cy="4983832"/>
          </a:xfrm>
        </p:spPr>
        <p:txBody>
          <a:bodyPr wrap="square">
            <a:normAutofit/>
          </a:bodyPr>
          <a:lstStyle/>
          <a:p>
            <a:r>
              <a:rPr lang="en-US" dirty="0">
                <a:latin typeface="Calibri" charset="0"/>
                <a:ea typeface="ＭＳ Ｐゴシック" charset="0"/>
              </a:rPr>
              <a:t>RPKM:          </a:t>
            </a:r>
            <a:r>
              <a:rPr lang="en-US" b="1" dirty="0">
                <a:latin typeface="Calibri" charset="0"/>
                <a:ea typeface="ＭＳ Ｐゴシック" charset="0"/>
              </a:rPr>
              <a:t>Reads</a:t>
            </a:r>
            <a:r>
              <a:rPr lang="en-US" dirty="0">
                <a:latin typeface="Calibri" charset="0"/>
                <a:ea typeface="ＭＳ Ｐゴシック" charset="0"/>
              </a:rPr>
              <a:t> Per Kilobase of transcript per Million mapped reads. </a:t>
            </a:r>
          </a:p>
          <a:p>
            <a:r>
              <a:rPr lang="en-US" dirty="0">
                <a:latin typeface="Calibri" charset="0"/>
                <a:ea typeface="ＭＳ Ｐゴシック" charset="0"/>
              </a:rPr>
              <a:t>FPKM:   </a:t>
            </a:r>
            <a:r>
              <a:rPr lang="en-US" b="1" dirty="0">
                <a:latin typeface="Calibri" charset="0"/>
                <a:ea typeface="ＭＳ Ｐゴシック" charset="0"/>
              </a:rPr>
              <a:t>Fragments</a:t>
            </a:r>
            <a:r>
              <a:rPr lang="en-US" dirty="0">
                <a:latin typeface="Calibri" charset="0"/>
                <a:ea typeface="ＭＳ Ｐゴシック" charset="0"/>
              </a:rPr>
              <a:t> Per Kilobase of transcript per Million mapped reads.</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No essential difference - Just a terminology change to better describe paired-end reads!</a:t>
            </a:r>
          </a:p>
          <a:p>
            <a:endParaRPr lang="en-US" dirty="0">
              <a:latin typeface="Calibri" charset="0"/>
              <a:ea typeface="ＭＳ Ｐゴシック" charset="0"/>
            </a:endParaRPr>
          </a:p>
        </p:txBody>
      </p:sp>
    </p:spTree>
    <p:extLst>
      <p:ext uri="{BB962C8B-B14F-4D97-AF65-F5344CB8AC3E}">
        <p14:creationId xmlns:p14="http://schemas.microsoft.com/office/powerpoint/2010/main" val="419103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a:t>
            </a:r>
          </a:p>
        </p:txBody>
      </p:sp>
      <p:sp>
        <p:nvSpPr>
          <p:cNvPr id="28674" name="Content Placeholder 2"/>
          <p:cNvSpPr>
            <a:spLocks noGrp="1"/>
          </p:cNvSpPr>
          <p:nvPr>
            <p:ph idx="1"/>
          </p:nvPr>
        </p:nvSpPr>
        <p:spPr>
          <a:xfrm>
            <a:off x="370489" y="1340768"/>
            <a:ext cx="7181194" cy="4983832"/>
          </a:xfrm>
        </p:spPr>
        <p:txBody>
          <a:bodyPr wrap="square">
            <a:normAutofit/>
          </a:bodyPr>
          <a:lstStyle/>
          <a:p>
            <a:r>
              <a:rPr lang="en-US" dirty="0">
                <a:latin typeface="Calibri" charset="0"/>
                <a:ea typeface="ＭＳ Ｐゴシック" charset="0"/>
              </a:rPr>
              <a:t>Why not just count reads in my </a:t>
            </a:r>
            <a:r>
              <a:rPr lang="en-US" dirty="0" err="1">
                <a:latin typeface="Calibri" charset="0"/>
                <a:ea typeface="ＭＳ Ｐゴシック" charset="0"/>
              </a:rPr>
              <a:t>RNAseq</a:t>
            </a:r>
            <a:r>
              <a:rPr lang="en-US" dirty="0">
                <a:latin typeface="Calibri" charset="0"/>
                <a:ea typeface="ＭＳ Ｐゴシック" charset="0"/>
              </a:rPr>
              <a:t> data?</a:t>
            </a:r>
            <a:br>
              <a:rPr lang="en-US" dirty="0">
                <a:latin typeface="Calibri" charset="0"/>
                <a:ea typeface="ＭＳ Ｐゴシック" charset="0"/>
              </a:rPr>
            </a:br>
            <a:endParaRPr lang="en-US" dirty="0">
              <a:latin typeface="Calibri" charset="0"/>
              <a:ea typeface="ＭＳ Ｐゴシック" charset="0"/>
            </a:endParaRPr>
          </a:p>
          <a:p>
            <a:r>
              <a:rPr lang="en-US" dirty="0">
                <a:latin typeface="Calibri" charset="0"/>
                <a:ea typeface="ＭＳ Ｐゴシック" charset="0"/>
              </a:rPr>
              <a:t>The relative expression of a transcript is proportional to the number of cDNA fragments that originate from it. However: </a:t>
            </a:r>
            <a:br>
              <a:rPr lang="en-US" dirty="0">
                <a:latin typeface="Calibri" charset="0"/>
                <a:ea typeface="ＭＳ Ｐゴシック" charset="0"/>
              </a:rPr>
            </a:br>
            <a:endParaRPr lang="en-US" dirty="0">
              <a:latin typeface="Calibri" charset="0"/>
              <a:ea typeface="ＭＳ Ｐゴシック" charset="0"/>
            </a:endParaRPr>
          </a:p>
          <a:p>
            <a:pPr lvl="1"/>
            <a:r>
              <a:rPr lang="en-US" dirty="0">
                <a:latin typeface="Calibri" charset="0"/>
                <a:ea typeface="ＭＳ Ｐゴシック" charset="0"/>
              </a:rPr>
              <a:t># fragments is biased towards larger genes</a:t>
            </a:r>
            <a:br>
              <a:rPr lang="en-US" dirty="0">
                <a:latin typeface="Calibri" charset="0"/>
                <a:ea typeface="ＭＳ Ｐゴシック" charset="0"/>
              </a:rPr>
            </a:br>
            <a:endParaRPr lang="en-US" dirty="0">
              <a:latin typeface="Calibri" charset="0"/>
              <a:ea typeface="ＭＳ Ｐゴシック" charset="0"/>
            </a:endParaRPr>
          </a:p>
          <a:p>
            <a:pPr lvl="1"/>
            <a:r>
              <a:rPr lang="en-US" dirty="0">
                <a:latin typeface="Calibri" charset="0"/>
                <a:ea typeface="ＭＳ Ｐゴシック" charset="0"/>
              </a:rPr>
              <a:t># fragments is related to total library depth</a:t>
            </a:r>
          </a:p>
        </p:txBody>
      </p:sp>
      <p:sp>
        <p:nvSpPr>
          <p:cNvPr id="2" name="TextBox 1">
            <a:extLst>
              <a:ext uri="{FF2B5EF4-FFF2-40B4-BE49-F238E27FC236}">
                <a16:creationId xmlns:a16="http://schemas.microsoft.com/office/drawing/2014/main" id="{5DBA97B9-0A17-DC4A-8D8A-CC62D7683E9B}"/>
              </a:ext>
            </a:extLst>
          </p:cNvPr>
          <p:cNvSpPr txBox="1"/>
          <p:nvPr/>
        </p:nvSpPr>
        <p:spPr>
          <a:xfrm>
            <a:off x="8246691" y="1358779"/>
            <a:ext cx="3452501" cy="3708708"/>
          </a:xfrm>
          <a:prstGeom prst="rect">
            <a:avLst/>
          </a:prstGeom>
          <a:noFill/>
        </p:spPr>
        <p:txBody>
          <a:bodyPr wrap="square" rtlCol="0">
            <a:spAutoFit/>
          </a:bodyPr>
          <a:lstStyle/>
          <a:p>
            <a:r>
              <a:rPr lang="en-US" sz="2000" b="1" dirty="0">
                <a:latin typeface="Calibri" charset="0"/>
                <a:ea typeface="ＭＳ Ｐゴシック" charset="0"/>
              </a:rPr>
              <a:t>Fragments</a:t>
            </a:r>
            <a:r>
              <a:rPr lang="en-US" sz="2000" dirty="0">
                <a:latin typeface="Calibri" charset="0"/>
                <a:ea typeface="ＭＳ Ｐゴシック" charset="0"/>
              </a:rPr>
              <a:t> </a:t>
            </a:r>
          </a:p>
          <a:p>
            <a:endParaRPr lang="en-US" sz="2000" dirty="0">
              <a:latin typeface="Calibri" charset="0"/>
              <a:ea typeface="ＭＳ Ｐゴシック" charset="0"/>
            </a:endParaRPr>
          </a:p>
          <a:p>
            <a:endParaRPr lang="en-US" sz="1600" dirty="0">
              <a:latin typeface="Calibri" charset="0"/>
              <a:ea typeface="ＭＳ Ｐゴシック" charset="0"/>
            </a:endParaRPr>
          </a:p>
          <a:p>
            <a:endParaRPr lang="en-US" sz="20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1600" dirty="0">
              <a:latin typeface="Calibri" charset="0"/>
              <a:ea typeface="ＭＳ Ｐゴシック" charset="0"/>
            </a:endParaRPr>
          </a:p>
          <a:p>
            <a:endParaRPr lang="en-US" sz="2000" dirty="0">
              <a:latin typeface="Calibri" charset="0"/>
              <a:ea typeface="ＭＳ Ｐゴシック" charset="0"/>
            </a:endParaRPr>
          </a:p>
          <a:p>
            <a:r>
              <a:rPr lang="en-US" sz="2000" b="1" dirty="0">
                <a:latin typeface="Calibri" charset="0"/>
                <a:ea typeface="ＭＳ Ｐゴシック" charset="0"/>
              </a:rPr>
              <a:t>Per Kilobase of transcript </a:t>
            </a:r>
          </a:p>
          <a:p>
            <a:endParaRPr lang="en-US" sz="1400" b="1" dirty="0">
              <a:latin typeface="Calibri" charset="0"/>
              <a:ea typeface="ＭＳ Ｐゴシック" charset="0"/>
            </a:endParaRPr>
          </a:p>
          <a:p>
            <a:endParaRPr lang="en-US" sz="1400" b="1" dirty="0">
              <a:latin typeface="Calibri" charset="0"/>
              <a:ea typeface="ＭＳ Ｐゴシック" charset="0"/>
            </a:endParaRPr>
          </a:p>
          <a:p>
            <a:r>
              <a:rPr lang="en-US" sz="2000" b="1" dirty="0">
                <a:latin typeface="Calibri" charset="0"/>
                <a:ea typeface="ＭＳ Ｐゴシック" charset="0"/>
              </a:rPr>
              <a:t>per Million mapped reads.</a:t>
            </a:r>
            <a:endParaRPr lang="en-US" sz="2000" b="1" dirty="0"/>
          </a:p>
        </p:txBody>
      </p:sp>
      <p:cxnSp>
        <p:nvCxnSpPr>
          <p:cNvPr id="4" name="Straight Arrow Connector 3">
            <a:extLst>
              <a:ext uri="{FF2B5EF4-FFF2-40B4-BE49-F238E27FC236}">
                <a16:creationId xmlns:a16="http://schemas.microsoft.com/office/drawing/2014/main" id="{4A7AFA4D-A2A1-5A4F-9E2E-567F8FF64D10}"/>
              </a:ext>
            </a:extLst>
          </p:cNvPr>
          <p:cNvCxnSpPr/>
          <p:nvPr/>
        </p:nvCxnSpPr>
        <p:spPr>
          <a:xfrm>
            <a:off x="7551683" y="1598064"/>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516AEFC-F577-F44D-8F6D-A789BB657019}"/>
              </a:ext>
            </a:extLst>
          </p:cNvPr>
          <p:cNvCxnSpPr/>
          <p:nvPr/>
        </p:nvCxnSpPr>
        <p:spPr>
          <a:xfrm>
            <a:off x="7625706" y="4023401"/>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74BCB3-8345-4F42-B5A0-B72F5A191604}"/>
              </a:ext>
            </a:extLst>
          </p:cNvPr>
          <p:cNvCxnSpPr/>
          <p:nvPr/>
        </p:nvCxnSpPr>
        <p:spPr>
          <a:xfrm>
            <a:off x="7625706" y="4789755"/>
            <a:ext cx="472818" cy="0"/>
          </a:xfrm>
          <a:prstGeom prst="straightConnector1">
            <a:avLst/>
          </a:prstGeom>
          <a:ln w="4762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7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1676400" y="-27384"/>
            <a:ext cx="8839200" cy="1143000"/>
          </a:xfrm>
        </p:spPr>
        <p:txBody>
          <a:bodyPr/>
          <a:lstStyle/>
          <a:p>
            <a:pPr algn="ctr"/>
            <a:r>
              <a:rPr lang="en-US" b="1" dirty="0">
                <a:latin typeface="Calibri" charset="0"/>
                <a:ea typeface="ＭＳ Ｐゴシック" charset="0"/>
              </a:rPr>
              <a:t>What is FPKM?</a:t>
            </a:r>
          </a:p>
        </p:txBody>
      </p:sp>
      <p:sp>
        <p:nvSpPr>
          <p:cNvPr id="28674" name="Content Placeholder 2"/>
          <p:cNvSpPr>
            <a:spLocks noGrp="1"/>
          </p:cNvSpPr>
          <p:nvPr>
            <p:ph idx="1"/>
          </p:nvPr>
        </p:nvSpPr>
        <p:spPr>
          <a:xfrm>
            <a:off x="696685" y="1340768"/>
            <a:ext cx="10354491" cy="4983832"/>
          </a:xfrm>
        </p:spPr>
        <p:txBody>
          <a:bodyPr wrap="square">
            <a:normAutofit fontScale="92500" lnSpcReduction="10000"/>
          </a:bodyPr>
          <a:lstStyle/>
          <a:p>
            <a:r>
              <a:rPr lang="en-US" dirty="0">
                <a:latin typeface="Calibri" charset="0"/>
                <a:ea typeface="ＭＳ Ｐゴシック" charset="0"/>
              </a:rPr>
              <a:t>FPKM attempts to normalize for gene size and library depth</a:t>
            </a:r>
          </a:p>
          <a:p>
            <a:pPr lvl="2"/>
            <a:r>
              <a:rPr lang="en-US" dirty="0">
                <a:latin typeface="Calibri" charset="0"/>
                <a:ea typeface="ＭＳ Ｐゴシック" charset="0"/>
              </a:rPr>
              <a:t>remember – RPKM is essentially the same!</a:t>
            </a:r>
          </a:p>
          <a:p>
            <a:endParaRPr lang="nl-NL" dirty="0">
              <a:latin typeface="Calibri" charset="0"/>
              <a:ea typeface="ＭＳ Ｐゴシック" charset="0"/>
            </a:endParaRPr>
          </a:p>
          <a:p>
            <a:r>
              <a:rPr lang="en-US" dirty="0">
                <a:latin typeface="Calibri" charset="0"/>
                <a:ea typeface="ＭＳ Ｐゴシック" charset="0"/>
              </a:rPr>
              <a:t>C = number of mappable fragments for a gene (transcript)</a:t>
            </a:r>
          </a:p>
          <a:p>
            <a:r>
              <a:rPr lang="en-US" dirty="0">
                <a:latin typeface="Calibri" charset="0"/>
                <a:ea typeface="ＭＳ Ｐゴシック" charset="0"/>
              </a:rPr>
              <a:t>N = total number of mappable fragments in the library </a:t>
            </a:r>
          </a:p>
          <a:p>
            <a:r>
              <a:rPr lang="en-US" dirty="0">
                <a:latin typeface="Calibri" charset="0"/>
                <a:ea typeface="ＭＳ Ｐゴシック" charset="0"/>
              </a:rPr>
              <a:t>L = number of base pairs in the gene (transcript)</a:t>
            </a:r>
          </a:p>
          <a:p>
            <a:pPr lvl="1"/>
            <a:r>
              <a:rPr lang="nl-NL" dirty="0">
                <a:latin typeface="Calibri" charset="0"/>
                <a:ea typeface="ＭＳ Ｐゴシック" charset="0"/>
              </a:rPr>
              <a:t>FPKM = (C / (N x L) ) x 1,000 x 1,000,000</a:t>
            </a:r>
            <a:r>
              <a:rPr lang="en-US" dirty="0">
                <a:latin typeface="Calibri" charset="0"/>
                <a:ea typeface="ＭＳ Ｐゴシック" charset="0"/>
              </a:rPr>
              <a:t> </a:t>
            </a:r>
          </a:p>
          <a:p>
            <a:pPr lvl="1"/>
            <a:r>
              <a:rPr lang="en-US" dirty="0">
                <a:latin typeface="Calibri" charset="0"/>
                <a:ea typeface="ＭＳ Ｐゴシック" charset="0"/>
              </a:rPr>
              <a:t>FPKM = (1,000,000,000 x C) / (N x L)</a:t>
            </a:r>
          </a:p>
          <a:p>
            <a:pPr lvl="1"/>
            <a:r>
              <a:rPr lang="en-US" dirty="0">
                <a:latin typeface="Calibri" charset="0"/>
                <a:ea typeface="ＭＳ Ｐゴシック" charset="0"/>
              </a:rPr>
              <a:t>FPKM = (C / (N / 1,000,000)) / (L/1000)</a:t>
            </a:r>
          </a:p>
          <a:p>
            <a:pPr marL="457200" lvl="1" indent="0">
              <a:buNone/>
            </a:pPr>
            <a:br>
              <a:rPr lang="en-US" dirty="0">
                <a:latin typeface="Calibri" charset="0"/>
                <a:ea typeface="ＭＳ Ｐゴシック" charset="0"/>
              </a:rPr>
            </a:br>
            <a:endParaRPr lang="en-US" dirty="0">
              <a:latin typeface="Calibri" charset="0"/>
              <a:ea typeface="ＭＳ Ｐゴシック" charset="0"/>
            </a:endParaRPr>
          </a:p>
          <a:p>
            <a:r>
              <a:rPr lang="en-US" sz="2000" dirty="0">
                <a:latin typeface="Calibri" charset="0"/>
                <a:ea typeface="ＭＳ Ｐゴシック" charset="0"/>
              </a:rPr>
              <a:t>More reading:</a:t>
            </a:r>
          </a:p>
          <a:p>
            <a:pPr lvl="1"/>
            <a:r>
              <a:rPr lang="en-US" sz="1600" dirty="0">
                <a:latin typeface="Calibri" charset="0"/>
                <a:ea typeface="ＭＳ Ｐゴシック" charset="0"/>
                <a:hlinkClick r:id="rId3"/>
              </a:rPr>
              <a:t>http://www.biostars.org/p/11378/</a:t>
            </a:r>
            <a:endParaRPr lang="en-US" sz="1600" dirty="0">
              <a:latin typeface="Calibri" charset="0"/>
              <a:ea typeface="ＭＳ Ｐゴシック" charset="0"/>
            </a:endParaRPr>
          </a:p>
          <a:p>
            <a:pPr lvl="1"/>
            <a:r>
              <a:rPr lang="en-US" sz="1600" dirty="0">
                <a:latin typeface="Calibri" charset="0"/>
                <a:ea typeface="ＭＳ Ｐゴシック" charset="0"/>
                <a:hlinkClick r:id="rId4"/>
              </a:rPr>
              <a:t>http://www.biostars.org/p/68126/</a:t>
            </a:r>
            <a:endParaRPr lang="en-US" sz="1600" dirty="0">
              <a:latin typeface="Calibri" charset="0"/>
              <a:ea typeface="ＭＳ Ｐゴシック" charset="0"/>
            </a:endParaRPr>
          </a:p>
          <a:p>
            <a:endParaRPr lang="en-US" dirty="0">
              <a:latin typeface="Calibri" charset="0"/>
              <a:ea typeface="ＭＳ Ｐゴシック" charset="0"/>
            </a:endParaRPr>
          </a:p>
        </p:txBody>
      </p:sp>
    </p:spTree>
    <p:extLst>
      <p:ext uri="{BB962C8B-B14F-4D97-AF65-F5344CB8AC3E}">
        <p14:creationId xmlns:p14="http://schemas.microsoft.com/office/powerpoint/2010/main" val="89254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4">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384"/>
            <a:ext cx="8839200" cy="1143000"/>
          </a:xfrm>
        </p:spPr>
        <p:txBody>
          <a:bodyPr/>
          <a:lstStyle/>
          <a:p>
            <a:pPr algn="ctr"/>
            <a:r>
              <a:rPr lang="en-US" b="1" dirty="0">
                <a:latin typeface="Calibri" panose="020F0502020204030204" pitchFamily="34" charset="0"/>
                <a:cs typeface="Calibri" panose="020F0502020204030204" pitchFamily="34" charset="0"/>
              </a:rPr>
              <a:t>How do FPKM and TPM differ?</a:t>
            </a:r>
          </a:p>
        </p:txBody>
      </p:sp>
      <p:sp>
        <p:nvSpPr>
          <p:cNvPr id="3" name="Content Placeholder 2"/>
          <p:cNvSpPr>
            <a:spLocks noGrp="1"/>
          </p:cNvSpPr>
          <p:nvPr>
            <p:ph idx="1"/>
          </p:nvPr>
        </p:nvSpPr>
        <p:spPr>
          <a:xfrm>
            <a:off x="1027611" y="994089"/>
            <a:ext cx="10180320" cy="1043690"/>
          </a:xfrm>
        </p:spPr>
        <p:txBody>
          <a:bodyPr>
            <a:normAutofit/>
          </a:bodyPr>
          <a:lstStyle/>
          <a:p>
            <a:r>
              <a:rPr lang="en-US" sz="2400" dirty="0"/>
              <a:t>TPM: Transcript per Kilobase Million</a:t>
            </a:r>
          </a:p>
          <a:p>
            <a:r>
              <a:rPr lang="en-US" sz="2400" dirty="0"/>
              <a:t>The difference is in the order of operations:</a:t>
            </a:r>
          </a:p>
        </p:txBody>
      </p:sp>
      <p:sp>
        <p:nvSpPr>
          <p:cNvPr id="4" name="Content Placeholder 2">
            <a:extLst>
              <a:ext uri="{FF2B5EF4-FFF2-40B4-BE49-F238E27FC236}">
                <a16:creationId xmlns:a16="http://schemas.microsoft.com/office/drawing/2014/main" id="{54F92D20-8AE2-DA44-A7D0-C91F848950E1}"/>
              </a:ext>
            </a:extLst>
          </p:cNvPr>
          <p:cNvSpPr txBox="1">
            <a:spLocks/>
          </p:cNvSpPr>
          <p:nvPr/>
        </p:nvSpPr>
        <p:spPr>
          <a:xfrm>
            <a:off x="927462" y="5011814"/>
            <a:ext cx="10180320" cy="1371571"/>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US" dirty="0"/>
          </a:p>
          <a:p>
            <a:r>
              <a:rPr lang="en-US" sz="4400" dirty="0"/>
              <a:t>The sum of all TPMs in each sample is the same. Easier to compare across samples!</a:t>
            </a:r>
            <a:br>
              <a:rPr lang="en-US" sz="4400" dirty="0"/>
            </a:br>
            <a:endParaRPr lang="en-US" sz="4400" dirty="0">
              <a:hlinkClick r:id="rId3"/>
            </a:endParaRPr>
          </a:p>
          <a:p>
            <a:r>
              <a:rPr lang="en-US" sz="3500" dirty="0">
                <a:hlinkClick r:id="rId3"/>
              </a:rPr>
              <a:t>http://www.rna-seqblog.com/rpkm-fpkm-and-tpm-clearly-explained/</a:t>
            </a:r>
            <a:endParaRPr lang="en-US" sz="3500" dirty="0"/>
          </a:p>
          <a:p>
            <a:r>
              <a:rPr lang="en-US" sz="3500" dirty="0">
                <a:hlinkClick r:id="rId4"/>
              </a:rPr>
              <a:t>https://www.ncbi.nlm.nih.gov/pubmed/22872506</a:t>
            </a:r>
            <a:r>
              <a:rPr lang="en-US" sz="3500" dirty="0"/>
              <a:t> </a:t>
            </a:r>
          </a:p>
        </p:txBody>
      </p:sp>
      <p:sp>
        <p:nvSpPr>
          <p:cNvPr id="6" name="TextBox 5">
            <a:extLst>
              <a:ext uri="{FF2B5EF4-FFF2-40B4-BE49-F238E27FC236}">
                <a16:creationId xmlns:a16="http://schemas.microsoft.com/office/drawing/2014/main" id="{4F402C60-59F1-1B44-B621-7F0D62AD1900}"/>
              </a:ext>
            </a:extLst>
          </p:cNvPr>
          <p:cNvSpPr txBox="1"/>
          <p:nvPr/>
        </p:nvSpPr>
        <p:spPr>
          <a:xfrm>
            <a:off x="818605" y="2172339"/>
            <a:ext cx="4380412" cy="2708434"/>
          </a:xfrm>
          <a:prstGeom prst="rect">
            <a:avLst/>
          </a:prstGeom>
          <a:noFill/>
          <a:ln>
            <a:solidFill>
              <a:schemeClr val="bg1">
                <a:lumMod val="65000"/>
              </a:schemeClr>
            </a:solidFill>
          </a:ln>
        </p:spPr>
        <p:txBody>
          <a:bodyPr wrap="square" rtlCol="0">
            <a:spAutoFit/>
          </a:bodyPr>
          <a:lstStyle/>
          <a:p>
            <a:r>
              <a:rPr lang="en-US" b="1" dirty="0"/>
              <a:t>FPKM</a:t>
            </a:r>
            <a:br>
              <a:rPr lang="en-US" sz="1000" b="1" dirty="0"/>
            </a:br>
            <a:endParaRPr lang="en-US" sz="1000" b="1" dirty="0"/>
          </a:p>
          <a:p>
            <a:r>
              <a:rPr lang="en-US" sz="1600" dirty="0"/>
              <a:t>1) Determine total fragment count, divide by 1,000,000 </a:t>
            </a:r>
            <a:r>
              <a:rPr lang="en-US" sz="1400" dirty="0">
                <a:solidFill>
                  <a:schemeClr val="bg2">
                    <a:lumMod val="50000"/>
                  </a:schemeClr>
                </a:solidFill>
              </a:rPr>
              <a:t>(per Million)</a:t>
            </a:r>
            <a:br>
              <a:rPr lang="en-US" sz="1400" dirty="0"/>
            </a:br>
            <a:endParaRPr lang="en-US" sz="1400" dirty="0"/>
          </a:p>
          <a:p>
            <a:r>
              <a:rPr lang="en-US" sz="1600" dirty="0"/>
              <a:t>2) Divide each gene/transcript fragment count by #1 </a:t>
            </a:r>
            <a:r>
              <a:rPr lang="en-US" sz="1400" dirty="0">
                <a:solidFill>
                  <a:schemeClr val="bg2">
                    <a:lumMod val="50000"/>
                  </a:schemeClr>
                </a:solidFill>
              </a:rPr>
              <a:t>(Fragments Per Million)</a:t>
            </a:r>
            <a:endParaRPr lang="en-US" sz="1400" dirty="0"/>
          </a:p>
          <a:p>
            <a:endParaRPr lang="en-US" sz="1600" dirty="0"/>
          </a:p>
          <a:p>
            <a:r>
              <a:rPr lang="en-US" sz="1600" dirty="0"/>
              <a:t>3) Divide each FPM by length of each gene/transcript in kilobases </a:t>
            </a:r>
            <a:r>
              <a:rPr lang="en-US" sz="1400" dirty="0">
                <a:solidFill>
                  <a:schemeClr val="bg2">
                    <a:lumMod val="50000"/>
                  </a:schemeClr>
                </a:solidFill>
              </a:rPr>
              <a:t>(FPKM)</a:t>
            </a:r>
          </a:p>
          <a:p>
            <a:endParaRPr lang="en-US" sz="1600" dirty="0"/>
          </a:p>
        </p:txBody>
      </p:sp>
      <p:sp>
        <p:nvSpPr>
          <p:cNvPr id="7" name="TextBox 6">
            <a:extLst>
              <a:ext uri="{FF2B5EF4-FFF2-40B4-BE49-F238E27FC236}">
                <a16:creationId xmlns:a16="http://schemas.microsoft.com/office/drawing/2014/main" id="{8377C2F8-4FD0-8646-9F7F-B2548A76E432}"/>
              </a:ext>
            </a:extLst>
          </p:cNvPr>
          <p:cNvSpPr txBox="1"/>
          <p:nvPr/>
        </p:nvSpPr>
        <p:spPr>
          <a:xfrm>
            <a:off x="6365966" y="2172339"/>
            <a:ext cx="4632960" cy="2739211"/>
          </a:xfrm>
          <a:prstGeom prst="rect">
            <a:avLst/>
          </a:prstGeom>
          <a:noFill/>
          <a:ln>
            <a:solidFill>
              <a:schemeClr val="bg1">
                <a:lumMod val="65000"/>
              </a:schemeClr>
            </a:solidFill>
          </a:ln>
        </p:spPr>
        <p:txBody>
          <a:bodyPr wrap="square" rtlCol="0">
            <a:spAutoFit/>
          </a:bodyPr>
          <a:lstStyle/>
          <a:p>
            <a:r>
              <a:rPr lang="en-US" b="1" dirty="0"/>
              <a:t>TPM</a:t>
            </a:r>
            <a:br>
              <a:rPr lang="en-US" sz="1000" b="1" dirty="0"/>
            </a:br>
            <a:endParaRPr lang="en-US" sz="1000" b="1" dirty="0"/>
          </a:p>
          <a:p>
            <a:r>
              <a:rPr lang="en-US" sz="1600" dirty="0"/>
              <a:t>1) Divide each gene/transcript fragment count by length of the transcript in kilobases  </a:t>
            </a:r>
            <a:r>
              <a:rPr lang="en-US" sz="1400" dirty="0">
                <a:solidFill>
                  <a:schemeClr val="bg2">
                    <a:lumMod val="50000"/>
                  </a:schemeClr>
                </a:solidFill>
              </a:rPr>
              <a:t>(Fragments Per Kilobase)</a:t>
            </a:r>
          </a:p>
          <a:p>
            <a:br>
              <a:rPr lang="en-US" sz="1600" dirty="0"/>
            </a:br>
            <a:r>
              <a:rPr lang="en-US" sz="1600" dirty="0"/>
              <a:t>2) Sum all FPK values for the sample and divide by 1,000,000 </a:t>
            </a:r>
            <a:r>
              <a:rPr lang="en-US" sz="1400" dirty="0">
                <a:solidFill>
                  <a:schemeClr val="bg2">
                    <a:lumMod val="50000"/>
                  </a:schemeClr>
                </a:solidFill>
              </a:rPr>
              <a:t>(per Million)</a:t>
            </a:r>
          </a:p>
          <a:p>
            <a:br>
              <a:rPr lang="en-US" sz="1600" dirty="0"/>
            </a:br>
            <a:r>
              <a:rPr lang="en-US" sz="1600" dirty="0"/>
              <a:t>3) Divide #1 by #2 </a:t>
            </a:r>
            <a:r>
              <a:rPr lang="en-US" sz="1600" dirty="0">
                <a:solidFill>
                  <a:schemeClr val="bg2">
                    <a:lumMod val="50000"/>
                  </a:schemeClr>
                </a:solidFill>
              </a:rPr>
              <a:t>(TPM)</a:t>
            </a:r>
          </a:p>
          <a:p>
            <a:endParaRPr lang="en-US" sz="1600" dirty="0"/>
          </a:p>
        </p:txBody>
      </p:sp>
    </p:spTree>
    <p:extLst>
      <p:ext uri="{BB962C8B-B14F-4D97-AF65-F5344CB8AC3E}">
        <p14:creationId xmlns:p14="http://schemas.microsoft.com/office/powerpoint/2010/main" val="1542918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nbt.3122-S1_Page_13.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2267" t="9572" r="12178" b="46442"/>
          <a:stretch/>
        </p:blipFill>
        <p:spPr>
          <a:xfrm>
            <a:off x="4059091" y="584888"/>
            <a:ext cx="7691561" cy="5794824"/>
          </a:xfrm>
        </p:spPr>
      </p:pic>
      <p:sp>
        <p:nvSpPr>
          <p:cNvPr id="6" name="TextBox 5">
            <a:extLst>
              <a:ext uri="{FF2B5EF4-FFF2-40B4-BE49-F238E27FC236}">
                <a16:creationId xmlns:a16="http://schemas.microsoft.com/office/drawing/2014/main" id="{D981205D-7164-1940-AD7E-4AD9C0A95664}"/>
              </a:ext>
            </a:extLst>
          </p:cNvPr>
          <p:cNvSpPr txBox="1"/>
          <p:nvPr/>
        </p:nvSpPr>
        <p:spPr>
          <a:xfrm>
            <a:off x="122548" y="831727"/>
            <a:ext cx="3558082" cy="4524315"/>
          </a:xfrm>
          <a:prstGeom prst="rect">
            <a:avLst/>
          </a:prstGeom>
          <a:noFill/>
        </p:spPr>
        <p:txBody>
          <a:bodyPr wrap="square" rtlCol="0">
            <a:spAutoFit/>
          </a:bodyPr>
          <a:lstStyle/>
          <a:p>
            <a:pPr marL="285750" indent="-285750">
              <a:buFontTx/>
              <a:buChar char="-"/>
            </a:pPr>
            <a:r>
              <a:rPr lang="en-US" sz="1600" dirty="0"/>
              <a:t>Align reads to the genome, optionally assemble super-reads and re-align</a:t>
            </a:r>
          </a:p>
          <a:p>
            <a:pPr marL="285750" indent="-285750">
              <a:buFontTx/>
              <a:buChar char="-"/>
            </a:pPr>
            <a:r>
              <a:rPr lang="en-US" sz="1600" dirty="0"/>
              <a:t>Group reads into clusters</a:t>
            </a:r>
          </a:p>
          <a:p>
            <a:endParaRPr lang="en-US" sz="1600" dirty="0"/>
          </a:p>
          <a:p>
            <a:br>
              <a:rPr lang="en-US" sz="1600" dirty="0"/>
            </a:br>
            <a:r>
              <a:rPr lang="en-US" sz="1600" dirty="0"/>
              <a:t>Infer isoforms:</a:t>
            </a:r>
          </a:p>
          <a:p>
            <a:pPr marL="285750" indent="-285750">
              <a:buFontTx/>
              <a:buChar char="-"/>
            </a:pPr>
            <a:r>
              <a:rPr lang="en-US" sz="1600" dirty="0"/>
              <a:t>Build alternative splice graph (ASG)</a:t>
            </a:r>
          </a:p>
          <a:p>
            <a:pPr marL="285750" indent="-285750">
              <a:buFontTx/>
              <a:buChar char="-"/>
            </a:pPr>
            <a:r>
              <a:rPr lang="en-US" sz="1600" dirty="0"/>
              <a:t>Iteratively extract the heaviest path from a splice graph</a:t>
            </a:r>
          </a:p>
          <a:p>
            <a:pPr marL="285750" indent="-285750">
              <a:buFontTx/>
              <a:buChar char="-"/>
            </a:pPr>
            <a:r>
              <a:rPr lang="en-US" sz="1600" dirty="0"/>
              <a:t>construct a flow network</a:t>
            </a:r>
          </a:p>
          <a:p>
            <a:pPr marL="285750" indent="-285750">
              <a:buFontTx/>
              <a:buChar char="-"/>
            </a:pPr>
            <a:r>
              <a:rPr lang="en-US" sz="1600" dirty="0"/>
              <a:t>compute maximum flow to estimate abundance</a:t>
            </a:r>
          </a:p>
          <a:p>
            <a:pPr marL="285750" indent="-285750">
              <a:buFontTx/>
              <a:buChar char="-"/>
            </a:pPr>
            <a:r>
              <a:rPr lang="en-US" sz="1600" dirty="0"/>
              <a:t>update the splice graph by removing reads that were assigned by the flow algorithm</a:t>
            </a:r>
          </a:p>
          <a:p>
            <a:pPr marL="285750" indent="-285750">
              <a:buFontTx/>
              <a:buChar char="-"/>
            </a:pPr>
            <a:r>
              <a:rPr lang="en-US" sz="1600" dirty="0"/>
              <a:t>This process repeats until all reads have been assigned. </a:t>
            </a:r>
          </a:p>
        </p:txBody>
      </p:sp>
      <p:sp>
        <p:nvSpPr>
          <p:cNvPr id="7" name="Title 1">
            <a:extLst>
              <a:ext uri="{FF2B5EF4-FFF2-40B4-BE49-F238E27FC236}">
                <a16:creationId xmlns:a16="http://schemas.microsoft.com/office/drawing/2014/main" id="{35C845F0-3C59-F244-A6E6-72CEFB68E45B}"/>
              </a:ext>
            </a:extLst>
          </p:cNvPr>
          <p:cNvSpPr>
            <a:spLocks noGrp="1"/>
          </p:cNvSpPr>
          <p:nvPr>
            <p:ph type="title"/>
          </p:nvPr>
        </p:nvSpPr>
        <p:spPr>
          <a:xfrm>
            <a:off x="1676400" y="94821"/>
            <a:ext cx="8839200" cy="490066"/>
          </a:xfrm>
        </p:spPr>
        <p:txBody>
          <a:bodyPr>
            <a:normAutofit fontScale="90000"/>
          </a:bodyPr>
          <a:lstStyle/>
          <a:p>
            <a:pPr algn="ctr"/>
            <a:r>
              <a:rPr lang="en-US" b="1" dirty="0">
                <a:latin typeface="Calibri" panose="020F0502020204030204" pitchFamily="34" charset="0"/>
                <a:cs typeface="Calibri" panose="020F0502020204030204" pitchFamily="34" charset="0"/>
              </a:rPr>
              <a:t>How does StringTie work?</a:t>
            </a:r>
          </a:p>
        </p:txBody>
      </p:sp>
      <p:sp>
        <p:nvSpPr>
          <p:cNvPr id="8" name="TextBox 7">
            <a:extLst>
              <a:ext uri="{FF2B5EF4-FFF2-40B4-BE49-F238E27FC236}">
                <a16:creationId xmlns:a16="http://schemas.microsoft.com/office/drawing/2014/main" id="{9A549B85-0517-644D-8FB1-49811967085B}"/>
              </a:ext>
            </a:extLst>
          </p:cNvPr>
          <p:cNvSpPr txBox="1"/>
          <p:nvPr/>
        </p:nvSpPr>
        <p:spPr>
          <a:xfrm>
            <a:off x="8758091" y="6161314"/>
            <a:ext cx="5472608" cy="276999"/>
          </a:xfrm>
          <a:prstGeom prst="rect">
            <a:avLst/>
          </a:prstGeom>
          <a:noFill/>
        </p:spPr>
        <p:txBody>
          <a:bodyPr wrap="square" rtlCol="0">
            <a:spAutoFit/>
          </a:bodyPr>
          <a:lstStyle/>
          <a:p>
            <a:r>
              <a:rPr lang="en-US" sz="1200" dirty="0" err="1"/>
              <a:t>Pertea</a:t>
            </a:r>
            <a:r>
              <a:rPr lang="en-US" sz="1200" dirty="0"/>
              <a:t> et al. Nature Biotechnology, 2015</a:t>
            </a:r>
          </a:p>
        </p:txBody>
      </p:sp>
    </p:spTree>
    <p:extLst>
      <p:ext uri="{BB962C8B-B14F-4D97-AF65-F5344CB8AC3E}">
        <p14:creationId xmlns:p14="http://schemas.microsoft.com/office/powerpoint/2010/main" val="1570802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4624"/>
            <a:ext cx="8839200" cy="1008112"/>
          </a:xfrm>
        </p:spPr>
        <p:txBody>
          <a:bodyPr>
            <a:normAutofit/>
          </a:bodyPr>
          <a:lstStyle/>
          <a:p>
            <a:pPr algn="ctr"/>
            <a:r>
              <a:rPr lang="en-US" sz="2800" b="1" dirty="0">
                <a:latin typeface="Calibri" panose="020F0502020204030204" pitchFamily="34" charset="0"/>
                <a:cs typeface="Calibri" panose="020F0502020204030204" pitchFamily="34" charset="0"/>
              </a:rPr>
              <a:t>From flow network for each transcript, maximum flow is used to assemble transcript and estimate abundance </a:t>
            </a:r>
          </a:p>
        </p:txBody>
      </p:sp>
      <p:pic>
        <p:nvPicPr>
          <p:cNvPr id="4" name="Content Placeholder 3" descr="nbt.3122-S1_Page_14.png"/>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17889" t="11473" r="30804" b="58388"/>
          <a:stretch/>
        </p:blipFill>
        <p:spPr>
          <a:xfrm>
            <a:off x="2639616" y="980728"/>
            <a:ext cx="6302678" cy="4791199"/>
          </a:xfrm>
        </p:spPr>
      </p:pic>
      <p:sp>
        <p:nvSpPr>
          <p:cNvPr id="5" name="Rectangle 4"/>
          <p:cNvSpPr/>
          <p:nvPr/>
        </p:nvSpPr>
        <p:spPr>
          <a:xfrm>
            <a:off x="491067" y="5729355"/>
            <a:ext cx="11311466" cy="646331"/>
          </a:xfrm>
          <a:prstGeom prst="rect">
            <a:avLst/>
          </a:prstGeom>
        </p:spPr>
        <p:txBody>
          <a:bodyPr wrap="square">
            <a:spAutoFit/>
          </a:bodyPr>
          <a:lstStyle/>
          <a:p>
            <a:pPr algn="ctr"/>
            <a:r>
              <a:rPr lang="en-US" dirty="0"/>
              <a:t>StringTie uses basic graph theory (splice graph), custom heuristics (heaviest path), more graph theory  (flow network) and optimization theory (maximum flow). See StringTie paper for definitions and math.</a:t>
            </a:r>
          </a:p>
        </p:txBody>
      </p:sp>
    </p:spTree>
    <p:extLst>
      <p:ext uri="{BB962C8B-B14F-4D97-AF65-F5344CB8AC3E}">
        <p14:creationId xmlns:p14="http://schemas.microsoft.com/office/powerpoint/2010/main" val="368022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latin typeface="Calibri" panose="020F0502020204030204" pitchFamily="34" charset="0"/>
                <a:cs typeface="Calibri" panose="020F0502020204030204" pitchFamily="34" charset="0"/>
              </a:rPr>
              <a:t>StringTie</a:t>
            </a:r>
            <a:r>
              <a:rPr lang="en-US" b="1" dirty="0">
                <a:latin typeface="Calibri" panose="020F0502020204030204" pitchFamily="34" charset="0"/>
                <a:cs typeface="Calibri" panose="020F0502020204030204" pitchFamily="34" charset="0"/>
              </a:rPr>
              <a:t> Modes</a:t>
            </a:r>
          </a:p>
        </p:txBody>
      </p:sp>
      <p:sp>
        <p:nvSpPr>
          <p:cNvPr id="3" name="Content Placeholder 2"/>
          <p:cNvSpPr>
            <a:spLocks noGrp="1"/>
          </p:cNvSpPr>
          <p:nvPr>
            <p:ph idx="1"/>
          </p:nvPr>
        </p:nvSpPr>
        <p:spPr/>
        <p:txBody>
          <a:bodyPr>
            <a:normAutofit fontScale="92500" lnSpcReduction="20000"/>
          </a:bodyPr>
          <a:lstStyle/>
          <a:p>
            <a:r>
              <a:rPr lang="en-US" dirty="0"/>
              <a:t>Expression estimation mode (“Reference Only”)</a:t>
            </a:r>
          </a:p>
          <a:p>
            <a:pPr lvl="1"/>
            <a:r>
              <a:rPr lang="en-US" dirty="0"/>
              <a:t>“–G $</a:t>
            </a:r>
            <a:r>
              <a:rPr lang="en-US" dirty="0" err="1"/>
              <a:t>GTF_File</a:t>
            </a:r>
            <a:r>
              <a:rPr lang="en-US" dirty="0"/>
              <a:t>” AND “–e” option</a:t>
            </a:r>
          </a:p>
          <a:p>
            <a:pPr lvl="1"/>
            <a:r>
              <a:rPr lang="en-US" dirty="0"/>
              <a:t>no "novel" transcript assemblies (isoforms) </a:t>
            </a:r>
          </a:p>
          <a:p>
            <a:pPr lvl="1"/>
            <a:r>
              <a:rPr lang="en-US" dirty="0"/>
              <a:t>read alignments not overlapping reference transcripts ignored</a:t>
            </a:r>
          </a:p>
          <a:p>
            <a:pPr lvl="1"/>
            <a:r>
              <a:rPr lang="en-US" dirty="0"/>
              <a:t>Faster, especially when given limited set of reference transcripts</a:t>
            </a:r>
          </a:p>
          <a:p>
            <a:pPr lvl="2"/>
            <a:r>
              <a:rPr lang="en-US" dirty="0"/>
              <a:t>Avoids complicated steps of clustering and building alternative splice graph from scratch, skipping straight to abundance estimation</a:t>
            </a:r>
          </a:p>
          <a:p>
            <a:r>
              <a:rPr lang="en-US" dirty="0"/>
              <a:t>“Reference guided mode”</a:t>
            </a:r>
          </a:p>
          <a:p>
            <a:pPr lvl="1"/>
            <a:r>
              <a:rPr lang="en-US" dirty="0"/>
              <a:t> “–G $</a:t>
            </a:r>
            <a:r>
              <a:rPr lang="en-US" dirty="0" err="1"/>
              <a:t>GTF_File</a:t>
            </a:r>
            <a:r>
              <a:rPr lang="en-US" dirty="0"/>
              <a:t>” WITHOUT “–e” option</a:t>
            </a:r>
          </a:p>
          <a:p>
            <a:pPr lvl="1"/>
            <a:r>
              <a:rPr lang="en-US" dirty="0"/>
              <a:t>Both known and novel transcript assemblies</a:t>
            </a:r>
          </a:p>
          <a:p>
            <a:r>
              <a:rPr lang="en-US" dirty="0"/>
              <a:t>“De novo” mode</a:t>
            </a:r>
          </a:p>
          <a:p>
            <a:pPr lvl="1"/>
            <a:r>
              <a:rPr lang="en-US" dirty="0"/>
              <a:t>NEITHER “–G $</a:t>
            </a:r>
            <a:r>
              <a:rPr lang="en-US" dirty="0" err="1"/>
              <a:t>GTF_File</a:t>
            </a:r>
            <a:r>
              <a:rPr lang="en-US" dirty="0"/>
              <a:t>” NOR “–e” option</a:t>
            </a:r>
          </a:p>
          <a:p>
            <a:pPr lvl="1"/>
            <a:r>
              <a:rPr lang="en-US" dirty="0"/>
              <a:t>Novel transcript assemblies only</a:t>
            </a:r>
          </a:p>
        </p:txBody>
      </p:sp>
      <p:sp>
        <p:nvSpPr>
          <p:cNvPr id="4" name="TextBox 3"/>
          <p:cNvSpPr txBox="1"/>
          <p:nvPr/>
        </p:nvSpPr>
        <p:spPr>
          <a:xfrm>
            <a:off x="6240016" y="6021288"/>
            <a:ext cx="4427984" cy="369332"/>
          </a:xfrm>
          <a:prstGeom prst="rect">
            <a:avLst/>
          </a:prstGeom>
          <a:noFill/>
        </p:spPr>
        <p:txBody>
          <a:bodyPr wrap="square" rtlCol="0">
            <a:spAutoFit/>
          </a:bodyPr>
          <a:lstStyle/>
          <a:p>
            <a:r>
              <a:rPr lang="en-US" dirty="0" err="1"/>
              <a:t>Pertea</a:t>
            </a:r>
            <a:r>
              <a:rPr lang="en-US" dirty="0"/>
              <a:t> et al. Nature Protocols, 2016</a:t>
            </a:r>
          </a:p>
        </p:txBody>
      </p:sp>
    </p:spTree>
    <p:extLst>
      <p:ext uri="{BB962C8B-B14F-4D97-AF65-F5344CB8AC3E}">
        <p14:creationId xmlns:p14="http://schemas.microsoft.com/office/powerpoint/2010/main" val="3532015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Calibri" panose="020F0502020204030204" pitchFamily="34" charset="0"/>
                <a:cs typeface="Calibri" panose="020F0502020204030204" pitchFamily="34" charset="0"/>
              </a:rPr>
              <a:t>StringTie -merge</a:t>
            </a:r>
          </a:p>
        </p:txBody>
      </p:sp>
      <p:sp>
        <p:nvSpPr>
          <p:cNvPr id="3" name="Content Placeholder 2"/>
          <p:cNvSpPr>
            <a:spLocks noGrp="1"/>
          </p:cNvSpPr>
          <p:nvPr>
            <p:ph idx="1"/>
          </p:nvPr>
        </p:nvSpPr>
        <p:spPr/>
        <p:txBody>
          <a:bodyPr/>
          <a:lstStyle/>
          <a:p>
            <a:r>
              <a:rPr lang="en-US" dirty="0"/>
              <a:t>Merge together all gene structures from all samples</a:t>
            </a:r>
          </a:p>
          <a:p>
            <a:pPr lvl="1"/>
            <a:r>
              <a:rPr lang="en-US" dirty="0"/>
              <a:t>Some samples may only partially represent a gene structure</a:t>
            </a:r>
            <a:br>
              <a:rPr lang="en-US" dirty="0"/>
            </a:br>
            <a:endParaRPr lang="en-US" dirty="0"/>
          </a:p>
          <a:p>
            <a:r>
              <a:rPr lang="en-US" dirty="0"/>
              <a:t>Incorporates known transcripts with assembled, potentially novel transcripts</a:t>
            </a:r>
            <a:br>
              <a:rPr lang="en-US" dirty="0"/>
            </a:br>
            <a:endParaRPr lang="en-US" dirty="0"/>
          </a:p>
          <a:p>
            <a:r>
              <a:rPr lang="en-US" dirty="0"/>
              <a:t>For de novo or reference guided mode, we will rerun StringTie with the merged transcript assembly.</a:t>
            </a:r>
          </a:p>
        </p:txBody>
      </p:sp>
      <p:sp>
        <p:nvSpPr>
          <p:cNvPr id="4" name="TextBox 3"/>
          <p:cNvSpPr txBox="1"/>
          <p:nvPr/>
        </p:nvSpPr>
        <p:spPr>
          <a:xfrm>
            <a:off x="6240016" y="6021288"/>
            <a:ext cx="4427984" cy="369332"/>
          </a:xfrm>
          <a:prstGeom prst="rect">
            <a:avLst/>
          </a:prstGeom>
          <a:noFill/>
        </p:spPr>
        <p:txBody>
          <a:bodyPr wrap="square" rtlCol="0">
            <a:spAutoFit/>
          </a:bodyPr>
          <a:lstStyle/>
          <a:p>
            <a:r>
              <a:rPr lang="en-US" dirty="0" err="1"/>
              <a:t>Pertea</a:t>
            </a:r>
            <a:r>
              <a:rPr lang="en-US" dirty="0"/>
              <a:t> et al. Nature Protocols, 2016</a:t>
            </a:r>
          </a:p>
        </p:txBody>
      </p:sp>
    </p:spTree>
    <p:extLst>
      <p:ext uri="{BB962C8B-B14F-4D97-AF65-F5344CB8AC3E}">
        <p14:creationId xmlns:p14="http://schemas.microsoft.com/office/powerpoint/2010/main" val="3490153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a:t>gffcompare</a:t>
            </a:r>
            <a:endParaRPr lang="en-US" b="1" dirty="0">
              <a:latin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3DD2DCB1-7456-FA4B-B5D8-CA06BD02983C}"/>
              </a:ext>
            </a:extLst>
          </p:cNvPr>
          <p:cNvSpPr>
            <a:spLocks noGrp="1"/>
          </p:cNvSpPr>
          <p:nvPr>
            <p:ph idx="1"/>
          </p:nvPr>
        </p:nvSpPr>
        <p:spPr>
          <a:xfrm>
            <a:off x="203200" y="1600200"/>
            <a:ext cx="5791200" cy="4724400"/>
          </a:xfrm>
        </p:spPr>
        <p:txBody>
          <a:bodyPr/>
          <a:lstStyle/>
          <a:p>
            <a:r>
              <a:rPr lang="en-US" dirty="0" err="1"/>
              <a:t>gffcompare</a:t>
            </a:r>
            <a:r>
              <a:rPr lang="en-US" dirty="0"/>
              <a:t> will compare a merged transcript GTF with known annotation, also in GTF/GFF3 format</a:t>
            </a:r>
          </a:p>
          <a:p>
            <a:r>
              <a:rPr lang="en-US" sz="1800" dirty="0">
                <a:hlinkClick r:id="rId3"/>
              </a:rPr>
              <a:t>http://</a:t>
            </a:r>
            <a:r>
              <a:rPr lang="en-US" sz="1800" dirty="0" err="1">
                <a:hlinkClick r:id="rId3"/>
              </a:rPr>
              <a:t>cole-trapnell-lab.github.io</a:t>
            </a:r>
            <a:r>
              <a:rPr lang="en-US" sz="1800" dirty="0">
                <a:hlinkClick r:id="rId3"/>
              </a:rPr>
              <a:t>/cufflinks/</a:t>
            </a:r>
            <a:r>
              <a:rPr lang="en-US" sz="1800" dirty="0" err="1">
                <a:hlinkClick r:id="rId3"/>
              </a:rPr>
              <a:t>cuffcompare</a:t>
            </a:r>
            <a:r>
              <a:rPr lang="en-US" sz="1800" dirty="0">
                <a:hlinkClick r:id="rId3"/>
              </a:rPr>
              <a:t>/</a:t>
            </a:r>
            <a:r>
              <a:rPr lang="en-US" sz="1800" dirty="0" err="1">
                <a:hlinkClick r:id="rId3"/>
              </a:rPr>
              <a:t>index.html#cuffcompare-output-files</a:t>
            </a:r>
            <a:endParaRPr lang="en-US" sz="1800" dirty="0"/>
          </a:p>
          <a:p>
            <a:endParaRPr lang="en-US" dirty="0"/>
          </a:p>
        </p:txBody>
      </p:sp>
      <p:pic>
        <p:nvPicPr>
          <p:cNvPr id="8" name="Content Placeholder 4" descr="Screen Shot 2016-11-15 at 8.31.40 AM.png">
            <a:extLst>
              <a:ext uri="{FF2B5EF4-FFF2-40B4-BE49-F238E27FC236}">
                <a16:creationId xmlns:a16="http://schemas.microsoft.com/office/drawing/2014/main" id="{EB66E292-7423-2F44-8786-67F2DEEC1B9C}"/>
              </a:ext>
            </a:extLst>
          </p:cNvPr>
          <p:cNvPicPr>
            <a:picLocks noChangeAspect="1"/>
          </p:cNvPicPr>
          <p:nvPr/>
        </p:nvPicPr>
        <p:blipFill>
          <a:blip r:embed="rId4">
            <a:extLst>
              <a:ext uri="{28A0092B-C50C-407E-A947-70E740481C1C}">
                <a14:useLocalDpi xmlns:a14="http://schemas.microsoft.com/office/drawing/2010/main" val="0"/>
              </a:ext>
            </a:extLst>
          </a:blip>
          <a:srcRect t="-8072" b="-8072"/>
          <a:stretch>
            <a:fillRect/>
          </a:stretch>
        </p:blipFill>
        <p:spPr>
          <a:xfrm>
            <a:off x="6599820" y="1052736"/>
            <a:ext cx="4846714" cy="5271864"/>
          </a:xfrm>
          <a:prstGeom prst="rect">
            <a:avLst/>
          </a:prstGeom>
        </p:spPr>
      </p:pic>
    </p:spTree>
    <p:extLst>
      <p:ext uri="{BB962C8B-B14F-4D97-AF65-F5344CB8AC3E}">
        <p14:creationId xmlns:p14="http://schemas.microsoft.com/office/powerpoint/2010/main" val="3847151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txBox="1">
            <a:spLocks noGrp="1"/>
          </p:cNvSpPr>
          <p:nvPr>
            <p:ph type="title"/>
          </p:nvPr>
        </p:nvSpPr>
        <p:spPr>
          <a:xfrm>
            <a:off x="838200" y="365125"/>
            <a:ext cx="10515600" cy="34531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onsolas"/>
              <a:buNone/>
            </a:pPr>
            <a:r>
              <a:rPr lang="en-US"/>
              <a:t>We are on a Coffee Break &amp; Networking Session</a:t>
            </a:r>
            <a:endParaRPr/>
          </a:p>
        </p:txBody>
      </p:sp>
    </p:spTree>
    <p:extLst>
      <p:ext uri="{BB962C8B-B14F-4D97-AF65-F5344CB8AC3E}">
        <p14:creationId xmlns:p14="http://schemas.microsoft.com/office/powerpoint/2010/main" val="222939297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6FC4E7CA-796F-DC46-8477-EB1B03D9751B}" vid="{7600C917-09B9-FA45-B59E-E0879212E2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1_Office Theme</Template>
  <TotalTime>125</TotalTime>
  <Words>1340</Words>
  <Application>Microsoft Macintosh PowerPoint</Application>
  <PresentationFormat>Widescreen</PresentationFormat>
  <Paragraphs>124</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Consolas</vt:lpstr>
      <vt:lpstr>Segoe UI</vt:lpstr>
      <vt:lpstr>1_Office Theme</vt:lpstr>
      <vt:lpstr>PowerPoint Presentation</vt:lpstr>
      <vt:lpstr>Expression estimation for known genes and transcripts</vt:lpstr>
      <vt:lpstr>What is FPKM (RPKM)?</vt:lpstr>
      <vt:lpstr>What is FPKM?</vt:lpstr>
      <vt:lpstr>What is FPKM?</vt:lpstr>
      <vt:lpstr>How do FPKM and TPM differ?</vt:lpstr>
      <vt:lpstr>How does StringTie work?</vt:lpstr>
      <vt:lpstr>From flow network for each transcript, maximum flow is used to assemble transcript and estimate abundance </vt:lpstr>
      <vt:lpstr>StringTie Modes</vt:lpstr>
      <vt:lpstr>StringTie -merge</vt:lpstr>
      <vt:lpstr>gffcompare</vt:lpstr>
      <vt:lpstr>We are on a Coffee Break &amp; Networking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Gomez, Felicia</dc:creator>
  <cp:lastModifiedBy>Jennie Yao</cp:lastModifiedBy>
  <cp:revision>9</cp:revision>
  <dcterms:created xsi:type="dcterms:W3CDTF">2023-11-13T22:26:23Z</dcterms:created>
  <dcterms:modified xsi:type="dcterms:W3CDTF">2025-11-11T18:38:01Z</dcterms:modified>
</cp:coreProperties>
</file>