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11"/>
  </p:notesMasterIdLst>
  <p:sldIdLst>
    <p:sldId id="517" r:id="rId2"/>
    <p:sldId id="518" r:id="rId3"/>
    <p:sldId id="519" r:id="rId4"/>
    <p:sldId id="520" r:id="rId5"/>
    <p:sldId id="521" r:id="rId6"/>
    <p:sldId id="522" r:id="rId7"/>
    <p:sldId id="523" r:id="rId8"/>
    <p:sldId id="524" r:id="rId9"/>
    <p:sldId id="52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4"/>
    <p:restoredTop sz="96327"/>
  </p:normalViewPr>
  <p:slideViewPr>
    <p:cSldViewPr snapToGrid="0" snapToObjects="1">
      <p:cViewPr varScale="1">
        <p:scale>
          <a:sx n="127" d="100"/>
          <a:sy n="127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7BD9F9-8452-A342-BB1B-28ECF19E2CC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65747-E6F5-D94A-981D-658B04DED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3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969550-FBCF-404B-9FAA-7B1DCDF2C4F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26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969550-FBCF-404B-9FAA-7B1DCDF2C4F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97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969550-FBCF-404B-9FAA-7B1DCDF2C4F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6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969550-FBCF-404B-9FAA-7B1DCDF2C4F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742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969550-FBCF-404B-9FAA-7B1DCDF2C4F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189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969550-FBCF-404B-9FAA-7B1DCDF2C4F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123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969550-FBCF-404B-9FAA-7B1DCDF2C4F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87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465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615875-1AE6-CC48-9CDA-83B4DB9E01BD}"/>
              </a:ext>
            </a:extLst>
          </p:cNvPr>
          <p:cNvSpPr/>
          <p:nvPr userDrawn="1"/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pic>
        <p:nvPicPr>
          <p:cNvPr id="9" name="Picture 7" descr="cshl_logo_alternate rgb.png">
            <a:extLst>
              <a:ext uri="{FF2B5EF4-FFF2-40B4-BE49-F238E27FC236}">
                <a16:creationId xmlns:a16="http://schemas.microsoft.com/office/drawing/2014/main" id="{2ABB33F8-A05E-3547-922B-CE0D692524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381000"/>
            <a:ext cx="350996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6461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77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590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314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84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281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8077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7695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5438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28FB569-0485-8045-BFD7-167815E77336}"/>
              </a:ext>
            </a:extLst>
          </p:cNvPr>
          <p:cNvSpPr txBox="1">
            <a:spLocks/>
          </p:cNvSpPr>
          <p:nvPr userDrawn="1"/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898989"/>
                </a:solidFill>
                <a:latin typeface="Segoe UI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8C1412E-69E1-864D-A0DF-94DDC7C8003B}" type="slidenum">
              <a:rPr lang="en-US" sz="900" smtClean="0"/>
              <a:pPr>
                <a:defRPr/>
              </a:pPr>
              <a:t>‹#›</a:t>
            </a:fld>
            <a:endParaRPr lang="en-US" sz="9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0306AE-18A0-4C44-8452-FDAD4CEC049D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9A33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BC81E6-F19D-9E4F-A613-5717CEE394C4}"/>
              </a:ext>
            </a:extLst>
          </p:cNvPr>
          <p:cNvSpPr txBox="1"/>
          <p:nvPr userDrawn="1"/>
        </p:nvSpPr>
        <p:spPr>
          <a:xfrm>
            <a:off x="9721408" y="6447904"/>
            <a:ext cx="2362200" cy="36933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800" b="1" dirty="0">
                <a:solidFill>
                  <a:schemeClr val="bg1"/>
                </a:solidFill>
                <a:cs typeface="Arial" charset="0"/>
              </a:rPr>
              <a:t>rnabio.org</a:t>
            </a:r>
            <a:endParaRPr lang="en-US" sz="1800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F5D193-BF70-C04D-ACCD-2D3C430B970A}"/>
              </a:ext>
            </a:extLst>
          </p:cNvPr>
          <p:cNvSpPr txBox="1"/>
          <p:nvPr userDrawn="1"/>
        </p:nvSpPr>
        <p:spPr>
          <a:xfrm>
            <a:off x="5867412" y="6447904"/>
            <a:ext cx="45717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fld id="{0153C3B2-0654-1049-821D-A9450C27E9C9}" type="slidenum">
              <a:rPr lang="en-US" sz="1800" smtClean="0">
                <a:solidFill>
                  <a:schemeClr val="bg1"/>
                </a:solidFill>
              </a:rPr>
              <a:pPr algn="ctr"/>
              <a:t>‹#›</a:t>
            </a:fld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690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arxiv.org/ftp/arxiv/papers/1304/1304.5952.pdf" TargetMode="External"/><Relationship Id="rId4" Type="http://schemas.openxmlformats.org/officeDocument/2006/relationships/hyperlink" Target="http://www.rna-seqblog.com/data-analysis/splicing-junction/methods-to-study-splicing-from-rna-seq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arxiv.org/ftp/arxiv/papers/1304/1304.5952.pdf" TargetMode="External"/><Relationship Id="rId4" Type="http://schemas.openxmlformats.org/officeDocument/2006/relationships/hyperlink" Target="http://www.rna-seqblog.com/data-analysis/splicing-junction/methods-to-study-splicing-from-rna-seq/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biostars.org/p/13525/" TargetMode="External"/><Relationship Id="rId3" Type="http://schemas.openxmlformats.org/officeDocument/2006/relationships/hyperlink" Target="http://www.biostars.org/p/68966/" TargetMode="External"/><Relationship Id="rId7" Type="http://schemas.openxmlformats.org/officeDocument/2006/relationships/hyperlink" Target="http://www.biostars.org/p/50365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biostars.org/p/11695/" TargetMode="External"/><Relationship Id="rId5" Type="http://schemas.openxmlformats.org/officeDocument/2006/relationships/hyperlink" Target="http://www.biostars.org/p/65617/" TargetMode="External"/><Relationship Id="rId4" Type="http://schemas.openxmlformats.org/officeDocument/2006/relationships/hyperlink" Target="http://www.biostars.org/p/62728/" TargetMode="External"/><Relationship Id="rId9" Type="http://schemas.openxmlformats.org/officeDocument/2006/relationships/hyperlink" Target="http://www.biostars.org/p/8979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11EB652-D19B-3146-BD1E-BFCBA6FE97A3}"/>
              </a:ext>
            </a:extLst>
          </p:cNvPr>
          <p:cNvSpPr txBox="1">
            <a:spLocks/>
          </p:cNvSpPr>
          <p:nvPr/>
        </p:nvSpPr>
        <p:spPr>
          <a:xfrm>
            <a:off x="2923307" y="141514"/>
            <a:ext cx="9144000" cy="131418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800" dirty="0">
                <a:solidFill>
                  <a:schemeClr val="bg1"/>
                </a:solidFill>
                <a:latin typeface="Calibri" charset="0"/>
                <a:cs typeface="Segoe UI" charset="0"/>
              </a:rPr>
              <a:t>RNA-Seq Module 5:</a:t>
            </a:r>
            <a:br>
              <a:rPr lang="en-US" sz="2800" dirty="0">
                <a:solidFill>
                  <a:schemeClr val="bg1"/>
                </a:solidFill>
                <a:latin typeface="Calibri" charset="0"/>
                <a:cs typeface="Segoe UI" charset="0"/>
              </a:rPr>
            </a:br>
            <a:r>
              <a:rPr lang="en-US" sz="2800" dirty="0">
                <a:solidFill>
                  <a:schemeClr val="bg1"/>
                </a:solidFill>
                <a:latin typeface="Calibri" charset="0"/>
                <a:cs typeface="Segoe UI" charset="0"/>
              </a:rPr>
              <a:t>Alternative Splicing Analysis</a:t>
            </a:r>
            <a:endParaRPr lang="en-US" sz="2400" b="1" dirty="0">
              <a:solidFill>
                <a:schemeClr val="bg1"/>
              </a:solidFill>
              <a:latin typeface="Calibri" charset="0"/>
              <a:cs typeface="Segoe UI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0342F4-961F-E246-9C22-0BF8AC987708}"/>
              </a:ext>
            </a:extLst>
          </p:cNvPr>
          <p:cNvSpPr/>
          <p:nvPr/>
        </p:nvSpPr>
        <p:spPr>
          <a:xfrm>
            <a:off x="0" y="2522835"/>
            <a:ext cx="12192000" cy="3889541"/>
          </a:xfrm>
          <a:prstGeom prst="rect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Calibri" charset="0"/>
              <a:ea typeface="ＭＳ Ｐゴシック" charset="0"/>
              <a:cs typeface="Calibri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F7262EC-D91D-F64B-B4AA-D9D227E4F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16" y="2890275"/>
            <a:ext cx="3128830" cy="3128830"/>
          </a:xfrm>
          <a:prstGeom prst="rect">
            <a:avLst/>
          </a:prstGeom>
        </p:spPr>
      </p:pic>
      <p:pic>
        <p:nvPicPr>
          <p:cNvPr id="17" name="Picture 1" descr="RNA-Seq-alignment.png">
            <a:extLst>
              <a:ext uri="{FF2B5EF4-FFF2-40B4-BE49-F238E27FC236}">
                <a16:creationId xmlns:a16="http://schemas.microsoft.com/office/drawing/2014/main" id="{C11293DD-B100-654A-9ACD-631174E6CB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151" y="2888092"/>
            <a:ext cx="3271336" cy="31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5D1468-69B8-E745-BF05-FF1BA3E6F4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851" y="3731538"/>
            <a:ext cx="5263149" cy="163198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433475B-471B-0F5A-ECB6-13A29A90B778}"/>
              </a:ext>
            </a:extLst>
          </p:cNvPr>
          <p:cNvSpPr txBox="1">
            <a:spLocks/>
          </p:cNvSpPr>
          <p:nvPr/>
        </p:nvSpPr>
        <p:spPr>
          <a:xfrm>
            <a:off x="3647728" y="1219199"/>
            <a:ext cx="8468072" cy="1161346"/>
          </a:xfrm>
          <a:prstGeom prst="rect">
            <a:avLst/>
          </a:prstGeom>
        </p:spPr>
        <p:txBody>
          <a:bodyPr anchor="ctr"/>
          <a:lstStyle>
            <a:lvl1pPr algn="r">
              <a:defRPr sz="3200" baseline="0">
                <a:solidFill>
                  <a:schemeClr val="bg1"/>
                </a:solidFill>
                <a:latin typeface="Adobe Jenson Pro" pitchFamily="18" charset="0"/>
              </a:defRPr>
            </a:lvl1pPr>
          </a:lstStyle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Felicia Gomez, </a:t>
            </a:r>
            <a:r>
              <a:rPr lang="en-US" sz="1800" dirty="0" err="1">
                <a:latin typeface="Calibri"/>
                <a:cs typeface="Calibri"/>
              </a:rPr>
              <a:t>Charlz</a:t>
            </a:r>
            <a:r>
              <a:rPr lang="en-US" sz="1800" dirty="0">
                <a:latin typeface="Calibri"/>
                <a:cs typeface="Calibri"/>
              </a:rPr>
              <a:t> Jerold, Obi Griffith, Malachi Griffith, </a:t>
            </a:r>
          </a:p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My Hoang, Mariam Khanfar, Chris Miller, Kartik Singhal, Jennie Yao </a:t>
            </a:r>
          </a:p>
          <a:p>
            <a:pPr>
              <a:defRPr/>
            </a:pPr>
            <a:r>
              <a:rPr lang="en-US" sz="1800" dirty="0">
                <a:ln w="1270">
                  <a:solidFill>
                    <a:schemeClr val="tx1">
                      <a:alpha val="38000"/>
                    </a:schemeClr>
                  </a:solidFill>
                </a:ln>
                <a:latin typeface="Calibri"/>
                <a:cs typeface="Calibri"/>
              </a:rPr>
              <a:t>Advanced Sequencing Technologies &amp; Bioinformatics Analysis </a:t>
            </a:r>
            <a:r>
              <a:rPr lang="en-US" sz="1600" dirty="0">
                <a:ln w="1270">
                  <a:solidFill>
                    <a:schemeClr val="tx1">
                      <a:alpha val="38000"/>
                    </a:schemeClr>
                  </a:solidFill>
                </a:ln>
                <a:latin typeface="Calibri"/>
                <a:cs typeface="Calibri"/>
              </a:rPr>
              <a:t>November 10-21, 2025</a:t>
            </a:r>
          </a:p>
        </p:txBody>
      </p:sp>
    </p:spTree>
    <p:extLst>
      <p:ext uri="{BB962C8B-B14F-4D97-AF65-F5344CB8AC3E}">
        <p14:creationId xmlns:p14="http://schemas.microsoft.com/office/powerpoint/2010/main" val="293946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76400" y="116633"/>
            <a:ext cx="3411488" cy="114300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charset="0"/>
                <a:ea typeface="ＭＳ Ｐゴシック" charset="0"/>
              </a:rPr>
              <a:t>Review of gene expression</a:t>
            </a:r>
          </a:p>
        </p:txBody>
      </p:sp>
      <p:pic>
        <p:nvPicPr>
          <p:cNvPr id="3" name="Picture 2" descr="Figure1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144" y="116632"/>
            <a:ext cx="4880312" cy="610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681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1676400" y="-26988"/>
            <a:ext cx="8839200" cy="114300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charset="0"/>
                <a:ea typeface="ＭＳ Ｐゴシック" charset="0"/>
              </a:rPr>
              <a:t>Types of alternative expression - part 1</a:t>
            </a:r>
          </a:p>
        </p:txBody>
      </p:sp>
      <p:pic>
        <p:nvPicPr>
          <p:cNvPr id="18434" name="Content Placeholder 3" descr="Figure2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9" r="-1949" b="48083"/>
          <a:stretch>
            <a:fillRect/>
          </a:stretch>
        </p:blipFill>
        <p:spPr>
          <a:xfrm>
            <a:off x="2801938" y="1341439"/>
            <a:ext cx="7129462" cy="4611687"/>
          </a:xfrm>
        </p:spPr>
      </p:pic>
    </p:spTree>
    <p:extLst>
      <p:ext uri="{BB962C8B-B14F-4D97-AF65-F5344CB8AC3E}">
        <p14:creationId xmlns:p14="http://schemas.microsoft.com/office/powerpoint/2010/main" val="2380319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/>
          </p:nvPr>
        </p:nvSpPr>
        <p:spPr>
          <a:xfrm>
            <a:off x="1676400" y="-26988"/>
            <a:ext cx="8839200" cy="114300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charset="0"/>
                <a:ea typeface="ＭＳ Ｐゴシック" charset="0"/>
              </a:rPr>
              <a:t>Types of alternative expression – part 2</a:t>
            </a:r>
          </a:p>
        </p:txBody>
      </p:sp>
      <p:pic>
        <p:nvPicPr>
          <p:cNvPr id="19458" name="Content Placeholder 3" descr="Figure2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00" t="52509" r="-2956"/>
          <a:stretch>
            <a:fillRect/>
          </a:stretch>
        </p:blipFill>
        <p:spPr>
          <a:xfrm>
            <a:off x="2424114" y="1341438"/>
            <a:ext cx="7654925" cy="4475162"/>
          </a:xfrm>
        </p:spPr>
      </p:pic>
    </p:spTree>
    <p:extLst>
      <p:ext uri="{BB962C8B-B14F-4D97-AF65-F5344CB8AC3E}">
        <p14:creationId xmlns:p14="http://schemas.microsoft.com/office/powerpoint/2010/main" val="3646894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/>
          </p:nvPr>
        </p:nvSpPr>
        <p:spPr>
          <a:xfrm>
            <a:off x="1676400" y="-26988"/>
            <a:ext cx="8839200" cy="114300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charset="0"/>
                <a:ea typeface="ＭＳ Ｐゴシック" charset="0"/>
              </a:rPr>
              <a:t>Methods to study splicing by RNA-</a:t>
            </a:r>
            <a:r>
              <a:rPr lang="en-US" b="1" dirty="0" err="1">
                <a:latin typeface="Calibri" charset="0"/>
                <a:ea typeface="ＭＳ Ｐゴシック" charset="0"/>
              </a:rPr>
              <a:t>seq</a:t>
            </a:r>
            <a:endParaRPr lang="en-US" b="1" dirty="0">
              <a:latin typeface="Calibri" charset="0"/>
              <a:ea typeface="ＭＳ Ｐゴシック" charset="0"/>
            </a:endParaRPr>
          </a:p>
        </p:txBody>
      </p:sp>
      <p:pic>
        <p:nvPicPr>
          <p:cNvPr id="16386" name="Content Placeholder 3" descr="RNAseqToolsForAlternativeSplicing.jp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5" t="1907" r="5653" b="3806"/>
          <a:stretch>
            <a:fillRect/>
          </a:stretch>
        </p:blipFill>
        <p:spPr>
          <a:xfrm>
            <a:off x="3787776" y="981075"/>
            <a:ext cx="4608513" cy="4884738"/>
          </a:xfrm>
        </p:spPr>
      </p:pic>
      <p:sp>
        <p:nvSpPr>
          <p:cNvPr id="16387" name="TextBox 4"/>
          <p:cNvSpPr txBox="1">
            <a:spLocks noChangeArrowheads="1"/>
          </p:cNvSpPr>
          <p:nvPr/>
        </p:nvSpPr>
        <p:spPr bwMode="auto">
          <a:xfrm>
            <a:off x="2057400" y="5876926"/>
            <a:ext cx="8070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>
                <a:hlinkClick r:id="rId4"/>
              </a:rPr>
              <a:t>http://www.rna-seqblog.com/data-analysis/splicing-junction/methods-to-study-splicing-from-rna-seq/</a:t>
            </a:r>
            <a:endParaRPr lang="en-US" sz="1400"/>
          </a:p>
          <a:p>
            <a:pPr eaLnBrk="1" hangingPunct="1"/>
            <a:r>
              <a:rPr lang="en-US" sz="1400">
                <a:hlinkClick r:id="rId5"/>
              </a:rPr>
              <a:t>http://arxiv.org/ftp/arxiv/papers/1304/1304.5952.pdf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532318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>
          <a:xfrm>
            <a:off x="1676400" y="-26988"/>
            <a:ext cx="8839200" cy="1143001"/>
          </a:xfrm>
        </p:spPr>
        <p:txBody>
          <a:bodyPr/>
          <a:lstStyle/>
          <a:p>
            <a:r>
              <a:rPr lang="en-US">
                <a:latin typeface="Calibri" charset="0"/>
                <a:ea typeface="ＭＳ Ｐゴシック" charset="0"/>
              </a:rPr>
              <a:t>Methods to study splicing by RNA-seq</a:t>
            </a:r>
          </a:p>
        </p:txBody>
      </p:sp>
      <p:pic>
        <p:nvPicPr>
          <p:cNvPr id="27650" name="Content Placeholder 3" descr="RNAseqToolsForAlternativeSplicing.jp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5" t="24612" r="51976" b="53220"/>
          <a:stretch>
            <a:fillRect/>
          </a:stretch>
        </p:blipFill>
        <p:spPr>
          <a:xfrm>
            <a:off x="1919288" y="1412875"/>
            <a:ext cx="7777162" cy="4044950"/>
          </a:xfrm>
        </p:spPr>
      </p:pic>
      <p:sp>
        <p:nvSpPr>
          <p:cNvPr id="27651" name="TextBox 4"/>
          <p:cNvSpPr txBox="1">
            <a:spLocks noChangeArrowheads="1"/>
          </p:cNvSpPr>
          <p:nvPr/>
        </p:nvSpPr>
        <p:spPr bwMode="auto">
          <a:xfrm>
            <a:off x="2057400" y="5876926"/>
            <a:ext cx="8070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>
                <a:hlinkClick r:id="rId4"/>
              </a:rPr>
              <a:t>http://www.rna-seqblog.com/data-analysis/splicing-junction/methods-to-study-splicing-from-rna-seq/</a:t>
            </a:r>
            <a:endParaRPr lang="en-US" sz="1400"/>
          </a:p>
          <a:p>
            <a:pPr eaLnBrk="1" hangingPunct="1"/>
            <a:r>
              <a:rPr lang="en-US" sz="1400">
                <a:hlinkClick r:id="rId5"/>
              </a:rPr>
              <a:t>http://arxiv.org/ftp/arxiv/papers/1304/1304.5952.pdf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179959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76400" y="-26988"/>
            <a:ext cx="8839200" cy="1143001"/>
          </a:xfrm>
        </p:spPr>
        <p:txBody>
          <a:bodyPr/>
          <a:lstStyle/>
          <a:p>
            <a:r>
              <a:rPr lang="en-US" b="1" dirty="0">
                <a:latin typeface="Calibri" charset="0"/>
                <a:ea typeface="ＭＳ Ｐゴシック" charset="0"/>
              </a:rPr>
              <a:t>Useful resources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341437"/>
            <a:ext cx="8839200" cy="4969421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Best approach to predict novel and alternative splicing events from RNA-seq data</a:t>
            </a:r>
          </a:p>
          <a:p>
            <a:pPr lvl="1"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http://www.biostars.org/p/68966/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http://www.biostars.org/p/62728/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Alternative splicing detection</a:t>
            </a:r>
          </a:p>
          <a:p>
            <a:pPr lvl="1"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http://www.biostars.org/p/65617/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http://www.biostars.org/p/11695/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Identifying genes that express different isoforms in cancer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vs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normal RNA-seq data</a:t>
            </a:r>
          </a:p>
          <a:p>
            <a:pPr lvl="1"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http://www.biostars.org/p/50365/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Cufflinks /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Cuffdiff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Output - How are tests different?</a:t>
            </a:r>
          </a:p>
          <a:p>
            <a:pPr lvl="1"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8"/>
              </a:rPr>
              <a:t>http://www.biostars.org/p/13525/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Visualization of alternative splicing events using RNA-seq data</a:t>
            </a:r>
          </a:p>
          <a:p>
            <a:pPr lvl="1"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http://www.biostars.org/p/8979/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177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/>
          </p:nvPr>
        </p:nvSpPr>
        <p:spPr>
          <a:xfrm>
            <a:off x="164892" y="-26988"/>
            <a:ext cx="11797259" cy="114300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charset="0"/>
                <a:ea typeface="ＭＳ Ｐゴシック" charset="0"/>
              </a:rPr>
              <a:t>Sequencing methods for studying alternative isoforms</a:t>
            </a:r>
          </a:p>
        </p:txBody>
      </p:sp>
      <p:pic>
        <p:nvPicPr>
          <p:cNvPr id="20482" name="Content Placeholder 3" descr="Figure3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06" r="-1291"/>
          <a:stretch>
            <a:fillRect/>
          </a:stretch>
        </p:blipFill>
        <p:spPr>
          <a:xfrm>
            <a:off x="3935413" y="1268414"/>
            <a:ext cx="4000500" cy="4911725"/>
          </a:xfrm>
        </p:spPr>
      </p:pic>
    </p:spTree>
    <p:extLst>
      <p:ext uri="{BB962C8B-B14F-4D97-AF65-F5344CB8AC3E}">
        <p14:creationId xmlns:p14="http://schemas.microsoft.com/office/powerpoint/2010/main" val="2543725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34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olas"/>
              <a:buNone/>
            </a:pPr>
            <a:r>
              <a:rPr lang="en-US"/>
              <a:t>We are on a Coffee Break &amp; Networking Session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4734449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6FC4E7CA-796F-DC46-8477-EB1B03D9751B}" vid="{7600C917-09B9-FA45-B59E-E0879212E2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1_Office Theme</Template>
  <TotalTime>0</TotalTime>
  <Words>288</Words>
  <Application>Microsoft Macintosh PowerPoint</Application>
  <PresentationFormat>Widescreen</PresentationFormat>
  <Paragraphs>36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Segoe UI</vt:lpstr>
      <vt:lpstr>1_Office Theme</vt:lpstr>
      <vt:lpstr>PowerPoint Presentation</vt:lpstr>
      <vt:lpstr>Review of gene expression</vt:lpstr>
      <vt:lpstr>Types of alternative expression - part 1</vt:lpstr>
      <vt:lpstr>Types of alternative expression – part 2</vt:lpstr>
      <vt:lpstr>Methods to study splicing by RNA-seq</vt:lpstr>
      <vt:lpstr>Methods to study splicing by RNA-seq</vt:lpstr>
      <vt:lpstr>Useful resources and discussion</vt:lpstr>
      <vt:lpstr>Sequencing methods for studying alternative isoforms</vt:lpstr>
      <vt:lpstr>We are on a Coffee Break &amp; Networking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Gomez, Felicia</dc:creator>
  <cp:lastModifiedBy>Jennie Yao</cp:lastModifiedBy>
  <cp:revision>3</cp:revision>
  <dcterms:created xsi:type="dcterms:W3CDTF">2023-11-13T22:55:37Z</dcterms:created>
  <dcterms:modified xsi:type="dcterms:W3CDTF">2025-11-11T18:41:01Z</dcterms:modified>
</cp:coreProperties>
</file>