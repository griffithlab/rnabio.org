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813" r:id="rId2"/>
  </p:sldMasterIdLst>
  <p:notesMasterIdLst>
    <p:notesMasterId r:id="rId8"/>
  </p:notesMasterIdLst>
  <p:handoutMasterIdLst>
    <p:handoutMasterId r:id="rId9"/>
  </p:handoutMasterIdLst>
  <p:sldIdLst>
    <p:sldId id="517" r:id="rId3"/>
    <p:sldId id="582" r:id="rId4"/>
    <p:sldId id="583" r:id="rId5"/>
    <p:sldId id="579" r:id="rId6"/>
    <p:sldId id="260" r:id="rId7"/>
  </p:sldIdLst>
  <p:sldSz cx="12192000" cy="6858000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A0000"/>
    <a:srgbClr val="FF0000"/>
    <a:srgbClr val="FFFFFF"/>
    <a:srgbClr val="E1DB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553"/>
    <p:restoredTop sz="95007"/>
  </p:normalViewPr>
  <p:slideViewPr>
    <p:cSldViewPr>
      <p:cViewPr varScale="1">
        <p:scale>
          <a:sx n="121" d="100"/>
          <a:sy n="121" d="100"/>
        </p:scale>
        <p:origin x="256" y="16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262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>
              <a:defRPr sz="1300">
                <a:latin typeface="Calibri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Calibri" charset="0"/>
              </a:defRPr>
            </a:lvl1pPr>
          </a:lstStyle>
          <a:p>
            <a:pPr>
              <a:defRPr/>
            </a:pPr>
            <a:fld id="{DE9121C1-E2BF-E745-B860-78422DD9843C}" type="datetime1">
              <a:rPr lang="en-US"/>
              <a:pPr>
                <a:defRPr/>
              </a:pPr>
              <a:t>11/14/25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>
              <a:defRPr sz="1300">
                <a:latin typeface="Calibri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Calibri" charset="0"/>
              </a:defRPr>
            </a:lvl1pPr>
          </a:lstStyle>
          <a:p>
            <a:pPr>
              <a:defRPr/>
            </a:pPr>
            <a:fld id="{78E0C042-AF95-A94D-832D-10E1E8C542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2654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>
              <a:defRPr sz="1300">
                <a:latin typeface="Calibri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Calibri" charset="0"/>
              </a:defRPr>
            </a:lvl1pPr>
          </a:lstStyle>
          <a:p>
            <a:pPr>
              <a:defRPr/>
            </a:pPr>
            <a:fld id="{35287995-21E9-BA49-A2F5-7D67D447DBDA}" type="datetime1">
              <a:rPr lang="en-US"/>
              <a:pPr>
                <a:defRPr/>
              </a:pPr>
              <a:t>11/14/25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6661" tIns="48331" rIns="96661" bIns="48331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>
              <a:defRPr sz="1300">
                <a:latin typeface="Calibri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Calibri" charset="0"/>
              </a:defRPr>
            </a:lvl1pPr>
          </a:lstStyle>
          <a:p>
            <a:pPr>
              <a:defRPr/>
            </a:pPr>
            <a:fld id="{58FBEE90-0CDA-3447-B595-4F8759630F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15161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28" charset="-128"/>
        <a:cs typeface="ＭＳ Ｐゴシック" pitchFamily="-28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28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28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28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28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My name is 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C65747-E6F5-D94A-981D-658B04DED67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19801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3" name="Google Shape;9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798116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12192000" cy="2514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>
              <a:solidFill>
                <a:srgbClr val="FFFFFF"/>
              </a:solidFill>
              <a:latin typeface="Segoe UI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9111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200" y="274638"/>
            <a:ext cx="11785600" cy="1143000"/>
          </a:xfrm>
        </p:spPr>
        <p:txBody>
          <a:bodyPr/>
          <a:lstStyle>
            <a:lvl1pPr>
              <a:defRPr sz="4000" b="1">
                <a:latin typeface="Calibri"/>
                <a:cs typeface="Calibri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200" y="1600200"/>
            <a:ext cx="11785600" cy="4724400"/>
          </a:xfrm>
        </p:spPr>
        <p:txBody>
          <a:bodyPr/>
          <a:lstStyle>
            <a:lvl1pPr>
              <a:defRPr>
                <a:latin typeface="Calibri"/>
                <a:cs typeface="Calibri"/>
              </a:defRPr>
            </a:lvl1pPr>
            <a:lvl2pPr>
              <a:defRPr>
                <a:latin typeface="Calibri"/>
                <a:cs typeface="Calibri"/>
              </a:defRPr>
            </a:lvl2pPr>
            <a:lvl3pPr>
              <a:defRPr>
                <a:latin typeface="Calibri"/>
                <a:cs typeface="Calibri"/>
              </a:defRPr>
            </a:lvl3pPr>
            <a:lvl4pPr>
              <a:defRPr>
                <a:latin typeface="Calibri"/>
                <a:cs typeface="Calibri"/>
              </a:defRPr>
            </a:lvl4pPr>
            <a:lvl5pPr>
              <a:defRPr>
                <a:latin typeface="Calibri"/>
                <a:cs typeface="Calibri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03809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200" y="274638"/>
            <a:ext cx="11785600" cy="1143000"/>
          </a:xfrm>
        </p:spPr>
        <p:txBody>
          <a:bodyPr/>
          <a:lstStyle>
            <a:lvl1pPr>
              <a:defRPr sz="4000" b="1">
                <a:latin typeface="Calibri"/>
                <a:cs typeface="Calibri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964543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s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200" y="274638"/>
            <a:ext cx="11785600" cy="1143000"/>
          </a:xfrm>
        </p:spPr>
        <p:txBody>
          <a:bodyPr/>
          <a:lstStyle>
            <a:lvl1pPr>
              <a:defRPr sz="4000" b="1">
                <a:latin typeface="Calibri"/>
                <a:cs typeface="Calibri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200" y="1600200"/>
            <a:ext cx="5791200" cy="4724400"/>
          </a:xfrm>
        </p:spPr>
        <p:txBody>
          <a:bodyPr/>
          <a:lstStyle>
            <a:lvl1pPr>
              <a:defRPr sz="2800">
                <a:latin typeface="Calibri"/>
                <a:cs typeface="Calibri"/>
              </a:defRPr>
            </a:lvl1pPr>
            <a:lvl2pPr>
              <a:defRPr sz="2400">
                <a:latin typeface="Calibri"/>
                <a:cs typeface="Calibri"/>
              </a:defRPr>
            </a:lvl2pPr>
            <a:lvl3pPr>
              <a:defRPr sz="2000">
                <a:latin typeface="Calibri"/>
                <a:cs typeface="Calibri"/>
              </a:defRPr>
            </a:lvl3pPr>
            <a:lvl4pPr>
              <a:defRPr sz="1800">
                <a:latin typeface="Calibri"/>
                <a:cs typeface="Calibri"/>
              </a:defRPr>
            </a:lvl4pPr>
            <a:lvl5pPr>
              <a:defRPr sz="1800">
                <a:latin typeface="Calibri"/>
                <a:cs typeface="Calibri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0"/>
          </p:nvPr>
        </p:nvSpPr>
        <p:spPr>
          <a:xfrm>
            <a:off x="6197600" y="1600200"/>
            <a:ext cx="5791200" cy="4724400"/>
          </a:xfrm>
        </p:spPr>
        <p:txBody>
          <a:bodyPr/>
          <a:lstStyle>
            <a:lvl1pPr>
              <a:defRPr sz="2800">
                <a:latin typeface="Calibri"/>
                <a:cs typeface="Calibri"/>
              </a:defRPr>
            </a:lvl1pPr>
            <a:lvl2pPr>
              <a:defRPr sz="2400">
                <a:latin typeface="Calibri"/>
                <a:cs typeface="Calibri"/>
              </a:defRPr>
            </a:lvl2pPr>
            <a:lvl3pPr>
              <a:defRPr sz="2000">
                <a:latin typeface="Calibri"/>
                <a:cs typeface="Calibri"/>
              </a:defRPr>
            </a:lvl3pPr>
            <a:lvl4pPr>
              <a:defRPr sz="1800">
                <a:latin typeface="Calibri"/>
                <a:cs typeface="Calibri"/>
              </a:defRPr>
            </a:lvl4pPr>
            <a:lvl5pPr>
              <a:defRPr sz="1800">
                <a:latin typeface="Calibri"/>
                <a:cs typeface="Calibri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02792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200" y="152400"/>
            <a:ext cx="11785600" cy="6172200"/>
          </a:xfrm>
        </p:spPr>
        <p:txBody>
          <a:bodyPr/>
          <a:lstStyle>
            <a:lvl1pPr>
              <a:defRPr sz="2800">
                <a:latin typeface="Calibri"/>
                <a:cs typeface="Calibri"/>
              </a:defRPr>
            </a:lvl1pPr>
            <a:lvl2pPr>
              <a:defRPr sz="2400">
                <a:latin typeface="Calibri"/>
                <a:cs typeface="Calibri"/>
              </a:defRPr>
            </a:lvl2pPr>
            <a:lvl3pPr>
              <a:defRPr sz="2000">
                <a:latin typeface="Calibri"/>
                <a:cs typeface="Calibri"/>
              </a:defRPr>
            </a:lvl3pPr>
            <a:lvl4pPr>
              <a:defRPr sz="1800">
                <a:latin typeface="Calibri"/>
                <a:cs typeface="Calibri"/>
              </a:defRPr>
            </a:lvl4pPr>
            <a:lvl5pPr>
              <a:defRPr sz="1800">
                <a:latin typeface="Calibri"/>
                <a:cs typeface="Calibri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49620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0" y="1151469"/>
            <a:ext cx="5486400" cy="49746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51469"/>
            <a:ext cx="5588000" cy="49746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9176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D0AD11-E150-784D-BBB9-5AA24CA37BAE}"/>
              </a:ext>
            </a:extLst>
          </p:cNvPr>
          <p:cNvSpPr txBox="1"/>
          <p:nvPr userDrawn="1"/>
        </p:nvSpPr>
        <p:spPr>
          <a:xfrm>
            <a:off x="5761630" y="6451911"/>
            <a:ext cx="668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663B4470-66D3-704F-8586-E8D8B4F9846D}" type="slidenum">
              <a:rPr lang="en-US" sz="1800" b="0" smtClean="0">
                <a:solidFill>
                  <a:schemeClr val="bg1"/>
                </a:solidFill>
              </a:rPr>
              <a:pPr algn="ctr"/>
              <a:t>‹#›</a:t>
            </a:fld>
            <a:endParaRPr lang="en-US" sz="1800" b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4388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615875-1AE6-CC48-9CDA-83B4DB9E01BD}"/>
              </a:ext>
            </a:extLst>
          </p:cNvPr>
          <p:cNvSpPr/>
          <p:nvPr userDrawn="1"/>
        </p:nvSpPr>
        <p:spPr>
          <a:xfrm>
            <a:off x="0" y="0"/>
            <a:ext cx="12192000" cy="2514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 dirty="0"/>
          </a:p>
        </p:txBody>
      </p:sp>
      <p:pic>
        <p:nvPicPr>
          <p:cNvPr id="9" name="Picture 7" descr="cshl_logo_alternate rgb.png">
            <a:extLst>
              <a:ext uri="{FF2B5EF4-FFF2-40B4-BE49-F238E27FC236}">
                <a16:creationId xmlns:a16="http://schemas.microsoft.com/office/drawing/2014/main" id="{2ABB33F8-A05E-3547-922B-CE0D692524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038" y="381000"/>
            <a:ext cx="3509962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36704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8446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92042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54596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6091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5184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04433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606561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550022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12192000" cy="2514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>
              <a:solidFill>
                <a:srgbClr val="FFFFFF"/>
              </a:solidFill>
              <a:latin typeface="Segoe UI" charset="0"/>
              <a:ea typeface="ＭＳ Ｐゴシック" charset="0"/>
              <a:cs typeface="ＭＳ Ｐゴシック" charset="0"/>
            </a:endParaRPr>
          </a:p>
        </p:txBody>
      </p:sp>
      <p:pic>
        <p:nvPicPr>
          <p:cNvPr id="5" name="Picture 7" descr="cshl_logo_alternate rgb.png">
            <a:extLst>
              <a:ext uri="{FF2B5EF4-FFF2-40B4-BE49-F238E27FC236}">
                <a16:creationId xmlns:a16="http://schemas.microsoft.com/office/drawing/2014/main" id="{5DC8E3AA-C257-D14E-A5A8-DF7017F43DE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038" y="381000"/>
            <a:ext cx="3509962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3270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42D9A2-C384-504F-A21F-4E461C292C4D}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9A33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D3AF26-EEB7-234F-864A-46D92D67A7B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27541" y="6461447"/>
            <a:ext cx="894080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500" b="1" dirty="0">
                <a:solidFill>
                  <a:schemeClr val="bg1"/>
                </a:solidFill>
                <a:latin typeface="Calibri" charset="0"/>
                <a:cs typeface="Calibri" charset="0"/>
              </a:rPr>
              <a:t>Module 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3FD3AE-7B31-FB40-93E9-9E19F3055CE6}"/>
              </a:ext>
            </a:extLst>
          </p:cNvPr>
          <p:cNvSpPr txBox="1"/>
          <p:nvPr userDrawn="1"/>
        </p:nvSpPr>
        <p:spPr>
          <a:xfrm>
            <a:off x="8803051" y="6451602"/>
            <a:ext cx="3149600" cy="369332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eaLnBrk="1" hangingPunct="1">
              <a:defRPr/>
            </a:pPr>
            <a:r>
              <a:rPr lang="en-US" sz="1800" b="1" dirty="0">
                <a:solidFill>
                  <a:schemeClr val="bg1"/>
                </a:solidFill>
                <a:cs typeface="Arial" charset="0"/>
              </a:rPr>
              <a:t>rnabio.org</a:t>
            </a:r>
            <a:endParaRPr lang="en-US" sz="1800" dirty="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43E6FB-A43A-1440-8CFC-E45A2373FA7C}"/>
              </a:ext>
            </a:extLst>
          </p:cNvPr>
          <p:cNvSpPr txBox="1"/>
          <p:nvPr userDrawn="1"/>
        </p:nvSpPr>
        <p:spPr>
          <a:xfrm>
            <a:off x="5885847" y="6471291"/>
            <a:ext cx="420307" cy="3231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fld id="{0153C3B2-0654-1049-821D-A9450C27E9C9}" type="slidenum">
              <a:rPr lang="en-US" sz="1500" smtClean="0">
                <a:solidFill>
                  <a:schemeClr val="bg1"/>
                </a:solidFill>
              </a:rPr>
              <a:pPr algn="ctr"/>
              <a:t>‹#›</a:t>
            </a:fld>
            <a:endParaRPr lang="en-US" sz="1500" dirty="0">
              <a:solidFill>
                <a:schemeClr val="bg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2" r:id="rId7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 kern="1200">
          <a:solidFill>
            <a:schemeClr val="tx1"/>
          </a:solidFill>
          <a:latin typeface="Calibri"/>
          <a:ea typeface="ＭＳ Ｐゴシック" pitchFamily="-28" charset="-128"/>
          <a:cs typeface="Calibri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Calibri" charset="0"/>
          <a:ea typeface="ＭＳ Ｐゴシック" pitchFamily="-28" charset="-128"/>
          <a:cs typeface="ＭＳ Ｐゴシック" pitchFamily="-28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Calibri" charset="0"/>
          <a:ea typeface="ＭＳ Ｐゴシック" pitchFamily="-28" charset="-128"/>
          <a:cs typeface="ＭＳ Ｐゴシック" pitchFamily="-28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Calibri" charset="0"/>
          <a:ea typeface="ＭＳ Ｐゴシック" pitchFamily="-28" charset="-128"/>
          <a:cs typeface="ＭＳ Ｐゴシック" pitchFamily="-28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Calibri" charset="0"/>
          <a:ea typeface="ＭＳ Ｐゴシック" pitchFamily="-28" charset="-128"/>
          <a:cs typeface="ＭＳ Ｐゴシック" pitchFamily="-28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Segoe UI" pitchFamily="34" charset="0"/>
          <a:ea typeface="ＭＳ Ｐゴシック" pitchFamily="-28" charset="-128"/>
          <a:cs typeface="ＭＳ Ｐゴシック" pitchFamily="-28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Segoe UI" pitchFamily="34" charset="0"/>
          <a:ea typeface="ＭＳ Ｐゴシック" pitchFamily="-28" charset="-128"/>
          <a:cs typeface="ＭＳ Ｐゴシック" pitchFamily="-28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Segoe UI" pitchFamily="34" charset="0"/>
          <a:ea typeface="ＭＳ Ｐゴシック" pitchFamily="-28" charset="-128"/>
          <a:cs typeface="ＭＳ Ｐゴシック" pitchFamily="-28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Segoe UI" pitchFamily="34" charset="0"/>
          <a:ea typeface="ＭＳ Ｐゴシック" pitchFamily="-28" charset="-128"/>
          <a:cs typeface="ＭＳ Ｐゴシック" pitchFamily="-28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Calibri"/>
          <a:ea typeface="ＭＳ Ｐゴシック" pitchFamily="-28" charset="-128"/>
          <a:cs typeface="Calibri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400" kern="1200">
          <a:solidFill>
            <a:schemeClr val="tx1"/>
          </a:solidFill>
          <a:latin typeface="Calibri"/>
          <a:ea typeface="ＭＳ Ｐゴシック" pitchFamily="-28" charset="-128"/>
          <a:cs typeface="Calibri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Calibri"/>
          <a:ea typeface="ＭＳ Ｐゴシック" pitchFamily="-28" charset="-128"/>
          <a:cs typeface="Calibri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kern="1200">
          <a:solidFill>
            <a:schemeClr val="tx1"/>
          </a:solidFill>
          <a:latin typeface="Calibri"/>
          <a:ea typeface="ＭＳ Ｐゴシック" pitchFamily="-28" charset="-128"/>
          <a:cs typeface="Calibri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kern="1200">
          <a:solidFill>
            <a:schemeClr val="tx1"/>
          </a:solidFill>
          <a:latin typeface="Calibri"/>
          <a:ea typeface="ＭＳ Ｐゴシック" pitchFamily="-28" charset="-128"/>
          <a:cs typeface="Calibri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28FB569-0485-8045-BFD7-167815E77336}"/>
              </a:ext>
            </a:extLst>
          </p:cNvPr>
          <p:cNvSpPr txBox="1">
            <a:spLocks/>
          </p:cNvSpPr>
          <p:nvPr userDrawn="1"/>
        </p:nvSpPr>
        <p:spPr>
          <a:xfrm>
            <a:off x="6553200" y="6356356"/>
            <a:ext cx="2133600" cy="365125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898989"/>
                </a:solidFill>
                <a:latin typeface="Segoe UI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18C1412E-69E1-864D-A0DF-94DDC7C8003B}" type="slidenum">
              <a:rPr lang="en-US" sz="900" smtClean="0"/>
              <a:pPr>
                <a:defRPr/>
              </a:pPr>
              <a:t>‹#›</a:t>
            </a:fld>
            <a:endParaRPr lang="en-US" sz="9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0306AE-18A0-4C44-8452-FDAD4CEC049D}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9A33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BC81E6-F19D-9E4F-A613-5717CEE394C4}"/>
              </a:ext>
            </a:extLst>
          </p:cNvPr>
          <p:cNvSpPr txBox="1"/>
          <p:nvPr userDrawn="1"/>
        </p:nvSpPr>
        <p:spPr>
          <a:xfrm>
            <a:off x="9721408" y="6447904"/>
            <a:ext cx="2362200" cy="369332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eaLnBrk="1" hangingPunct="1">
              <a:defRPr/>
            </a:pPr>
            <a:r>
              <a:rPr lang="en-US" sz="1800" b="1" dirty="0">
                <a:solidFill>
                  <a:schemeClr val="bg1"/>
                </a:solidFill>
                <a:cs typeface="Arial" charset="0"/>
              </a:rPr>
              <a:t>rnabio.org</a:t>
            </a:r>
            <a:endParaRPr lang="en-US" sz="1800" dirty="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F5D193-BF70-C04D-ACCD-2D3C430B970A}"/>
              </a:ext>
            </a:extLst>
          </p:cNvPr>
          <p:cNvSpPr txBox="1"/>
          <p:nvPr userDrawn="1"/>
        </p:nvSpPr>
        <p:spPr>
          <a:xfrm>
            <a:off x="5867412" y="6447904"/>
            <a:ext cx="457176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fld id="{0153C3B2-0654-1049-821D-A9450C27E9C9}" type="slidenum">
              <a:rPr lang="en-US" sz="1800" smtClean="0">
                <a:solidFill>
                  <a:schemeClr val="bg1"/>
                </a:solidFill>
              </a:rPr>
              <a:pPr algn="ctr"/>
              <a:t>‹#›</a:t>
            </a:fld>
            <a:endParaRPr lang="en-US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324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4" r:id="rId1"/>
    <p:sldLayoutId id="2147483815" r:id="rId2"/>
    <p:sldLayoutId id="2147483816" r:id="rId3"/>
    <p:sldLayoutId id="2147483817" r:id="rId4"/>
    <p:sldLayoutId id="2147483818" r:id="rId5"/>
    <p:sldLayoutId id="2147483819" r:id="rId6"/>
    <p:sldLayoutId id="2147483820" r:id="rId7"/>
    <p:sldLayoutId id="2147483821" r:id="rId8"/>
    <p:sldLayoutId id="2147483822" r:id="rId9"/>
    <p:sldLayoutId id="2147483823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4.gif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44D7320-B7A8-EA4A-8CFC-7C9CDFF48527}"/>
              </a:ext>
            </a:extLst>
          </p:cNvPr>
          <p:cNvSpPr/>
          <p:nvPr/>
        </p:nvSpPr>
        <p:spPr>
          <a:xfrm>
            <a:off x="0" y="2522835"/>
            <a:ext cx="12192000" cy="3889541"/>
          </a:xfrm>
          <a:prstGeom prst="rect">
            <a:avLst/>
          </a:prstGeom>
          <a:solidFill>
            <a:schemeClr val="accent1">
              <a:alpha val="1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charset="0"/>
              <a:ea typeface="ＭＳ Ｐゴシック" charset="0"/>
              <a:cs typeface="Calibri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265451-D7FA-324E-8A73-79956D9943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216" y="2890275"/>
            <a:ext cx="3128830" cy="3128830"/>
          </a:xfrm>
          <a:prstGeom prst="rect">
            <a:avLst/>
          </a:prstGeom>
        </p:spPr>
      </p:pic>
      <p:pic>
        <p:nvPicPr>
          <p:cNvPr id="11" name="Picture 1" descr="RNA-Seq-alignment.png">
            <a:extLst>
              <a:ext uri="{FF2B5EF4-FFF2-40B4-BE49-F238E27FC236}">
                <a16:creationId xmlns:a16="http://schemas.microsoft.com/office/drawing/2014/main" id="{C4CC95B9-7822-9D44-9479-A12E3FCDDE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7151" y="2888092"/>
            <a:ext cx="3271336" cy="3133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E29E9BF-E919-5E47-8D48-7A8519760B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8851" y="3731538"/>
            <a:ext cx="5263149" cy="1631984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17BFB325-C36D-C643-9293-35DEC0D050E8}"/>
              </a:ext>
            </a:extLst>
          </p:cNvPr>
          <p:cNvSpPr txBox="1">
            <a:spLocks/>
          </p:cNvSpPr>
          <p:nvPr/>
        </p:nvSpPr>
        <p:spPr>
          <a:xfrm>
            <a:off x="3647728" y="1219199"/>
            <a:ext cx="8468072" cy="1161346"/>
          </a:xfrm>
          <a:prstGeom prst="rect">
            <a:avLst/>
          </a:prstGeom>
        </p:spPr>
        <p:txBody>
          <a:bodyPr anchor="ctr"/>
          <a:lstStyle>
            <a:lvl1pPr algn="r">
              <a:defRPr sz="3200" baseline="0">
                <a:solidFill>
                  <a:schemeClr val="bg1"/>
                </a:solidFill>
                <a:latin typeface="Adobe Jenson Pro" pitchFamily="18" charset="0"/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Felicia Gomez,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Charlz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Jerold, Obi Griffith, Malachi Griffith, </a:t>
            </a:r>
          </a:p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My Hoang, Mariam Khanfar, Chris Miller, Kartik Singhal, Jennie Yao </a:t>
            </a:r>
          </a:p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 w="1270">
                  <a:solidFill>
                    <a:prstClr val="black">
                      <a:alpha val="3800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Advanced Sequencing Technologies &amp; Bioinformatics Analysis </a:t>
            </a:r>
            <a:r>
              <a:rPr kumimoji="0" lang="en-US" sz="1600" b="0" i="0" u="none" strike="noStrike" kern="1200" cap="none" spc="0" normalizeH="0" baseline="0" noProof="0" dirty="0">
                <a:ln w="1270">
                  <a:solidFill>
                    <a:prstClr val="black">
                      <a:alpha val="3800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November 10-21, 2025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072B7D-F40A-8F7D-1DF5-F5AE7C6B457D}"/>
              </a:ext>
            </a:extLst>
          </p:cNvPr>
          <p:cNvSpPr txBox="1">
            <a:spLocks/>
          </p:cNvSpPr>
          <p:nvPr/>
        </p:nvSpPr>
        <p:spPr bwMode="auto">
          <a:xfrm>
            <a:off x="6096000" y="177977"/>
            <a:ext cx="60198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charset="0"/>
                <a:ea typeface="ＭＳ Ｐゴシック" charset="0"/>
                <a:cs typeface="Segoe UI" charset="0"/>
              </a:rPr>
              <a:t>Introduction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charset="0"/>
              <a:ea typeface="ＭＳ Ｐゴシック" charset="0"/>
              <a:cs typeface="Segoe U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7894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9F7C8-464C-1340-A041-0A03F3FD1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course – philosophy and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A81B26-1E7E-7B40-81E7-5F8F8FBCA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i="1" dirty="0"/>
              <a:t>Do “the bioinformatics” for someone, and you help them for a day. Teach someone to do bioinformatics, and you help them for a lifetime.</a:t>
            </a:r>
          </a:p>
          <a:p>
            <a:pPr marL="0" indent="0" algn="r">
              <a:buNone/>
            </a:pPr>
            <a:r>
              <a:rPr lang="en-US" i="1" dirty="0"/>
              <a:t>- Ancient Chinese proverb</a:t>
            </a:r>
          </a:p>
          <a:p>
            <a:endParaRPr lang="en-US" dirty="0"/>
          </a:p>
          <a:p>
            <a:r>
              <a:rPr lang="en-US" dirty="0"/>
              <a:t>Course goals</a:t>
            </a:r>
          </a:p>
          <a:p>
            <a:pPr lvl="1"/>
            <a:r>
              <a:rPr lang="en-US" dirty="0"/>
              <a:t>Learn concepts and develop skills for sequence analysis</a:t>
            </a:r>
          </a:p>
          <a:p>
            <a:pPr lvl="1"/>
            <a:r>
              <a:rPr lang="en-US" dirty="0"/>
              <a:t>Build the foundation for tackling your own analysis challenges</a:t>
            </a:r>
          </a:p>
          <a:p>
            <a:pPr lvl="1"/>
            <a:r>
              <a:rPr lang="en-US" dirty="0"/>
              <a:t>Learn to think like a bioinformatician</a:t>
            </a:r>
          </a:p>
          <a:p>
            <a:pPr lvl="1"/>
            <a:r>
              <a:rPr lang="en-US" dirty="0"/>
              <a:t>Have fun</a:t>
            </a:r>
          </a:p>
        </p:txBody>
      </p:sp>
    </p:spTree>
    <p:extLst>
      <p:ext uri="{BB962C8B-B14F-4D97-AF65-F5344CB8AC3E}">
        <p14:creationId xmlns:p14="http://schemas.microsoft.com/office/powerpoint/2010/main" val="460284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0D3AF-EEB6-2448-BCD4-FCA3CA1C4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format for a typical 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B1C395-B60A-F44C-876E-337B8CAFF9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384" y="1423926"/>
            <a:ext cx="11785600" cy="4724400"/>
          </a:xfrm>
        </p:spPr>
        <p:txBody>
          <a:bodyPr/>
          <a:lstStyle/>
          <a:p>
            <a:r>
              <a:rPr lang="en-US" sz="2400" dirty="0"/>
              <a:t>Lecture</a:t>
            </a:r>
          </a:p>
          <a:p>
            <a:r>
              <a:rPr lang="en-US" sz="2400" dirty="0"/>
              <a:t>BREAK</a:t>
            </a:r>
          </a:p>
          <a:p>
            <a:r>
              <a:rPr lang="en-US" sz="2400" dirty="0"/>
              <a:t>Practical exercises</a:t>
            </a:r>
          </a:p>
          <a:p>
            <a:r>
              <a:rPr lang="en-US" sz="2400" dirty="0"/>
              <a:t>Lunch</a:t>
            </a:r>
          </a:p>
          <a:p>
            <a:r>
              <a:rPr lang="en-US" sz="2400" dirty="0"/>
              <a:t>Practical exercises</a:t>
            </a:r>
          </a:p>
          <a:p>
            <a:r>
              <a:rPr lang="en-US" sz="2400" dirty="0"/>
              <a:t>BREAK</a:t>
            </a:r>
          </a:p>
          <a:p>
            <a:r>
              <a:rPr lang="en-US" sz="2400" dirty="0"/>
              <a:t>Practical exercises</a:t>
            </a:r>
          </a:p>
          <a:p>
            <a:r>
              <a:rPr lang="en-US" sz="2400" dirty="0"/>
              <a:t>Wrap-up and Q&amp;A</a:t>
            </a:r>
          </a:p>
        </p:txBody>
      </p:sp>
    </p:spTree>
    <p:extLst>
      <p:ext uri="{BB962C8B-B14F-4D97-AF65-F5344CB8AC3E}">
        <p14:creationId xmlns:p14="http://schemas.microsoft.com/office/powerpoint/2010/main" val="3541161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-27384"/>
            <a:ext cx="8839200" cy="792088"/>
          </a:xfrm>
        </p:spPr>
        <p:txBody>
          <a:bodyPr/>
          <a:lstStyle/>
          <a:p>
            <a:r>
              <a:rPr lang="en-US" dirty="0"/>
              <a:t>Student poll (respond in slack)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1384" y="836712"/>
            <a:ext cx="9964216" cy="5300464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/>
              <a:t>Not counting the pre-requisites and materials for this course:</a:t>
            </a:r>
          </a:p>
          <a:p>
            <a:r>
              <a:rPr lang="en-US" sz="2000" dirty="0"/>
              <a:t>Do you consider yourself a bioinformatician? Computational biologist?</a:t>
            </a:r>
          </a:p>
          <a:p>
            <a:r>
              <a:rPr lang="en-US" sz="2000" dirty="0"/>
              <a:t>Are you familiar with </a:t>
            </a:r>
            <a:r>
              <a:rPr lang="en-US" sz="2000" dirty="0" err="1"/>
              <a:t>linux</a:t>
            </a:r>
            <a:r>
              <a:rPr lang="en-US" sz="2000" dirty="0"/>
              <a:t>/command line?</a:t>
            </a:r>
          </a:p>
          <a:p>
            <a:pPr lvl="1"/>
            <a:r>
              <a:rPr lang="en-US" sz="2000" dirty="0"/>
              <a:t>Intermediate? </a:t>
            </a:r>
          </a:p>
          <a:p>
            <a:pPr lvl="1"/>
            <a:r>
              <a:rPr lang="en-US" sz="2000" dirty="0"/>
              <a:t>Expert?</a:t>
            </a:r>
          </a:p>
          <a:p>
            <a:r>
              <a:rPr lang="en-US" sz="2000" dirty="0"/>
              <a:t>Do you sometimes write code?</a:t>
            </a:r>
          </a:p>
          <a:p>
            <a:r>
              <a:rPr lang="en-US" sz="2000" dirty="0"/>
              <a:t>Are you familiar with R?</a:t>
            </a:r>
          </a:p>
          <a:p>
            <a:pPr lvl="1"/>
            <a:r>
              <a:rPr lang="en-US" sz="2000" dirty="0"/>
              <a:t>Intermediate?</a:t>
            </a:r>
          </a:p>
          <a:p>
            <a:pPr lvl="1"/>
            <a:r>
              <a:rPr lang="en-US" sz="2000" dirty="0"/>
              <a:t>Expert?</a:t>
            </a:r>
          </a:p>
          <a:p>
            <a:r>
              <a:rPr lang="en-US" sz="2000" dirty="0"/>
              <a:t>Do you use git/</a:t>
            </a:r>
            <a:r>
              <a:rPr lang="en-US" sz="2000" dirty="0" err="1"/>
              <a:t>github</a:t>
            </a:r>
            <a:r>
              <a:rPr lang="en-US" sz="2000" dirty="0"/>
              <a:t>?</a:t>
            </a:r>
          </a:p>
          <a:p>
            <a:r>
              <a:rPr lang="en-US" sz="2000" dirty="0"/>
              <a:t>What organism do you work with? (Put an animal emoji in slack)</a:t>
            </a:r>
          </a:p>
          <a:p>
            <a:r>
              <a:rPr lang="en-US" sz="2000" dirty="0"/>
              <a:t>Are you interested in bulk </a:t>
            </a:r>
            <a:r>
              <a:rPr lang="en-US" sz="2000" dirty="0" err="1"/>
              <a:t>RNAseq</a:t>
            </a:r>
            <a:r>
              <a:rPr lang="en-US" sz="2000" dirty="0"/>
              <a:t>, </a:t>
            </a:r>
            <a:r>
              <a:rPr lang="en-US" sz="2000" dirty="0" err="1"/>
              <a:t>scRNAseq</a:t>
            </a:r>
            <a:r>
              <a:rPr lang="en-US" sz="2000" dirty="0"/>
              <a:t>, or both?</a:t>
            </a:r>
          </a:p>
        </p:txBody>
      </p:sp>
    </p:spTree>
    <p:extLst>
      <p:ext uri="{BB962C8B-B14F-4D97-AF65-F5344CB8AC3E}">
        <p14:creationId xmlns:p14="http://schemas.microsoft.com/office/powerpoint/2010/main" val="2444938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"/>
          <p:cNvSpPr txBox="1">
            <a:spLocks noGrp="1"/>
          </p:cNvSpPr>
          <p:nvPr>
            <p:ph type="title"/>
          </p:nvPr>
        </p:nvSpPr>
        <p:spPr>
          <a:xfrm>
            <a:off x="2152650" y="1131097"/>
            <a:ext cx="7886700" cy="2589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SzPts val="3300"/>
            </a:pPr>
            <a:r>
              <a:rPr lang="en-US"/>
              <a:t>We are on a Coffee Break &amp; Networking Session</a:t>
            </a:r>
            <a:endParaRPr/>
          </a:p>
        </p:txBody>
      </p:sp>
      <p:sp>
        <p:nvSpPr>
          <p:cNvPr id="2" name="Google Shape;159;g24c7d206a1c_1_72">
            <a:extLst>
              <a:ext uri="{FF2B5EF4-FFF2-40B4-BE49-F238E27FC236}">
                <a16:creationId xmlns:a16="http://schemas.microsoft.com/office/drawing/2014/main" id="{627D07C6-EEF4-80F8-EC18-18951656C9DA}"/>
              </a:ext>
            </a:extLst>
          </p:cNvPr>
          <p:cNvSpPr txBox="1"/>
          <p:nvPr/>
        </p:nvSpPr>
        <p:spPr>
          <a:xfrm>
            <a:off x="2117124" y="3832139"/>
            <a:ext cx="79515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Workshop Sponsors: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60;g24c7d206a1c_1_72">
            <a:extLst>
              <a:ext uri="{FF2B5EF4-FFF2-40B4-BE49-F238E27FC236}">
                <a16:creationId xmlns:a16="http://schemas.microsoft.com/office/drawing/2014/main" id="{A6903722-A178-A776-2E26-C240FBB418B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25272" y="4403978"/>
            <a:ext cx="1105775" cy="79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61;g24c7d206a1c_1_72">
            <a:extLst>
              <a:ext uri="{FF2B5EF4-FFF2-40B4-BE49-F238E27FC236}">
                <a16:creationId xmlns:a16="http://schemas.microsoft.com/office/drawing/2014/main" id="{F556B781-F28E-46D3-51D2-109760019B6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60951" y="4570130"/>
            <a:ext cx="2085975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62;g24c7d206a1c_1_72">
            <a:extLst>
              <a:ext uri="{FF2B5EF4-FFF2-40B4-BE49-F238E27FC236}">
                <a16:creationId xmlns:a16="http://schemas.microsoft.com/office/drawing/2014/main" id="{C0D34EAD-1DC4-E56C-BFEE-AB1C965E557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08169" y="4243440"/>
            <a:ext cx="1869300" cy="124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63;g24c7d206a1c_1_72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802ADC7C-9F1D-E226-4E5F-F718BB83A14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02657" y="5353037"/>
            <a:ext cx="11430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64;g24c7d206a1c_1_72">
            <a:extLst>
              <a:ext uri="{FF2B5EF4-FFF2-40B4-BE49-F238E27FC236}">
                <a16:creationId xmlns:a16="http://schemas.microsoft.com/office/drawing/2014/main" id="{F0E9305F-6B2B-2101-8DE5-C4A63799B515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546337" y="5426596"/>
            <a:ext cx="1311749" cy="5386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321364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egoe UI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7" id="{C4B1BBBE-E27A-5444-9F3D-7C1C163700E5}" vid="{7F537DE0-AA54-F54D-8B6B-795F1F6F7988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11908</TotalTime>
  <Words>234</Words>
  <Application>Microsoft Macintosh PowerPoint</Application>
  <PresentationFormat>Widescreen</PresentationFormat>
  <Paragraphs>40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Calibri</vt:lpstr>
      <vt:lpstr>Calibri Light</vt:lpstr>
      <vt:lpstr>Segoe UI</vt:lpstr>
      <vt:lpstr>Verdana</vt:lpstr>
      <vt:lpstr>Office Theme</vt:lpstr>
      <vt:lpstr>1_Office Theme</vt:lpstr>
      <vt:lpstr>PowerPoint Presentation</vt:lpstr>
      <vt:lpstr>Introduction to course – philosophy and goals</vt:lpstr>
      <vt:lpstr>Course format for a typical day</vt:lpstr>
      <vt:lpstr>Student poll (respond in slack)</vt:lpstr>
      <vt:lpstr>We are on a Coffee Break &amp; Networking Session</vt:lpstr>
    </vt:vector>
  </TitlesOfParts>
  <Company>Boston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Michael Stromberg</dc:creator>
  <cp:lastModifiedBy>Jennie Yao</cp:lastModifiedBy>
  <cp:revision>733</cp:revision>
  <dcterms:created xsi:type="dcterms:W3CDTF">2011-11-14T19:50:16Z</dcterms:created>
  <dcterms:modified xsi:type="dcterms:W3CDTF">2025-11-14T15:01:55Z</dcterms:modified>
</cp:coreProperties>
</file>