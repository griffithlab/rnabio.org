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73" r:id="rId2"/>
    <p:sldId id="274" r:id="rId3"/>
    <p:sldId id="275" r:id="rId4"/>
    <p:sldId id="263" r:id="rId5"/>
    <p:sldId id="270" r:id="rId6"/>
    <p:sldId id="272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308" r:id="rId20"/>
    <p:sldId id="309" r:id="rId21"/>
    <p:sldId id="310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314" r:id="rId34"/>
    <p:sldId id="299" r:id="rId35"/>
    <p:sldId id="300" r:id="rId36"/>
    <p:sldId id="301" r:id="rId37"/>
    <p:sldId id="313" r:id="rId38"/>
    <p:sldId id="311" r:id="rId39"/>
    <p:sldId id="312" r:id="rId4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64"/>
    <p:restoredTop sz="94674"/>
  </p:normalViewPr>
  <p:slideViewPr>
    <p:cSldViewPr>
      <p:cViewPr varScale="1">
        <p:scale>
          <a:sx n="165" d="100"/>
          <a:sy n="165" d="100"/>
        </p:scale>
        <p:origin x="48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D62C4-E105-6E40-8519-17F9BFE564F8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DC7683-77D0-0549-A242-617EF0FB4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39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98c0916701_0_4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BED format has 3 important columns, arguably 4</a:t>
            </a:r>
            <a:endParaRPr dirty="0"/>
          </a:p>
        </p:txBody>
      </p:sp>
      <p:sp>
        <p:nvSpPr>
          <p:cNvPr id="176" name="Google Shape;176;g298c0916701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98c0916701_0_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98c0916701_0_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So in addition to storing information about an interval’s location, we can record additional information about the interval. For example, we can say that this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We could have an annotation indicated where a gene is transcribed on the strand corresponding to the reference genome or whether it is transcribed from the complementary strand.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98c0916701_0_14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Problems: 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Start and end coordinates are in the 4th and 5th column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Even worse, they use a 1-based coordinate system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How to convert to 0-based coordinate system? </a:t>
            </a:r>
            <a:endParaRPr dirty="0"/>
          </a:p>
        </p:txBody>
      </p:sp>
      <p:sp>
        <p:nvSpPr>
          <p:cNvPr id="295" name="Google Shape;295;g298c0916701_0_1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0842" y="156844"/>
            <a:ext cx="4955540" cy="5785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266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2252" y="194246"/>
            <a:ext cx="8659494" cy="529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2282" y="1328779"/>
            <a:ext cx="6590030" cy="2552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bedtools.readthedocs.io/en/latest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hyperlink" Target="http://bedtools.readthedocs.io/en/latest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bedtools.readthedocs.io/en/latest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://quinlanlab.org/tutorials/bedtool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90800" y="2724150"/>
            <a:ext cx="3527425" cy="23448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25"/>
              </a:spcBef>
            </a:pPr>
            <a:r>
              <a:rPr lang="en-US" sz="1100" dirty="0">
                <a:solidFill>
                  <a:srgbClr val="585858"/>
                </a:solidFill>
                <a:latin typeface="Arial MT"/>
                <a:cs typeface="Arial MT"/>
              </a:rPr>
              <a:t>Felicia Gomez </a:t>
            </a:r>
          </a:p>
          <a:p>
            <a:pPr marL="1270" algn="ctr">
              <a:lnSpc>
                <a:spcPct val="100000"/>
              </a:lnSpc>
              <a:spcBef>
                <a:spcPts val="125"/>
              </a:spcBef>
            </a:pPr>
            <a:r>
              <a:rPr lang="en-US" sz="1100" dirty="0">
                <a:solidFill>
                  <a:srgbClr val="585858"/>
                </a:solidFill>
                <a:latin typeface="Arial MT"/>
                <a:cs typeface="Arial MT"/>
              </a:rPr>
              <a:t>11/13/2025 </a:t>
            </a:r>
          </a:p>
          <a:p>
            <a:pPr marL="1270" algn="ctr">
              <a:lnSpc>
                <a:spcPct val="100000"/>
              </a:lnSpc>
              <a:spcBef>
                <a:spcPts val="125"/>
              </a:spcBef>
            </a:pPr>
            <a:r>
              <a:rPr lang="en-US" sz="1100" dirty="0">
                <a:solidFill>
                  <a:srgbClr val="585858"/>
                </a:solidFill>
                <a:latin typeface="Arial MT"/>
                <a:cs typeface="Arial MT"/>
              </a:rPr>
              <a:t>Cold Spring Harbor Sequencing Technologies Course </a:t>
            </a:r>
          </a:p>
          <a:p>
            <a:pPr marL="1270" algn="ctr">
              <a:lnSpc>
                <a:spcPct val="100000"/>
              </a:lnSpc>
              <a:spcBef>
                <a:spcPts val="125"/>
              </a:spcBef>
            </a:pPr>
            <a:endParaRPr lang="en-US" sz="950" dirty="0">
              <a:solidFill>
                <a:srgbClr val="585858"/>
              </a:solidFill>
              <a:latin typeface="Arial MT"/>
              <a:cs typeface="Arial MT"/>
            </a:endParaRPr>
          </a:p>
          <a:p>
            <a:pPr marL="1270" algn="ctr">
              <a:lnSpc>
                <a:spcPct val="100000"/>
              </a:lnSpc>
              <a:spcBef>
                <a:spcPts val="125"/>
              </a:spcBef>
            </a:pPr>
            <a:endParaRPr lang="en-US" sz="950" dirty="0">
              <a:solidFill>
                <a:srgbClr val="585858"/>
              </a:solidFill>
              <a:latin typeface="Arial MT"/>
              <a:cs typeface="Arial MT"/>
            </a:endParaRPr>
          </a:p>
          <a:p>
            <a:pPr marL="1270" algn="ctr">
              <a:lnSpc>
                <a:spcPct val="100000"/>
              </a:lnSpc>
              <a:spcBef>
                <a:spcPts val="125"/>
              </a:spcBef>
            </a:pPr>
            <a:r>
              <a:rPr lang="en-US" sz="950" dirty="0">
                <a:solidFill>
                  <a:srgbClr val="585858"/>
                </a:solidFill>
                <a:latin typeface="Arial MT"/>
                <a:cs typeface="Arial MT"/>
              </a:rPr>
              <a:t>Slides generously provided by Chris Miller </a:t>
            </a:r>
          </a:p>
          <a:p>
            <a:pPr marL="1270" algn="ctr">
              <a:lnSpc>
                <a:spcPct val="100000"/>
              </a:lnSpc>
              <a:spcBef>
                <a:spcPts val="125"/>
              </a:spcBef>
            </a:pPr>
            <a:endParaRPr lang="en-US" sz="950" dirty="0">
              <a:solidFill>
                <a:srgbClr val="585858"/>
              </a:solidFill>
              <a:latin typeface="Arial MT"/>
              <a:cs typeface="Arial MT"/>
            </a:endParaRPr>
          </a:p>
          <a:p>
            <a:pPr marL="1270" algn="ctr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585858"/>
                </a:solidFill>
                <a:latin typeface="Arial MT"/>
                <a:cs typeface="Arial MT"/>
              </a:rPr>
              <a:t>some</a:t>
            </a:r>
            <a:r>
              <a:rPr sz="950" spc="12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585858"/>
                </a:solidFill>
                <a:latin typeface="Arial MT"/>
                <a:cs typeface="Arial MT"/>
              </a:rPr>
              <a:t>slides</a:t>
            </a:r>
            <a:r>
              <a:rPr sz="950" spc="9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585858"/>
                </a:solidFill>
                <a:latin typeface="Arial MT"/>
                <a:cs typeface="Arial MT"/>
              </a:rPr>
              <a:t>adapted</a:t>
            </a:r>
            <a:r>
              <a:rPr sz="950" spc="13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950" spc="-20" dirty="0">
                <a:solidFill>
                  <a:srgbClr val="585858"/>
                </a:solidFill>
                <a:latin typeface="Arial MT"/>
                <a:cs typeface="Arial MT"/>
              </a:rPr>
              <a:t>from:</a:t>
            </a:r>
            <a:endParaRPr sz="950" dirty="0">
              <a:latin typeface="Arial MT"/>
              <a:cs typeface="Arial MT"/>
            </a:endParaRPr>
          </a:p>
          <a:p>
            <a:pPr marL="12065" marR="5080" indent="635" algn="ctr">
              <a:lnSpc>
                <a:spcPts val="980"/>
              </a:lnSpc>
              <a:spcBef>
                <a:spcPts val="905"/>
              </a:spcBef>
            </a:pPr>
            <a:r>
              <a:rPr sz="950" dirty="0">
                <a:solidFill>
                  <a:srgbClr val="585858"/>
                </a:solidFill>
                <a:latin typeface="Arial MT"/>
                <a:cs typeface="Arial MT"/>
              </a:rPr>
              <a:t>Aaron</a:t>
            </a:r>
            <a:r>
              <a:rPr sz="950" spc="15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585858"/>
                </a:solidFill>
                <a:latin typeface="Arial MT"/>
                <a:cs typeface="Arial MT"/>
              </a:rPr>
              <a:t>Quinlan's</a:t>
            </a:r>
            <a:r>
              <a:rPr sz="950" spc="2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585858"/>
                </a:solidFill>
                <a:latin typeface="Arial MT"/>
                <a:cs typeface="Arial MT"/>
              </a:rPr>
              <a:t>Applied</a:t>
            </a:r>
            <a:r>
              <a:rPr sz="950" spc="15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585858"/>
                </a:solidFill>
                <a:latin typeface="Arial MT"/>
                <a:cs typeface="Arial MT"/>
              </a:rPr>
              <a:t>Computational</a:t>
            </a:r>
            <a:r>
              <a:rPr sz="950" spc="19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585858"/>
                </a:solidFill>
                <a:latin typeface="Arial MT"/>
                <a:cs typeface="Arial MT"/>
              </a:rPr>
              <a:t>Geno</a:t>
            </a:r>
            <a:endParaRPr lang="en-US" sz="950" dirty="0">
              <a:solidFill>
                <a:srgbClr val="585858"/>
              </a:solidFill>
              <a:latin typeface="Arial MT"/>
              <a:cs typeface="Arial MT"/>
            </a:endParaRPr>
          </a:p>
          <a:p>
            <a:pPr marL="12065" marR="5080" indent="635" algn="ctr">
              <a:lnSpc>
                <a:spcPts val="980"/>
              </a:lnSpc>
              <a:spcBef>
                <a:spcPts val="905"/>
              </a:spcBef>
            </a:pPr>
            <a:r>
              <a:rPr sz="950" dirty="0">
                <a:solidFill>
                  <a:srgbClr val="585858"/>
                </a:solidFill>
                <a:latin typeface="Arial MT"/>
                <a:cs typeface="Arial MT"/>
              </a:rPr>
              <a:t>mics</a:t>
            </a:r>
            <a:r>
              <a:rPr sz="950" spc="12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585858"/>
                </a:solidFill>
                <a:latin typeface="Arial MT"/>
                <a:cs typeface="Arial MT"/>
              </a:rPr>
              <a:t>course </a:t>
            </a:r>
            <a:r>
              <a:rPr sz="950" dirty="0">
                <a:solidFill>
                  <a:srgbClr val="585858"/>
                </a:solidFill>
                <a:latin typeface="Arial MT"/>
                <a:cs typeface="Arial MT"/>
              </a:rPr>
              <a:t>https://github.com/quinlan-lab/applied-computational-</a:t>
            </a:r>
            <a:r>
              <a:rPr sz="950" spc="-10" dirty="0">
                <a:solidFill>
                  <a:srgbClr val="585858"/>
                </a:solidFill>
                <a:latin typeface="Arial MT"/>
                <a:cs typeface="Arial MT"/>
              </a:rPr>
              <a:t>genomics</a:t>
            </a:r>
            <a:endParaRPr sz="950" dirty="0">
              <a:latin typeface="Arial MT"/>
              <a:cs typeface="Arial MT"/>
            </a:endParaRPr>
          </a:p>
          <a:p>
            <a:pPr marL="825500" marR="810895" algn="ctr">
              <a:lnSpc>
                <a:spcPts val="980"/>
              </a:lnSpc>
              <a:spcBef>
                <a:spcPts val="969"/>
              </a:spcBef>
            </a:pPr>
            <a:r>
              <a:rPr sz="950" dirty="0">
                <a:solidFill>
                  <a:srgbClr val="585858"/>
                </a:solidFill>
                <a:latin typeface="Arial MT"/>
                <a:cs typeface="Arial MT"/>
              </a:rPr>
              <a:t>The</a:t>
            </a:r>
            <a:r>
              <a:rPr sz="950" spc="12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585858"/>
                </a:solidFill>
                <a:latin typeface="Arial MT"/>
                <a:cs typeface="Arial MT"/>
              </a:rPr>
              <a:t>Griffith</a:t>
            </a:r>
            <a:r>
              <a:rPr sz="950" spc="12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585858"/>
                </a:solidFill>
                <a:latin typeface="Arial MT"/>
                <a:cs typeface="Arial MT"/>
              </a:rPr>
              <a:t>Lab's</a:t>
            </a:r>
            <a:r>
              <a:rPr sz="950" spc="10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585858"/>
                </a:solidFill>
                <a:latin typeface="Arial MT"/>
                <a:cs typeface="Arial MT"/>
              </a:rPr>
              <a:t>RNAbio</a:t>
            </a:r>
            <a:r>
              <a:rPr sz="950" spc="12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585858"/>
                </a:solidFill>
                <a:latin typeface="Arial MT"/>
                <a:cs typeface="Arial MT"/>
              </a:rPr>
              <a:t>course: https://rnabio.org/</a:t>
            </a:r>
            <a:endParaRPr sz="950" dirty="0">
              <a:latin typeface="Arial MT"/>
              <a:cs typeface="Arial M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A0EE8A9-51C8-F3B7-4399-52DE0C4B6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0312" y="438150"/>
            <a:ext cx="6248400" cy="1107996"/>
          </a:xfrm>
        </p:spPr>
        <p:txBody>
          <a:bodyPr/>
          <a:lstStyle/>
          <a:p>
            <a:pPr algn="ctr"/>
            <a:r>
              <a:rPr lang="en-US" sz="3600" b="1" spc="-10" dirty="0"/>
              <a:t>Genome Arithmetic and </a:t>
            </a:r>
            <a:r>
              <a:rPr lang="en-US" sz="3600" b="1" spc="-10" dirty="0" err="1"/>
              <a:t>Bedtools</a:t>
            </a:r>
            <a:r>
              <a:rPr lang="en-US" sz="3600" b="1" spc="-10" dirty="0"/>
              <a:t> </a:t>
            </a:r>
            <a:endParaRPr lang="en-US" sz="3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latin typeface="Arial"/>
                <a:cs typeface="Arial"/>
              </a:rPr>
              <a:t>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common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class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problems: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842" y="1223644"/>
            <a:ext cx="8339455" cy="225606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Arial MT"/>
                <a:cs typeface="Arial MT"/>
              </a:rPr>
              <a:t>I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list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SNPs 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patient.</a:t>
            </a:r>
            <a:r>
              <a:rPr sz="1800" spc="45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ones hit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known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enhancers?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Did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sequencing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give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good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coverage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over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about?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800" dirty="0">
              <a:latin typeface="Arial MT"/>
              <a:cs typeface="Arial MT"/>
            </a:endParaRPr>
          </a:p>
          <a:p>
            <a:pPr marL="12700" marR="5080">
              <a:lnSpc>
                <a:spcPct val="100899"/>
              </a:lnSpc>
            </a:pPr>
            <a:r>
              <a:rPr sz="1800" dirty="0">
                <a:latin typeface="Arial MT"/>
                <a:cs typeface="Arial MT"/>
              </a:rPr>
              <a:t>My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experiment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returned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300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ChIP-</a:t>
            </a:r>
            <a:r>
              <a:rPr sz="1800" dirty="0">
                <a:latin typeface="Arial MT"/>
                <a:cs typeface="Arial MT"/>
              </a:rPr>
              <a:t>seq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peaks.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ones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near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cancer-</a:t>
            </a:r>
            <a:r>
              <a:rPr sz="1800" spc="-10" dirty="0">
                <a:latin typeface="Arial MT"/>
                <a:cs typeface="Arial MT"/>
              </a:rPr>
              <a:t>related genes?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genome</a:t>
            </a:r>
            <a:r>
              <a:rPr spc="-20" dirty="0"/>
              <a:t> </a:t>
            </a:r>
            <a:r>
              <a:rPr spc="-10" dirty="0"/>
              <a:t>interval?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2752" y="855916"/>
            <a:ext cx="555815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85858"/>
                </a:solidFill>
                <a:latin typeface="Arial MT"/>
                <a:cs typeface="Arial MT"/>
              </a:rPr>
              <a:t>At</a:t>
            </a:r>
            <a:r>
              <a:rPr sz="1800" spc="-4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85858"/>
                </a:solidFill>
                <a:latin typeface="Arial MT"/>
                <a:cs typeface="Arial MT"/>
              </a:rPr>
              <a:t>minimum</a:t>
            </a:r>
            <a:r>
              <a:rPr sz="1800" spc="-5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85858"/>
                </a:solidFill>
                <a:latin typeface="Arial MT"/>
                <a:cs typeface="Arial MT"/>
              </a:rPr>
              <a:t>defined by</a:t>
            </a:r>
            <a:r>
              <a:rPr sz="1800" spc="-2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585858"/>
                </a:solidFill>
                <a:latin typeface="Arial"/>
                <a:cs typeface="Arial"/>
              </a:rPr>
              <a:t>chromosome,</a:t>
            </a:r>
            <a:r>
              <a:rPr sz="1800" b="1" spc="-3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85858"/>
                </a:solidFill>
                <a:latin typeface="Arial"/>
                <a:cs typeface="Arial"/>
              </a:rPr>
              <a:t>start,</a:t>
            </a:r>
            <a:r>
              <a:rPr sz="1800" b="1" spc="-3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85858"/>
                </a:solidFill>
                <a:latin typeface="Arial"/>
                <a:cs typeface="Arial"/>
              </a:rPr>
              <a:t>and</a:t>
            </a:r>
            <a:r>
              <a:rPr sz="1800" b="1" spc="4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585858"/>
                </a:solidFill>
                <a:latin typeface="Arial"/>
                <a:cs typeface="Arial"/>
              </a:rPr>
              <a:t>stop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585858"/>
                </a:solidFill>
                <a:latin typeface="Arial MT"/>
                <a:cs typeface="Arial MT"/>
              </a:rPr>
              <a:t>may</a:t>
            </a:r>
            <a:r>
              <a:rPr sz="1800" spc="-1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85858"/>
                </a:solidFill>
                <a:latin typeface="Arial MT"/>
                <a:cs typeface="Arial MT"/>
              </a:rPr>
              <a:t>also</a:t>
            </a:r>
            <a:r>
              <a:rPr sz="1800" spc="-3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85858"/>
                </a:solidFill>
                <a:latin typeface="Arial MT"/>
                <a:cs typeface="Arial MT"/>
              </a:rPr>
              <a:t>have</a:t>
            </a:r>
            <a:r>
              <a:rPr sz="1800" spc="-3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85858"/>
                </a:solidFill>
                <a:latin typeface="Arial MT"/>
                <a:cs typeface="Arial MT"/>
              </a:rPr>
              <a:t>strand,</a:t>
            </a:r>
            <a:r>
              <a:rPr sz="1800" spc="-5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85858"/>
                </a:solidFill>
                <a:latin typeface="Arial MT"/>
                <a:cs typeface="Arial MT"/>
              </a:rPr>
              <a:t>name,</a:t>
            </a:r>
            <a:r>
              <a:rPr sz="1800" spc="1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85858"/>
                </a:solidFill>
                <a:latin typeface="Arial MT"/>
                <a:cs typeface="Arial MT"/>
              </a:rPr>
              <a:t>other</a:t>
            </a:r>
            <a:r>
              <a:rPr sz="1800" spc="-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85858"/>
                </a:solidFill>
                <a:latin typeface="Arial MT"/>
                <a:cs typeface="Arial MT"/>
              </a:rPr>
              <a:t>fields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2752" y="2230056"/>
            <a:ext cx="2037714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585858"/>
                </a:solidFill>
                <a:latin typeface="Consolas"/>
                <a:cs typeface="Consolas"/>
              </a:rPr>
              <a:t>chr1:12345-98765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927735" algn="l"/>
              </a:tabLst>
            </a:pPr>
            <a:r>
              <a:rPr sz="1800" spc="-20" dirty="0">
                <a:solidFill>
                  <a:srgbClr val="585858"/>
                </a:solidFill>
                <a:latin typeface="Consolas"/>
                <a:cs typeface="Consolas"/>
              </a:rPr>
              <a:t>chrX</a:t>
            </a:r>
            <a:r>
              <a:rPr sz="1800" dirty="0">
                <a:solidFill>
                  <a:srgbClr val="585858"/>
                </a:solidFill>
                <a:latin typeface="Consolas"/>
                <a:cs typeface="Consolas"/>
              </a:rPr>
              <a:t>	</a:t>
            </a:r>
            <a:r>
              <a:rPr sz="1800" spc="-20" dirty="0">
                <a:solidFill>
                  <a:srgbClr val="585858"/>
                </a:solidFill>
                <a:latin typeface="Consolas"/>
                <a:cs typeface="Consolas"/>
              </a:rPr>
              <a:t>12345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927735" algn="l"/>
              </a:tabLst>
            </a:pPr>
            <a:r>
              <a:rPr sz="1800" spc="-10" dirty="0">
                <a:solidFill>
                  <a:srgbClr val="585858"/>
                </a:solidFill>
                <a:latin typeface="Consolas"/>
                <a:cs typeface="Consolas"/>
              </a:rPr>
              <a:t>chr17</a:t>
            </a:r>
            <a:r>
              <a:rPr sz="1800" dirty="0">
                <a:solidFill>
                  <a:srgbClr val="585858"/>
                </a:solidFill>
                <a:latin typeface="Consolas"/>
                <a:cs typeface="Consolas"/>
              </a:rPr>
              <a:t>	</a:t>
            </a:r>
            <a:r>
              <a:rPr sz="1800" spc="-10" dirty="0">
                <a:solidFill>
                  <a:srgbClr val="585858"/>
                </a:solidFill>
                <a:latin typeface="Consolas"/>
                <a:cs typeface="Consolas"/>
              </a:rPr>
              <a:t>7661779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4600" y="2773679"/>
            <a:ext cx="65786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10" dirty="0">
                <a:solidFill>
                  <a:srgbClr val="585858"/>
                </a:solidFill>
                <a:latin typeface="Consolas"/>
                <a:cs typeface="Consolas"/>
              </a:rPr>
              <a:t>98765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94226" y="2773679"/>
            <a:ext cx="1517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50" dirty="0">
                <a:solidFill>
                  <a:srgbClr val="585858"/>
                </a:solidFill>
                <a:latin typeface="Consolas"/>
                <a:cs typeface="Consolas"/>
              </a:rPr>
              <a:t>-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14600" y="3327019"/>
            <a:ext cx="304609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48715" algn="l"/>
              </a:tabLst>
            </a:pPr>
            <a:r>
              <a:rPr sz="1800" spc="-10" dirty="0">
                <a:solidFill>
                  <a:srgbClr val="585858"/>
                </a:solidFill>
                <a:latin typeface="Consolas"/>
                <a:cs typeface="Consolas"/>
              </a:rPr>
              <a:t>7687550</a:t>
            </a:r>
            <a:r>
              <a:rPr sz="1800" dirty="0">
                <a:solidFill>
                  <a:srgbClr val="585858"/>
                </a:solidFill>
                <a:latin typeface="Consolas"/>
                <a:cs typeface="Consolas"/>
              </a:rPr>
              <a:t>	</a:t>
            </a:r>
            <a:r>
              <a:rPr sz="1800" spc="-10" dirty="0">
                <a:solidFill>
                  <a:srgbClr val="585858"/>
                </a:solidFill>
                <a:latin typeface="Consolas"/>
                <a:cs typeface="Consolas"/>
              </a:rPr>
              <a:t>ENSG00000141510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15072" y="3327019"/>
            <a:ext cx="52451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0" dirty="0">
                <a:solidFill>
                  <a:srgbClr val="585858"/>
                </a:solidFill>
                <a:latin typeface="Consolas"/>
                <a:cs typeface="Consolas"/>
              </a:rPr>
              <a:t>TP53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0219" y="3327019"/>
            <a:ext cx="1517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50" dirty="0">
                <a:solidFill>
                  <a:srgbClr val="585858"/>
                </a:solidFill>
                <a:latin typeface="Consolas"/>
                <a:cs typeface="Consolas"/>
              </a:rPr>
              <a:t>-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>
            <a:spLocks noGrp="1"/>
          </p:cNvSpPr>
          <p:nvPr>
            <p:ph type="title"/>
          </p:nvPr>
        </p:nvSpPr>
        <p:spPr>
          <a:xfrm>
            <a:off x="219164" y="234681"/>
            <a:ext cx="59910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Font typeface="Lato"/>
              <a:buNone/>
            </a:pPr>
            <a:r>
              <a:rPr lang="en" sz="2600" i="0" u="none" strike="noStrike" cap="none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BED (browser extensible data) format</a:t>
            </a:r>
            <a:endParaRPr sz="900" dirty="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79" name="Google Shape;17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250" y="741100"/>
            <a:ext cx="7496700" cy="42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>
            <a:spLocks noGrp="1"/>
          </p:cNvSpPr>
          <p:nvPr>
            <p:ph type="title"/>
          </p:nvPr>
        </p:nvSpPr>
        <p:spPr>
          <a:xfrm>
            <a:off x="160865" y="554601"/>
            <a:ext cx="8520600" cy="5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BED </a:t>
            </a:r>
            <a:r>
              <a:rPr lang="en" sz="3200" b="1" u="sng" dirty="0"/>
              <a:t>annotations</a:t>
            </a:r>
            <a:r>
              <a:rPr lang="en" sz="3200" dirty="0"/>
              <a:t> also support "names" or "labels" (4th column)</a:t>
            </a:r>
            <a:endParaRPr sz="3200" dirty="0"/>
          </a:p>
        </p:txBody>
      </p:sp>
      <p:sp>
        <p:nvSpPr>
          <p:cNvPr id="241" name="Google Shape;241;p41"/>
          <p:cNvSpPr/>
          <p:nvPr/>
        </p:nvSpPr>
        <p:spPr>
          <a:xfrm>
            <a:off x="811612" y="1566713"/>
            <a:ext cx="79161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nsolas"/>
              <a:buNone/>
            </a:pPr>
            <a:r>
              <a:rPr lang="en" sz="26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CAGTCGACATAGACTGATATGACACCACACTGAG...</a:t>
            </a:r>
            <a:endParaRPr sz="2600" dirty="0"/>
          </a:p>
        </p:txBody>
      </p:sp>
      <p:cxnSp>
        <p:nvCxnSpPr>
          <p:cNvPr id="242" name="Google Shape;242;p41"/>
          <p:cNvCxnSpPr/>
          <p:nvPr/>
        </p:nvCxnSpPr>
        <p:spPr>
          <a:xfrm>
            <a:off x="1471100" y="2066875"/>
            <a:ext cx="7331700" cy="12600"/>
          </a:xfrm>
          <a:prstGeom prst="straightConnector1">
            <a:avLst/>
          </a:prstGeom>
          <a:noFill/>
          <a:ln w="63500" cap="flat" cmpd="sng">
            <a:solidFill>
              <a:srgbClr val="000000"/>
            </a:solidFill>
            <a:prstDash val="solid"/>
            <a:miter lim="8000"/>
            <a:headEnd type="none" w="med" len="med"/>
            <a:tailEnd type="triangle" w="med" len="med"/>
          </a:ln>
        </p:spPr>
      </p:cxnSp>
      <p:cxnSp>
        <p:nvCxnSpPr>
          <p:cNvPr id="243" name="Google Shape;243;p41"/>
          <p:cNvCxnSpPr/>
          <p:nvPr/>
        </p:nvCxnSpPr>
        <p:spPr>
          <a:xfrm rot="10800000">
            <a:off x="2402078" y="2066885"/>
            <a:ext cx="0" cy="136800"/>
          </a:xfrm>
          <a:prstGeom prst="straightConnector1">
            <a:avLst/>
          </a:prstGeom>
          <a:noFill/>
          <a:ln w="50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44" name="Google Shape;244;p41"/>
          <p:cNvCxnSpPr/>
          <p:nvPr/>
        </p:nvCxnSpPr>
        <p:spPr>
          <a:xfrm rot="10800000">
            <a:off x="3310584" y="2065546"/>
            <a:ext cx="0" cy="136800"/>
          </a:xfrm>
          <a:prstGeom prst="straightConnector1">
            <a:avLst/>
          </a:prstGeom>
          <a:noFill/>
          <a:ln w="50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45" name="Google Shape;245;p41"/>
          <p:cNvCxnSpPr/>
          <p:nvPr/>
        </p:nvCxnSpPr>
        <p:spPr>
          <a:xfrm rot="10800000">
            <a:off x="4221212" y="2060188"/>
            <a:ext cx="0" cy="136800"/>
          </a:xfrm>
          <a:prstGeom prst="straightConnector1">
            <a:avLst/>
          </a:prstGeom>
          <a:noFill/>
          <a:ln w="50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46" name="Google Shape;246;p41"/>
          <p:cNvCxnSpPr/>
          <p:nvPr/>
        </p:nvCxnSpPr>
        <p:spPr>
          <a:xfrm rot="10800000">
            <a:off x="5138944" y="2078535"/>
            <a:ext cx="0" cy="136800"/>
          </a:xfrm>
          <a:prstGeom prst="straightConnector1">
            <a:avLst/>
          </a:prstGeom>
          <a:noFill/>
          <a:ln w="50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47" name="Google Shape;247;p41"/>
          <p:cNvCxnSpPr/>
          <p:nvPr/>
        </p:nvCxnSpPr>
        <p:spPr>
          <a:xfrm rot="10800000">
            <a:off x="6064859" y="2066885"/>
            <a:ext cx="0" cy="136800"/>
          </a:xfrm>
          <a:prstGeom prst="straightConnector1">
            <a:avLst/>
          </a:prstGeom>
          <a:noFill/>
          <a:ln w="50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48" name="Google Shape;248;p41"/>
          <p:cNvCxnSpPr/>
          <p:nvPr/>
        </p:nvCxnSpPr>
        <p:spPr>
          <a:xfrm rot="10800000">
            <a:off x="6947103" y="2055063"/>
            <a:ext cx="0" cy="136800"/>
          </a:xfrm>
          <a:prstGeom prst="straightConnector1">
            <a:avLst/>
          </a:prstGeom>
          <a:noFill/>
          <a:ln w="50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49" name="Google Shape;249;p41"/>
          <p:cNvSpPr/>
          <p:nvPr/>
        </p:nvSpPr>
        <p:spPr>
          <a:xfrm>
            <a:off x="1369403" y="2229727"/>
            <a:ext cx="2868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65C0"/>
              </a:buClr>
              <a:buFont typeface="Consolas"/>
              <a:buNone/>
            </a:pPr>
            <a:r>
              <a:rPr lang="en" sz="2700" dirty="0">
                <a:latin typeface="Economica"/>
                <a:ea typeface="Economica"/>
                <a:cs typeface="Economica"/>
                <a:sym typeface="Economica"/>
              </a:rPr>
              <a:t>0</a:t>
            </a:r>
            <a:endParaRPr sz="900" dirty="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0" name="Google Shape;250;p41"/>
          <p:cNvSpPr/>
          <p:nvPr/>
        </p:nvSpPr>
        <p:spPr>
          <a:xfrm>
            <a:off x="2258799" y="2229727"/>
            <a:ext cx="2868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65C0"/>
              </a:buClr>
              <a:buFont typeface="Consolas"/>
              <a:buNone/>
            </a:pPr>
            <a:r>
              <a:rPr lang="en" sz="2700" b="0" i="0" u="none" strike="noStrike" cap="none" dirty="0">
                <a:latin typeface="Economica"/>
                <a:ea typeface="Economica"/>
                <a:cs typeface="Economica"/>
                <a:sym typeface="Economica"/>
              </a:rPr>
              <a:t>5</a:t>
            </a:r>
            <a:endParaRPr sz="900" dirty="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1" name="Google Shape;251;p41"/>
          <p:cNvSpPr/>
          <p:nvPr/>
        </p:nvSpPr>
        <p:spPr>
          <a:xfrm>
            <a:off x="3071032" y="2222877"/>
            <a:ext cx="4926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65C0"/>
              </a:buClr>
              <a:buFont typeface="Consolas"/>
              <a:buNone/>
            </a:pPr>
            <a:r>
              <a:rPr lang="en" sz="2700" b="0" i="0" u="none" strike="noStrike" cap="none" dirty="0">
                <a:latin typeface="Economica"/>
                <a:ea typeface="Economica"/>
                <a:cs typeface="Economica"/>
                <a:sym typeface="Economica"/>
              </a:rPr>
              <a:t>10</a:t>
            </a:r>
            <a:endParaRPr sz="900" dirty="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2" name="Google Shape;252;p41"/>
          <p:cNvSpPr/>
          <p:nvPr/>
        </p:nvSpPr>
        <p:spPr>
          <a:xfrm>
            <a:off x="3991960" y="2222877"/>
            <a:ext cx="4926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65C0"/>
              </a:buClr>
              <a:buFont typeface="Consolas"/>
              <a:buNone/>
            </a:pPr>
            <a:r>
              <a:rPr lang="en" sz="2700" b="0" i="0" u="none" strike="noStrike" cap="none" dirty="0">
                <a:latin typeface="Economica"/>
                <a:ea typeface="Economica"/>
                <a:cs typeface="Economica"/>
                <a:sym typeface="Economica"/>
              </a:rPr>
              <a:t>15</a:t>
            </a:r>
            <a:endParaRPr sz="900" dirty="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3" name="Google Shape;253;p41"/>
          <p:cNvSpPr/>
          <p:nvPr/>
        </p:nvSpPr>
        <p:spPr>
          <a:xfrm>
            <a:off x="4892567" y="2241377"/>
            <a:ext cx="4926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65C0"/>
              </a:buClr>
              <a:buFont typeface="Consolas"/>
              <a:buNone/>
            </a:pPr>
            <a:r>
              <a:rPr lang="en" sz="2700" b="0" i="0" u="none" strike="noStrike" cap="none" dirty="0">
                <a:latin typeface="Economica"/>
                <a:ea typeface="Economica"/>
                <a:cs typeface="Economica"/>
                <a:sym typeface="Economica"/>
              </a:rPr>
              <a:t>20</a:t>
            </a:r>
            <a:endParaRPr sz="900" dirty="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4" name="Google Shape;254;p41"/>
          <p:cNvSpPr/>
          <p:nvPr/>
        </p:nvSpPr>
        <p:spPr>
          <a:xfrm>
            <a:off x="5818482" y="2229727"/>
            <a:ext cx="4926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65C0"/>
              </a:buClr>
              <a:buFont typeface="Consolas"/>
              <a:buNone/>
            </a:pPr>
            <a:r>
              <a:rPr lang="en" sz="2700" b="0" i="0" u="none" strike="noStrike" cap="none" dirty="0">
                <a:latin typeface="Economica"/>
                <a:ea typeface="Economica"/>
                <a:cs typeface="Economica"/>
                <a:sym typeface="Economica"/>
              </a:rPr>
              <a:t>25</a:t>
            </a:r>
            <a:endParaRPr sz="900" dirty="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5" name="Google Shape;255;p41"/>
          <p:cNvSpPr/>
          <p:nvPr/>
        </p:nvSpPr>
        <p:spPr>
          <a:xfrm>
            <a:off x="6700727" y="2231300"/>
            <a:ext cx="4926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65C0"/>
              </a:buClr>
              <a:buFont typeface="Consolas"/>
              <a:buNone/>
            </a:pPr>
            <a:r>
              <a:rPr lang="en" sz="2700" b="0" i="0" u="none" strike="noStrike" cap="none" dirty="0">
                <a:latin typeface="Economica"/>
                <a:ea typeface="Economica"/>
                <a:cs typeface="Economica"/>
                <a:sym typeface="Economica"/>
              </a:rPr>
              <a:t>30</a:t>
            </a:r>
            <a:endParaRPr sz="900" dirty="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6" name="Google Shape;256;p41"/>
          <p:cNvSpPr/>
          <p:nvPr/>
        </p:nvSpPr>
        <p:spPr>
          <a:xfrm>
            <a:off x="159310" y="1937812"/>
            <a:ext cx="7683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lang="en" sz="2700" b="0" i="0" u="none" strike="noStrike" cap="none" dirty="0">
                <a:latin typeface="Economica"/>
                <a:ea typeface="Economica"/>
                <a:cs typeface="Economica"/>
                <a:sym typeface="Economica"/>
              </a:rPr>
              <a:t>chr3</a:t>
            </a:r>
            <a:endParaRPr sz="900" dirty="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7" name="Google Shape;257;p41"/>
          <p:cNvCxnSpPr/>
          <p:nvPr/>
        </p:nvCxnSpPr>
        <p:spPr>
          <a:xfrm rot="10800000">
            <a:off x="1487678" y="2066885"/>
            <a:ext cx="0" cy="136800"/>
          </a:xfrm>
          <a:prstGeom prst="straightConnector1">
            <a:avLst/>
          </a:prstGeom>
          <a:noFill/>
          <a:ln w="50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58" name="Google Shape;258;p41"/>
          <p:cNvSpPr txBox="1"/>
          <p:nvPr/>
        </p:nvSpPr>
        <p:spPr>
          <a:xfrm>
            <a:off x="1399800" y="3202700"/>
            <a:ext cx="60957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chr3    0     7    exon_gene1</a:t>
            </a:r>
            <a:endParaRPr sz="2400" dirty="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" name="Google Shape;259;p41"/>
          <p:cNvSpPr txBox="1"/>
          <p:nvPr/>
        </p:nvSpPr>
        <p:spPr>
          <a:xfrm>
            <a:off x="1399800" y="3659900"/>
            <a:ext cx="59766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chr3    4     10   exon_gene2</a:t>
            </a:r>
            <a:endParaRPr sz="2400" dirty="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0" name="Google Shape;260;p41"/>
          <p:cNvCxnSpPr/>
          <p:nvPr/>
        </p:nvCxnSpPr>
        <p:spPr>
          <a:xfrm>
            <a:off x="1394900" y="1183925"/>
            <a:ext cx="1148100" cy="0"/>
          </a:xfrm>
          <a:prstGeom prst="straightConnector1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" name="Google Shape;261;p41"/>
          <p:cNvCxnSpPr/>
          <p:nvPr/>
        </p:nvCxnSpPr>
        <p:spPr>
          <a:xfrm>
            <a:off x="2137650" y="1451675"/>
            <a:ext cx="1101900" cy="0"/>
          </a:xfrm>
          <a:prstGeom prst="straightConnector1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2" name="Google Shape;262;p41"/>
          <p:cNvSpPr txBox="1"/>
          <p:nvPr/>
        </p:nvSpPr>
        <p:spPr>
          <a:xfrm>
            <a:off x="510475" y="-725175"/>
            <a:ext cx="424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p41"/>
          <p:cNvSpPr txBox="1"/>
          <p:nvPr/>
        </p:nvSpPr>
        <p:spPr>
          <a:xfrm>
            <a:off x="4582886" y="2713579"/>
            <a:ext cx="190745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u="sng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Annotations</a:t>
            </a:r>
            <a:endParaRPr sz="2600" b="1" u="sng" dirty="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0674" y="542988"/>
            <a:ext cx="7429500" cy="27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3"/>
          <p:cNvSpPr/>
          <p:nvPr/>
        </p:nvSpPr>
        <p:spPr>
          <a:xfrm>
            <a:off x="381000" y="3477654"/>
            <a:ext cx="75036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nsolas"/>
              <a:buNone/>
            </a:pPr>
            <a:r>
              <a:rPr lang="en" sz="15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chr22  TeleGene enhancer  10000000  10001000  500 +  .  touch1</a:t>
            </a:r>
            <a:endParaRPr sz="9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nsolas"/>
              <a:buNone/>
            </a:pPr>
            <a:r>
              <a:rPr lang="en" sz="15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chr22  TeleGene promoter  10010000  10010100  900 +  .  touch1</a:t>
            </a:r>
            <a:endParaRPr sz="9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nsolas"/>
              <a:buNone/>
            </a:pPr>
            <a:r>
              <a:rPr lang="en" sz="15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chr22  TeleGene promoter  10020000  10025000  800 -  .  touch2</a:t>
            </a:r>
            <a:endParaRPr sz="900" dirty="0"/>
          </a:p>
        </p:txBody>
      </p:sp>
      <p:sp>
        <p:nvSpPr>
          <p:cNvPr id="299" name="Google Shape;299;p43"/>
          <p:cNvSpPr txBox="1">
            <a:spLocks noGrp="1"/>
          </p:cNvSpPr>
          <p:nvPr>
            <p:ph type="title"/>
          </p:nvPr>
        </p:nvSpPr>
        <p:spPr>
          <a:xfrm>
            <a:off x="217251" y="0"/>
            <a:ext cx="8785800" cy="5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Economica"/>
                <a:ea typeface="Economica"/>
                <a:cs typeface="Economica"/>
                <a:sym typeface="Economica"/>
              </a:rPr>
              <a:t>GFF/GTF format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00" name="Google Shape;300;p43"/>
          <p:cNvSpPr txBox="1"/>
          <p:nvPr/>
        </p:nvSpPr>
        <p:spPr>
          <a:xfrm>
            <a:off x="412311" y="4519217"/>
            <a:ext cx="8448900" cy="74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8761D"/>
                </a:solidFill>
                <a:latin typeface="Economica"/>
                <a:ea typeface="Economica"/>
                <a:cs typeface="Economica"/>
                <a:sym typeface="Economica"/>
              </a:rPr>
              <a:t>Note that the start and end coordinates are in different columns versus BED format</a:t>
            </a:r>
            <a:endParaRPr dirty="0">
              <a:solidFill>
                <a:srgbClr val="38761D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A36F77-2CD3-95EA-5422-837F894C3ED1}"/>
              </a:ext>
            </a:extLst>
          </p:cNvPr>
          <p:cNvCxnSpPr>
            <a:cxnSpLocks/>
          </p:cNvCxnSpPr>
          <p:nvPr/>
        </p:nvCxnSpPr>
        <p:spPr>
          <a:xfrm>
            <a:off x="4038600" y="4400550"/>
            <a:ext cx="1066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DBA598-5BD3-7F23-8153-70302C00A82B}"/>
              </a:ext>
            </a:extLst>
          </p:cNvPr>
          <p:cNvCxnSpPr>
            <a:cxnSpLocks/>
          </p:cNvCxnSpPr>
          <p:nvPr/>
        </p:nvCxnSpPr>
        <p:spPr>
          <a:xfrm flipV="1">
            <a:off x="4038600" y="4119221"/>
            <a:ext cx="0" cy="2813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7D86D6-CE30-4248-79AD-49DCE3CE8232}"/>
              </a:ext>
            </a:extLst>
          </p:cNvPr>
          <p:cNvCxnSpPr>
            <a:cxnSpLocks/>
          </p:cNvCxnSpPr>
          <p:nvPr/>
        </p:nvCxnSpPr>
        <p:spPr>
          <a:xfrm flipV="1">
            <a:off x="5105400" y="4119221"/>
            <a:ext cx="0" cy="2813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806" y="225440"/>
            <a:ext cx="8659494" cy="5295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Examples</a:t>
            </a:r>
            <a:r>
              <a:rPr spc="-1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genome</a:t>
            </a:r>
            <a:r>
              <a:rPr spc="-20" dirty="0"/>
              <a:t> </a:t>
            </a:r>
            <a:r>
              <a:rPr spc="-10" dirty="0"/>
              <a:t>intervals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357" y="1356871"/>
            <a:ext cx="3758248" cy="3031599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760"/>
              </a:spcBef>
              <a:buChar char="-"/>
              <a:tabLst>
                <a:tab pos="317500" algn="l"/>
              </a:tabLst>
            </a:pP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Genes:</a:t>
            </a:r>
            <a:r>
              <a:rPr sz="1200" spc="-3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exons,</a:t>
            </a:r>
            <a:r>
              <a:rPr sz="1200" spc="-3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Arial MT"/>
                <a:cs typeface="Arial MT"/>
              </a:rPr>
              <a:t>introns,</a:t>
            </a:r>
            <a:r>
              <a:rPr sz="1200" spc="-3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UTRs,</a:t>
            </a:r>
            <a:r>
              <a:rPr sz="1200" spc="-3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promoters (BED,</a:t>
            </a:r>
            <a:r>
              <a:rPr sz="1200" spc="-3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GFF,</a:t>
            </a:r>
            <a:r>
              <a:rPr sz="1200" spc="-3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434343"/>
                </a:solidFill>
                <a:latin typeface="Arial MT"/>
                <a:cs typeface="Arial MT"/>
              </a:rPr>
              <a:t>GTF)</a:t>
            </a:r>
            <a:endParaRPr sz="1200" dirty="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spcBef>
                <a:spcPts val="660"/>
              </a:spcBef>
              <a:buChar char="-"/>
              <a:tabLst>
                <a:tab pos="317500" algn="l"/>
              </a:tabLst>
            </a:pPr>
            <a:r>
              <a:rPr sz="1200" spc="-10" dirty="0">
                <a:solidFill>
                  <a:srgbClr val="434343"/>
                </a:solidFill>
                <a:latin typeface="Arial MT"/>
                <a:cs typeface="Arial MT"/>
              </a:rPr>
              <a:t>Conservation</a:t>
            </a:r>
            <a:r>
              <a:rPr sz="1200" spc="-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Arial MT"/>
                <a:cs typeface="Arial MT"/>
              </a:rPr>
              <a:t>(BEDGRAPH)</a:t>
            </a:r>
            <a:endParaRPr sz="1200" dirty="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spcBef>
                <a:spcPts val="740"/>
              </a:spcBef>
              <a:buChar char="-"/>
              <a:tabLst>
                <a:tab pos="317500" algn="l"/>
              </a:tabLst>
            </a:pP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Genetic</a:t>
            </a:r>
            <a:r>
              <a:rPr sz="1200" spc="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Arial MT"/>
                <a:cs typeface="Arial MT"/>
              </a:rPr>
              <a:t>variation</a:t>
            </a:r>
            <a:r>
              <a:rPr sz="1200" spc="-5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434343"/>
                </a:solidFill>
                <a:latin typeface="Arial MT"/>
                <a:cs typeface="Arial MT"/>
              </a:rPr>
              <a:t>(VCF)</a:t>
            </a:r>
            <a:endParaRPr sz="1200" dirty="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spcBef>
                <a:spcPts val="740"/>
              </a:spcBef>
              <a:buChar char="-"/>
              <a:tabLst>
                <a:tab pos="317500" algn="l"/>
              </a:tabLst>
            </a:pPr>
            <a:r>
              <a:rPr sz="1200" spc="-10" dirty="0">
                <a:solidFill>
                  <a:srgbClr val="434343"/>
                </a:solidFill>
                <a:latin typeface="Arial MT"/>
                <a:cs typeface="Arial MT"/>
              </a:rPr>
              <a:t>Sequence</a:t>
            </a:r>
            <a:r>
              <a:rPr sz="1200" spc="-6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alignments</a:t>
            </a:r>
            <a:r>
              <a:rPr sz="1200" spc="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Arial MT"/>
                <a:cs typeface="Arial MT"/>
              </a:rPr>
              <a:t>(BAM)</a:t>
            </a:r>
            <a:endParaRPr sz="1200" dirty="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spcBef>
                <a:spcPts val="740"/>
              </a:spcBef>
              <a:buChar char="-"/>
              <a:tabLst>
                <a:tab pos="317500" algn="l"/>
              </a:tabLst>
            </a:pP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Transcription</a:t>
            </a:r>
            <a:r>
              <a:rPr sz="1200" spc="-1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factor</a:t>
            </a:r>
            <a:r>
              <a:rPr sz="1200" spc="-4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binding</a:t>
            </a:r>
            <a:r>
              <a:rPr sz="1200" spc="-7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sites</a:t>
            </a:r>
            <a:r>
              <a:rPr sz="1200" spc="-8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(BED,</a:t>
            </a:r>
            <a:r>
              <a:rPr sz="1200" spc="-4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Arial MT"/>
                <a:cs typeface="Arial MT"/>
              </a:rPr>
              <a:t>BEDGRAPH)</a:t>
            </a:r>
            <a:endParaRPr sz="1200" dirty="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spcBef>
                <a:spcPts val="740"/>
              </a:spcBef>
              <a:buChar char="-"/>
              <a:tabLst>
                <a:tab pos="317500" algn="l"/>
              </a:tabLst>
            </a:pP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CpG</a:t>
            </a:r>
            <a:r>
              <a:rPr sz="1200" spc="-3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islands</a:t>
            </a:r>
            <a:r>
              <a:rPr sz="1200" spc="-7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434343"/>
                </a:solidFill>
                <a:latin typeface="Arial MT"/>
                <a:cs typeface="Arial MT"/>
              </a:rPr>
              <a:t>(BED)</a:t>
            </a:r>
            <a:endParaRPr sz="1200" dirty="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spcBef>
                <a:spcPts val="660"/>
              </a:spcBef>
              <a:buChar char="-"/>
              <a:tabLst>
                <a:tab pos="317500" algn="l"/>
              </a:tabLst>
            </a:pP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Segmental</a:t>
            </a:r>
            <a:r>
              <a:rPr sz="1200" spc="-2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Arial MT"/>
                <a:cs typeface="Arial MT"/>
              </a:rPr>
              <a:t>duplications</a:t>
            </a:r>
            <a:r>
              <a:rPr sz="1200" spc="-5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Arial MT"/>
                <a:cs typeface="Arial MT"/>
              </a:rPr>
              <a:t>(BED)</a:t>
            </a:r>
            <a:endParaRPr sz="1200" dirty="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spcBef>
                <a:spcPts val="740"/>
              </a:spcBef>
              <a:buChar char="-"/>
              <a:tabLst>
                <a:tab pos="317500" algn="l"/>
              </a:tabLst>
            </a:pP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Chromatin</a:t>
            </a:r>
            <a:r>
              <a:rPr sz="1200" spc="-5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Arial MT"/>
                <a:cs typeface="Arial MT"/>
              </a:rPr>
              <a:t>annotations</a:t>
            </a:r>
            <a:r>
              <a:rPr sz="1200" spc="1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434343"/>
                </a:solidFill>
                <a:latin typeface="Arial MT"/>
                <a:cs typeface="Arial MT"/>
              </a:rPr>
              <a:t>(BED)</a:t>
            </a:r>
            <a:endParaRPr sz="1200" dirty="0">
              <a:latin typeface="Arial MT"/>
              <a:cs typeface="Arial MT"/>
            </a:endParaRPr>
          </a:p>
          <a:p>
            <a:pPr marL="317500" indent="-304800">
              <a:lnSpc>
                <a:spcPct val="100000"/>
              </a:lnSpc>
              <a:spcBef>
                <a:spcPts val="740"/>
              </a:spcBef>
              <a:buChar char="-"/>
              <a:tabLst>
                <a:tab pos="317500" algn="l"/>
              </a:tabLst>
            </a:pP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Gene</a:t>
            </a:r>
            <a:r>
              <a:rPr sz="1200" spc="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Arial MT"/>
                <a:cs typeface="Arial MT"/>
              </a:rPr>
              <a:t>expression</a:t>
            </a:r>
            <a:r>
              <a:rPr sz="1200" spc="-6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data</a:t>
            </a:r>
            <a:r>
              <a:rPr sz="1200" spc="1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(WIG,</a:t>
            </a:r>
            <a:r>
              <a:rPr sz="1200" spc="-2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34343"/>
                </a:solidFill>
                <a:latin typeface="Arial MT"/>
                <a:cs typeface="Arial MT"/>
              </a:rPr>
              <a:t>BIGWIG,</a:t>
            </a:r>
            <a:r>
              <a:rPr sz="1200" spc="-2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Arial MT"/>
                <a:cs typeface="Arial MT"/>
              </a:rPr>
              <a:t>BEDGRAPH)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806" y="4623098"/>
            <a:ext cx="32200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Your</a:t>
            </a:r>
            <a:r>
              <a:rPr sz="1200" b="1" u="sng" spc="5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own</a:t>
            </a:r>
            <a:r>
              <a:rPr sz="1200" b="1" u="sng" spc="4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observations:</a:t>
            </a:r>
            <a:r>
              <a:rPr sz="1200" b="1" u="sng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 put them</a:t>
            </a:r>
            <a:r>
              <a:rPr sz="1200" b="1" u="sng" spc="-65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in</a:t>
            </a:r>
            <a:r>
              <a:rPr sz="1200" b="1" u="sng" spc="-3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Arial"/>
                <a:cs typeface="Arial"/>
              </a:rPr>
              <a:t>context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00" y="1356871"/>
            <a:ext cx="4409397" cy="32673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Genome</a:t>
            </a:r>
            <a:r>
              <a:rPr spc="-15" dirty="0"/>
              <a:t> </a:t>
            </a:r>
            <a:r>
              <a:rPr spc="-10" dirty="0"/>
              <a:t>arithmetic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" y="1428750"/>
            <a:ext cx="8029575" cy="14763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9194" y="3589654"/>
            <a:ext cx="6776720" cy="6921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130"/>
              </a:spcBef>
            </a:pPr>
            <a:r>
              <a:rPr sz="2150" dirty="0">
                <a:latin typeface="Arial MT"/>
                <a:cs typeface="Arial MT"/>
              </a:rPr>
              <a:t>the</a:t>
            </a:r>
            <a:r>
              <a:rPr sz="2150" spc="11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method</a:t>
            </a:r>
            <a:r>
              <a:rPr sz="2150" spc="10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of</a:t>
            </a:r>
            <a:r>
              <a:rPr sz="2150" spc="11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comparing,</a:t>
            </a:r>
            <a:r>
              <a:rPr sz="2150" spc="10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contrasting,</a:t>
            </a:r>
            <a:endParaRPr sz="215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2150" dirty="0">
                <a:latin typeface="Arial MT"/>
                <a:cs typeface="Arial MT"/>
              </a:rPr>
              <a:t>and</a:t>
            </a:r>
            <a:r>
              <a:rPr sz="2150" spc="9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gaining</a:t>
            </a:r>
            <a:r>
              <a:rPr sz="2150" spc="10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insight</a:t>
            </a:r>
            <a:r>
              <a:rPr sz="2150" spc="10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using</a:t>
            </a:r>
            <a:r>
              <a:rPr sz="2150" spc="10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multiple</a:t>
            </a:r>
            <a:r>
              <a:rPr sz="2150" spc="18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genome</a:t>
            </a:r>
            <a:r>
              <a:rPr sz="2150" spc="10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interval</a:t>
            </a:r>
            <a:r>
              <a:rPr sz="2150" spc="16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files</a:t>
            </a:r>
            <a:endParaRPr sz="21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Genome</a:t>
            </a:r>
            <a:r>
              <a:rPr spc="-55" dirty="0"/>
              <a:t> </a:t>
            </a:r>
            <a:r>
              <a:rPr dirty="0"/>
              <a:t>arithmetic</a:t>
            </a:r>
            <a:r>
              <a:rPr spc="-40" dirty="0"/>
              <a:t> </a:t>
            </a:r>
            <a:r>
              <a:rPr spc="-10" dirty="0"/>
              <a:t>operations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4325" y="1695513"/>
            <a:ext cx="8687435" cy="2781300"/>
            <a:chOff x="314325" y="1695513"/>
            <a:chExt cx="8687435" cy="2781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325" y="1724025"/>
              <a:ext cx="8515350" cy="26765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33701" y="1700276"/>
              <a:ext cx="6562725" cy="1371600"/>
            </a:xfrm>
            <a:custGeom>
              <a:avLst/>
              <a:gdLst/>
              <a:ahLst/>
              <a:cxnLst/>
              <a:rect l="l" t="t" r="r" b="b"/>
              <a:pathLst>
                <a:path w="6562725" h="1371600">
                  <a:moveTo>
                    <a:pt x="6562725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6562725" y="1371600"/>
                  </a:lnTo>
                  <a:lnTo>
                    <a:pt x="6562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433701" y="1700276"/>
              <a:ext cx="6562725" cy="1371600"/>
            </a:xfrm>
            <a:custGeom>
              <a:avLst/>
              <a:gdLst/>
              <a:ahLst/>
              <a:cxnLst/>
              <a:rect l="l" t="t" r="r" b="b"/>
              <a:pathLst>
                <a:path w="6562725" h="1371600">
                  <a:moveTo>
                    <a:pt x="0" y="1371600"/>
                  </a:moveTo>
                  <a:lnTo>
                    <a:pt x="6562725" y="1371600"/>
                  </a:lnTo>
                  <a:lnTo>
                    <a:pt x="6562725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195387" y="3100387"/>
              <a:ext cx="7343775" cy="1371600"/>
            </a:xfrm>
            <a:custGeom>
              <a:avLst/>
              <a:gdLst/>
              <a:ahLst/>
              <a:cxnLst/>
              <a:rect l="l" t="t" r="r" b="b"/>
              <a:pathLst>
                <a:path w="7343775" h="1371600">
                  <a:moveTo>
                    <a:pt x="7343775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7343775" y="1371600"/>
                  </a:lnTo>
                  <a:lnTo>
                    <a:pt x="7343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1195387" y="3100387"/>
              <a:ext cx="7343775" cy="1371600"/>
            </a:xfrm>
            <a:custGeom>
              <a:avLst/>
              <a:gdLst/>
              <a:ahLst/>
              <a:cxnLst/>
              <a:rect l="l" t="t" r="r" b="b"/>
              <a:pathLst>
                <a:path w="7343775" h="1371600">
                  <a:moveTo>
                    <a:pt x="0" y="1371600"/>
                  </a:moveTo>
                  <a:lnTo>
                    <a:pt x="7343775" y="1371600"/>
                  </a:lnTo>
                  <a:lnTo>
                    <a:pt x="7343775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22262" y="1062100"/>
            <a:ext cx="8618855" cy="241935"/>
            <a:chOff x="322262" y="1062100"/>
            <a:chExt cx="8618855" cy="241935"/>
          </a:xfrm>
        </p:grpSpPr>
        <p:sp>
          <p:nvSpPr>
            <p:cNvPr id="10" name="object 10"/>
            <p:cNvSpPr/>
            <p:nvPr/>
          </p:nvSpPr>
          <p:spPr>
            <a:xfrm>
              <a:off x="328612" y="1062100"/>
              <a:ext cx="8612505" cy="190500"/>
            </a:xfrm>
            <a:custGeom>
              <a:avLst/>
              <a:gdLst/>
              <a:ahLst/>
              <a:cxnLst/>
              <a:rect l="l" t="t" r="r" b="b"/>
              <a:pathLst>
                <a:path w="8612505" h="190500">
                  <a:moveTo>
                    <a:pt x="8421560" y="0"/>
                  </a:moveTo>
                  <a:lnTo>
                    <a:pt x="8421560" y="190500"/>
                  </a:lnTo>
                  <a:lnTo>
                    <a:pt x="8548560" y="127000"/>
                  </a:lnTo>
                  <a:lnTo>
                    <a:pt x="8453437" y="127000"/>
                  </a:lnTo>
                  <a:lnTo>
                    <a:pt x="8453437" y="63500"/>
                  </a:lnTo>
                  <a:lnTo>
                    <a:pt x="8548560" y="63500"/>
                  </a:lnTo>
                  <a:lnTo>
                    <a:pt x="8421560" y="0"/>
                  </a:lnTo>
                  <a:close/>
                </a:path>
                <a:path w="8612505" h="190500">
                  <a:moveTo>
                    <a:pt x="8421560" y="63500"/>
                  </a:moveTo>
                  <a:lnTo>
                    <a:pt x="0" y="63500"/>
                  </a:lnTo>
                  <a:lnTo>
                    <a:pt x="0" y="127000"/>
                  </a:lnTo>
                  <a:lnTo>
                    <a:pt x="8421560" y="127000"/>
                  </a:lnTo>
                  <a:lnTo>
                    <a:pt x="8421560" y="63500"/>
                  </a:lnTo>
                  <a:close/>
                </a:path>
                <a:path w="8612505" h="190500">
                  <a:moveTo>
                    <a:pt x="8548560" y="63500"/>
                  </a:moveTo>
                  <a:lnTo>
                    <a:pt x="8453437" y="63500"/>
                  </a:lnTo>
                  <a:lnTo>
                    <a:pt x="8453437" y="127000"/>
                  </a:lnTo>
                  <a:lnTo>
                    <a:pt x="8548560" y="127000"/>
                  </a:lnTo>
                  <a:lnTo>
                    <a:pt x="8612060" y="95250"/>
                  </a:lnTo>
                  <a:lnTo>
                    <a:pt x="854856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662" y="1147825"/>
              <a:ext cx="4582160" cy="156210"/>
            </a:xfrm>
            <a:custGeom>
              <a:avLst/>
              <a:gdLst/>
              <a:ahLst/>
              <a:cxnLst/>
              <a:rect l="l" t="t" r="r" b="b"/>
              <a:pathLst>
                <a:path w="4582160" h="156209">
                  <a:moveTo>
                    <a:pt x="914400" y="146303"/>
                  </a:moveTo>
                  <a:lnTo>
                    <a:pt x="914400" y="9525"/>
                  </a:lnTo>
                </a:path>
                <a:path w="4582160" h="156209">
                  <a:moveTo>
                    <a:pt x="1828863" y="146303"/>
                  </a:moveTo>
                  <a:lnTo>
                    <a:pt x="1828736" y="9525"/>
                  </a:lnTo>
                </a:path>
                <a:path w="4582160" h="156209">
                  <a:moveTo>
                    <a:pt x="2733738" y="136778"/>
                  </a:moveTo>
                  <a:lnTo>
                    <a:pt x="2733611" y="0"/>
                  </a:lnTo>
                </a:path>
                <a:path w="4582160" h="156209">
                  <a:moveTo>
                    <a:pt x="3657663" y="155828"/>
                  </a:moveTo>
                  <a:lnTo>
                    <a:pt x="3657536" y="19050"/>
                  </a:lnTo>
                </a:path>
                <a:path w="4582160" h="156209">
                  <a:moveTo>
                    <a:pt x="4581588" y="146303"/>
                  </a:moveTo>
                  <a:lnTo>
                    <a:pt x="4581461" y="9525"/>
                  </a:lnTo>
                </a:path>
                <a:path w="4582160" h="156209">
                  <a:moveTo>
                    <a:pt x="0" y="146303"/>
                  </a:moveTo>
                  <a:lnTo>
                    <a:pt x="0" y="9525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18452" y="137102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08722" y="137102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85975" y="13639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10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07995" y="13639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15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09440" y="1382712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20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36159" y="1371028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25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Genome</a:t>
            </a:r>
            <a:r>
              <a:rPr spc="-55" dirty="0"/>
              <a:t> </a:t>
            </a:r>
            <a:r>
              <a:rPr dirty="0"/>
              <a:t>arithmetic</a:t>
            </a:r>
            <a:r>
              <a:rPr spc="-40" dirty="0"/>
              <a:t> </a:t>
            </a:r>
            <a:r>
              <a:rPr spc="-10" dirty="0"/>
              <a:t>operations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4325" y="1695513"/>
            <a:ext cx="8687435" cy="2781300"/>
            <a:chOff x="314325" y="1695513"/>
            <a:chExt cx="8687435" cy="2781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325" y="1724025"/>
              <a:ext cx="8515350" cy="26765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05426" y="1700276"/>
              <a:ext cx="4191000" cy="1371600"/>
            </a:xfrm>
            <a:custGeom>
              <a:avLst/>
              <a:gdLst/>
              <a:ahLst/>
              <a:cxnLst/>
              <a:rect l="l" t="t" r="r" b="b"/>
              <a:pathLst>
                <a:path w="4191000" h="1371600">
                  <a:moveTo>
                    <a:pt x="41910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4191000" y="1371600"/>
                  </a:lnTo>
                  <a:lnTo>
                    <a:pt x="4191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4805426" y="1700276"/>
              <a:ext cx="4191000" cy="1371600"/>
            </a:xfrm>
            <a:custGeom>
              <a:avLst/>
              <a:gdLst/>
              <a:ahLst/>
              <a:cxnLst/>
              <a:rect l="l" t="t" r="r" b="b"/>
              <a:pathLst>
                <a:path w="4191000" h="1371600">
                  <a:moveTo>
                    <a:pt x="0" y="1371600"/>
                  </a:moveTo>
                  <a:lnTo>
                    <a:pt x="4191000" y="1371600"/>
                  </a:lnTo>
                  <a:lnTo>
                    <a:pt x="41910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195387" y="3100387"/>
              <a:ext cx="7343775" cy="1371600"/>
            </a:xfrm>
            <a:custGeom>
              <a:avLst/>
              <a:gdLst/>
              <a:ahLst/>
              <a:cxnLst/>
              <a:rect l="l" t="t" r="r" b="b"/>
              <a:pathLst>
                <a:path w="7343775" h="1371600">
                  <a:moveTo>
                    <a:pt x="7343775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7343775" y="1371600"/>
                  </a:lnTo>
                  <a:lnTo>
                    <a:pt x="7343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1195387" y="3100387"/>
              <a:ext cx="7343775" cy="1371600"/>
            </a:xfrm>
            <a:custGeom>
              <a:avLst/>
              <a:gdLst/>
              <a:ahLst/>
              <a:cxnLst/>
              <a:rect l="l" t="t" r="r" b="b"/>
              <a:pathLst>
                <a:path w="7343775" h="1371600">
                  <a:moveTo>
                    <a:pt x="0" y="1371600"/>
                  </a:moveTo>
                  <a:lnTo>
                    <a:pt x="7343775" y="1371600"/>
                  </a:lnTo>
                  <a:lnTo>
                    <a:pt x="7343775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22262" y="1062100"/>
            <a:ext cx="8618855" cy="241935"/>
            <a:chOff x="322262" y="1062100"/>
            <a:chExt cx="8618855" cy="241935"/>
          </a:xfrm>
        </p:grpSpPr>
        <p:sp>
          <p:nvSpPr>
            <p:cNvPr id="10" name="object 10"/>
            <p:cNvSpPr/>
            <p:nvPr/>
          </p:nvSpPr>
          <p:spPr>
            <a:xfrm>
              <a:off x="328612" y="1062100"/>
              <a:ext cx="8612505" cy="190500"/>
            </a:xfrm>
            <a:custGeom>
              <a:avLst/>
              <a:gdLst/>
              <a:ahLst/>
              <a:cxnLst/>
              <a:rect l="l" t="t" r="r" b="b"/>
              <a:pathLst>
                <a:path w="8612505" h="190500">
                  <a:moveTo>
                    <a:pt x="8421560" y="0"/>
                  </a:moveTo>
                  <a:lnTo>
                    <a:pt x="8421560" y="190500"/>
                  </a:lnTo>
                  <a:lnTo>
                    <a:pt x="8548560" y="127000"/>
                  </a:lnTo>
                  <a:lnTo>
                    <a:pt x="8453437" y="127000"/>
                  </a:lnTo>
                  <a:lnTo>
                    <a:pt x="8453437" y="63500"/>
                  </a:lnTo>
                  <a:lnTo>
                    <a:pt x="8548560" y="63500"/>
                  </a:lnTo>
                  <a:lnTo>
                    <a:pt x="8421560" y="0"/>
                  </a:lnTo>
                  <a:close/>
                </a:path>
                <a:path w="8612505" h="190500">
                  <a:moveTo>
                    <a:pt x="8421560" y="63500"/>
                  </a:moveTo>
                  <a:lnTo>
                    <a:pt x="0" y="63500"/>
                  </a:lnTo>
                  <a:lnTo>
                    <a:pt x="0" y="127000"/>
                  </a:lnTo>
                  <a:lnTo>
                    <a:pt x="8421560" y="127000"/>
                  </a:lnTo>
                  <a:lnTo>
                    <a:pt x="8421560" y="63500"/>
                  </a:lnTo>
                  <a:close/>
                </a:path>
                <a:path w="8612505" h="190500">
                  <a:moveTo>
                    <a:pt x="8548560" y="63500"/>
                  </a:moveTo>
                  <a:lnTo>
                    <a:pt x="8453437" y="63500"/>
                  </a:lnTo>
                  <a:lnTo>
                    <a:pt x="8453437" y="127000"/>
                  </a:lnTo>
                  <a:lnTo>
                    <a:pt x="8548560" y="127000"/>
                  </a:lnTo>
                  <a:lnTo>
                    <a:pt x="8612060" y="95250"/>
                  </a:lnTo>
                  <a:lnTo>
                    <a:pt x="854856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662" y="1147825"/>
              <a:ext cx="4582160" cy="156210"/>
            </a:xfrm>
            <a:custGeom>
              <a:avLst/>
              <a:gdLst/>
              <a:ahLst/>
              <a:cxnLst/>
              <a:rect l="l" t="t" r="r" b="b"/>
              <a:pathLst>
                <a:path w="4582160" h="156209">
                  <a:moveTo>
                    <a:pt x="914400" y="146303"/>
                  </a:moveTo>
                  <a:lnTo>
                    <a:pt x="914400" y="9525"/>
                  </a:lnTo>
                </a:path>
                <a:path w="4582160" h="156209">
                  <a:moveTo>
                    <a:pt x="1828863" y="146303"/>
                  </a:moveTo>
                  <a:lnTo>
                    <a:pt x="1828736" y="9525"/>
                  </a:lnTo>
                </a:path>
                <a:path w="4582160" h="156209">
                  <a:moveTo>
                    <a:pt x="2733738" y="136778"/>
                  </a:moveTo>
                  <a:lnTo>
                    <a:pt x="2733611" y="0"/>
                  </a:lnTo>
                </a:path>
                <a:path w="4582160" h="156209">
                  <a:moveTo>
                    <a:pt x="3657663" y="155828"/>
                  </a:moveTo>
                  <a:lnTo>
                    <a:pt x="3657536" y="19050"/>
                  </a:lnTo>
                </a:path>
                <a:path w="4582160" h="156209">
                  <a:moveTo>
                    <a:pt x="4581588" y="146303"/>
                  </a:moveTo>
                  <a:lnTo>
                    <a:pt x="4581461" y="9525"/>
                  </a:lnTo>
                </a:path>
                <a:path w="4582160" h="156209">
                  <a:moveTo>
                    <a:pt x="0" y="146303"/>
                  </a:moveTo>
                  <a:lnTo>
                    <a:pt x="0" y="9525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18452" y="137102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08722" y="137102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85975" y="13639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10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07995" y="13639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15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09440" y="1382712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20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36159" y="1371028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25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Genome</a:t>
            </a:r>
            <a:r>
              <a:rPr spc="-55" dirty="0"/>
              <a:t> </a:t>
            </a:r>
            <a:r>
              <a:rPr dirty="0"/>
              <a:t>arithmetic</a:t>
            </a:r>
            <a:r>
              <a:rPr spc="-40" dirty="0"/>
              <a:t> </a:t>
            </a:r>
            <a:r>
              <a:rPr spc="-10" dirty="0"/>
              <a:t>operations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4325" y="1695513"/>
            <a:ext cx="8687435" cy="2781300"/>
            <a:chOff x="314325" y="1695513"/>
            <a:chExt cx="8687435" cy="2781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325" y="1724025"/>
              <a:ext cx="8515350" cy="26765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58101" y="1700276"/>
              <a:ext cx="1838325" cy="1371600"/>
            </a:xfrm>
            <a:custGeom>
              <a:avLst/>
              <a:gdLst/>
              <a:ahLst/>
              <a:cxnLst/>
              <a:rect l="l" t="t" r="r" b="b"/>
              <a:pathLst>
                <a:path w="1838325" h="1371600">
                  <a:moveTo>
                    <a:pt x="1838325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1838325" y="1371600"/>
                  </a:lnTo>
                  <a:lnTo>
                    <a:pt x="1838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58101" y="1700276"/>
              <a:ext cx="1838325" cy="1371600"/>
            </a:xfrm>
            <a:custGeom>
              <a:avLst/>
              <a:gdLst/>
              <a:ahLst/>
              <a:cxnLst/>
              <a:rect l="l" t="t" r="r" b="b"/>
              <a:pathLst>
                <a:path w="1838325" h="1371600">
                  <a:moveTo>
                    <a:pt x="0" y="1371600"/>
                  </a:moveTo>
                  <a:lnTo>
                    <a:pt x="1838325" y="1371600"/>
                  </a:lnTo>
                  <a:lnTo>
                    <a:pt x="1838325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195387" y="3100387"/>
              <a:ext cx="7343775" cy="1371600"/>
            </a:xfrm>
            <a:custGeom>
              <a:avLst/>
              <a:gdLst/>
              <a:ahLst/>
              <a:cxnLst/>
              <a:rect l="l" t="t" r="r" b="b"/>
              <a:pathLst>
                <a:path w="7343775" h="1371600">
                  <a:moveTo>
                    <a:pt x="7343775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7343775" y="1371600"/>
                  </a:lnTo>
                  <a:lnTo>
                    <a:pt x="7343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1195387" y="3100387"/>
              <a:ext cx="7343775" cy="1371600"/>
            </a:xfrm>
            <a:custGeom>
              <a:avLst/>
              <a:gdLst/>
              <a:ahLst/>
              <a:cxnLst/>
              <a:rect l="l" t="t" r="r" b="b"/>
              <a:pathLst>
                <a:path w="7343775" h="1371600">
                  <a:moveTo>
                    <a:pt x="0" y="1371600"/>
                  </a:moveTo>
                  <a:lnTo>
                    <a:pt x="7343775" y="1371600"/>
                  </a:lnTo>
                  <a:lnTo>
                    <a:pt x="7343775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22262" y="1062100"/>
            <a:ext cx="8618855" cy="241935"/>
            <a:chOff x="322262" y="1062100"/>
            <a:chExt cx="8618855" cy="241935"/>
          </a:xfrm>
        </p:grpSpPr>
        <p:sp>
          <p:nvSpPr>
            <p:cNvPr id="10" name="object 10"/>
            <p:cNvSpPr/>
            <p:nvPr/>
          </p:nvSpPr>
          <p:spPr>
            <a:xfrm>
              <a:off x="328612" y="1062100"/>
              <a:ext cx="8612505" cy="190500"/>
            </a:xfrm>
            <a:custGeom>
              <a:avLst/>
              <a:gdLst/>
              <a:ahLst/>
              <a:cxnLst/>
              <a:rect l="l" t="t" r="r" b="b"/>
              <a:pathLst>
                <a:path w="8612505" h="190500">
                  <a:moveTo>
                    <a:pt x="8421560" y="0"/>
                  </a:moveTo>
                  <a:lnTo>
                    <a:pt x="8421560" y="190500"/>
                  </a:lnTo>
                  <a:lnTo>
                    <a:pt x="8548560" y="127000"/>
                  </a:lnTo>
                  <a:lnTo>
                    <a:pt x="8453437" y="127000"/>
                  </a:lnTo>
                  <a:lnTo>
                    <a:pt x="8453437" y="63500"/>
                  </a:lnTo>
                  <a:lnTo>
                    <a:pt x="8548560" y="63500"/>
                  </a:lnTo>
                  <a:lnTo>
                    <a:pt x="8421560" y="0"/>
                  </a:lnTo>
                  <a:close/>
                </a:path>
                <a:path w="8612505" h="190500">
                  <a:moveTo>
                    <a:pt x="8421560" y="63500"/>
                  </a:moveTo>
                  <a:lnTo>
                    <a:pt x="0" y="63500"/>
                  </a:lnTo>
                  <a:lnTo>
                    <a:pt x="0" y="127000"/>
                  </a:lnTo>
                  <a:lnTo>
                    <a:pt x="8421560" y="127000"/>
                  </a:lnTo>
                  <a:lnTo>
                    <a:pt x="8421560" y="63500"/>
                  </a:lnTo>
                  <a:close/>
                </a:path>
                <a:path w="8612505" h="190500">
                  <a:moveTo>
                    <a:pt x="8548560" y="63500"/>
                  </a:moveTo>
                  <a:lnTo>
                    <a:pt x="8453437" y="63500"/>
                  </a:lnTo>
                  <a:lnTo>
                    <a:pt x="8453437" y="127000"/>
                  </a:lnTo>
                  <a:lnTo>
                    <a:pt x="8548560" y="127000"/>
                  </a:lnTo>
                  <a:lnTo>
                    <a:pt x="8612060" y="95250"/>
                  </a:lnTo>
                  <a:lnTo>
                    <a:pt x="854856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662" y="1147825"/>
              <a:ext cx="4582160" cy="156210"/>
            </a:xfrm>
            <a:custGeom>
              <a:avLst/>
              <a:gdLst/>
              <a:ahLst/>
              <a:cxnLst/>
              <a:rect l="l" t="t" r="r" b="b"/>
              <a:pathLst>
                <a:path w="4582160" h="156209">
                  <a:moveTo>
                    <a:pt x="914400" y="146303"/>
                  </a:moveTo>
                  <a:lnTo>
                    <a:pt x="914400" y="9525"/>
                  </a:lnTo>
                </a:path>
                <a:path w="4582160" h="156209">
                  <a:moveTo>
                    <a:pt x="1828863" y="146303"/>
                  </a:moveTo>
                  <a:lnTo>
                    <a:pt x="1828736" y="9525"/>
                  </a:lnTo>
                </a:path>
                <a:path w="4582160" h="156209">
                  <a:moveTo>
                    <a:pt x="2733738" y="136778"/>
                  </a:moveTo>
                  <a:lnTo>
                    <a:pt x="2733611" y="0"/>
                  </a:lnTo>
                </a:path>
                <a:path w="4582160" h="156209">
                  <a:moveTo>
                    <a:pt x="3657663" y="155828"/>
                  </a:moveTo>
                  <a:lnTo>
                    <a:pt x="3657536" y="19050"/>
                  </a:lnTo>
                </a:path>
                <a:path w="4582160" h="156209">
                  <a:moveTo>
                    <a:pt x="4581588" y="146303"/>
                  </a:moveTo>
                  <a:lnTo>
                    <a:pt x="4581461" y="9525"/>
                  </a:lnTo>
                </a:path>
                <a:path w="4582160" h="156209">
                  <a:moveTo>
                    <a:pt x="0" y="146303"/>
                  </a:moveTo>
                  <a:lnTo>
                    <a:pt x="0" y="9525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18452" y="137102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08722" y="137102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85975" y="13639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10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07995" y="13639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15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09440" y="1382712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20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36159" y="1371028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25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Genome</a:t>
            </a:r>
            <a:r>
              <a:rPr spc="-55" dirty="0"/>
              <a:t> </a:t>
            </a:r>
            <a:r>
              <a:rPr dirty="0"/>
              <a:t>arithmetic</a:t>
            </a:r>
            <a:r>
              <a:rPr spc="-40" dirty="0"/>
              <a:t> </a:t>
            </a:r>
            <a:r>
              <a:rPr spc="-10" dirty="0"/>
              <a:t>operations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4325" y="1724025"/>
            <a:ext cx="8515350" cy="2752725"/>
            <a:chOff x="314325" y="1724025"/>
            <a:chExt cx="8515350" cy="2752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325" y="1724025"/>
              <a:ext cx="8515350" cy="26765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95387" y="3100387"/>
              <a:ext cx="7343775" cy="1371600"/>
            </a:xfrm>
            <a:custGeom>
              <a:avLst/>
              <a:gdLst/>
              <a:ahLst/>
              <a:cxnLst/>
              <a:rect l="l" t="t" r="r" b="b"/>
              <a:pathLst>
                <a:path w="7343775" h="1371600">
                  <a:moveTo>
                    <a:pt x="7343775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7343775" y="1371600"/>
                  </a:lnTo>
                  <a:lnTo>
                    <a:pt x="7343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195387" y="3100387"/>
              <a:ext cx="7343775" cy="1371600"/>
            </a:xfrm>
            <a:custGeom>
              <a:avLst/>
              <a:gdLst/>
              <a:ahLst/>
              <a:cxnLst/>
              <a:rect l="l" t="t" r="r" b="b"/>
              <a:pathLst>
                <a:path w="7343775" h="1371600">
                  <a:moveTo>
                    <a:pt x="0" y="1371600"/>
                  </a:moveTo>
                  <a:lnTo>
                    <a:pt x="7343775" y="1371600"/>
                  </a:lnTo>
                  <a:lnTo>
                    <a:pt x="7343775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22262" y="1062100"/>
            <a:ext cx="8618855" cy="241935"/>
            <a:chOff x="322262" y="1062100"/>
            <a:chExt cx="8618855" cy="241935"/>
          </a:xfrm>
        </p:grpSpPr>
        <p:sp>
          <p:nvSpPr>
            <p:cNvPr id="8" name="object 8"/>
            <p:cNvSpPr/>
            <p:nvPr/>
          </p:nvSpPr>
          <p:spPr>
            <a:xfrm>
              <a:off x="328612" y="1062100"/>
              <a:ext cx="8612505" cy="190500"/>
            </a:xfrm>
            <a:custGeom>
              <a:avLst/>
              <a:gdLst/>
              <a:ahLst/>
              <a:cxnLst/>
              <a:rect l="l" t="t" r="r" b="b"/>
              <a:pathLst>
                <a:path w="8612505" h="190500">
                  <a:moveTo>
                    <a:pt x="8421560" y="0"/>
                  </a:moveTo>
                  <a:lnTo>
                    <a:pt x="8421560" y="190500"/>
                  </a:lnTo>
                  <a:lnTo>
                    <a:pt x="8548560" y="127000"/>
                  </a:lnTo>
                  <a:lnTo>
                    <a:pt x="8453437" y="127000"/>
                  </a:lnTo>
                  <a:lnTo>
                    <a:pt x="8453437" y="63500"/>
                  </a:lnTo>
                  <a:lnTo>
                    <a:pt x="8548560" y="63500"/>
                  </a:lnTo>
                  <a:lnTo>
                    <a:pt x="8421560" y="0"/>
                  </a:lnTo>
                  <a:close/>
                </a:path>
                <a:path w="8612505" h="190500">
                  <a:moveTo>
                    <a:pt x="8421560" y="63500"/>
                  </a:moveTo>
                  <a:lnTo>
                    <a:pt x="0" y="63500"/>
                  </a:lnTo>
                  <a:lnTo>
                    <a:pt x="0" y="127000"/>
                  </a:lnTo>
                  <a:lnTo>
                    <a:pt x="8421560" y="127000"/>
                  </a:lnTo>
                  <a:lnTo>
                    <a:pt x="8421560" y="63500"/>
                  </a:lnTo>
                  <a:close/>
                </a:path>
                <a:path w="8612505" h="190500">
                  <a:moveTo>
                    <a:pt x="8548560" y="63500"/>
                  </a:moveTo>
                  <a:lnTo>
                    <a:pt x="8453437" y="63500"/>
                  </a:lnTo>
                  <a:lnTo>
                    <a:pt x="8453437" y="127000"/>
                  </a:lnTo>
                  <a:lnTo>
                    <a:pt x="8548560" y="127000"/>
                  </a:lnTo>
                  <a:lnTo>
                    <a:pt x="8612060" y="95250"/>
                  </a:lnTo>
                  <a:lnTo>
                    <a:pt x="854856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347662" y="1147825"/>
              <a:ext cx="4582160" cy="156210"/>
            </a:xfrm>
            <a:custGeom>
              <a:avLst/>
              <a:gdLst/>
              <a:ahLst/>
              <a:cxnLst/>
              <a:rect l="l" t="t" r="r" b="b"/>
              <a:pathLst>
                <a:path w="4582160" h="156209">
                  <a:moveTo>
                    <a:pt x="914400" y="146303"/>
                  </a:moveTo>
                  <a:lnTo>
                    <a:pt x="914400" y="9525"/>
                  </a:lnTo>
                </a:path>
                <a:path w="4582160" h="156209">
                  <a:moveTo>
                    <a:pt x="1828863" y="146303"/>
                  </a:moveTo>
                  <a:lnTo>
                    <a:pt x="1828736" y="9525"/>
                  </a:lnTo>
                </a:path>
                <a:path w="4582160" h="156209">
                  <a:moveTo>
                    <a:pt x="2733738" y="136778"/>
                  </a:moveTo>
                  <a:lnTo>
                    <a:pt x="2733611" y="0"/>
                  </a:lnTo>
                </a:path>
                <a:path w="4582160" h="156209">
                  <a:moveTo>
                    <a:pt x="3657663" y="155828"/>
                  </a:moveTo>
                  <a:lnTo>
                    <a:pt x="3657536" y="19050"/>
                  </a:lnTo>
                </a:path>
                <a:path w="4582160" h="156209">
                  <a:moveTo>
                    <a:pt x="4581588" y="146303"/>
                  </a:moveTo>
                  <a:lnTo>
                    <a:pt x="4581461" y="9525"/>
                  </a:lnTo>
                </a:path>
                <a:path w="4582160" h="156209">
                  <a:moveTo>
                    <a:pt x="0" y="146303"/>
                  </a:moveTo>
                  <a:lnTo>
                    <a:pt x="0" y="9525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8452" y="137102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8722" y="137102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85975" y="13639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10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07995" y="13639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15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09440" y="1382712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20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36159" y="1371028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25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Genome</a:t>
            </a:r>
            <a:r>
              <a:rPr spc="-55" dirty="0"/>
              <a:t> </a:t>
            </a:r>
            <a:r>
              <a:rPr dirty="0"/>
              <a:t>arithmetic</a:t>
            </a:r>
            <a:r>
              <a:rPr spc="-40" dirty="0"/>
              <a:t> </a:t>
            </a:r>
            <a:r>
              <a:rPr spc="-10" dirty="0"/>
              <a:t>operations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4325" y="1724025"/>
            <a:ext cx="8515350" cy="2752725"/>
            <a:chOff x="314325" y="1724025"/>
            <a:chExt cx="8515350" cy="2752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325" y="1724025"/>
              <a:ext cx="8515350" cy="26765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19576" y="3100387"/>
              <a:ext cx="4819650" cy="1371600"/>
            </a:xfrm>
            <a:custGeom>
              <a:avLst/>
              <a:gdLst/>
              <a:ahLst/>
              <a:cxnLst/>
              <a:rect l="l" t="t" r="r" b="b"/>
              <a:pathLst>
                <a:path w="4819650" h="1371600">
                  <a:moveTo>
                    <a:pt x="481965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4819650" y="1371600"/>
                  </a:lnTo>
                  <a:lnTo>
                    <a:pt x="4819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719576" y="3100387"/>
              <a:ext cx="4819650" cy="1371600"/>
            </a:xfrm>
            <a:custGeom>
              <a:avLst/>
              <a:gdLst/>
              <a:ahLst/>
              <a:cxnLst/>
              <a:rect l="l" t="t" r="r" b="b"/>
              <a:pathLst>
                <a:path w="4819650" h="1371600">
                  <a:moveTo>
                    <a:pt x="0" y="1371600"/>
                  </a:moveTo>
                  <a:lnTo>
                    <a:pt x="4819650" y="1371600"/>
                  </a:lnTo>
                  <a:lnTo>
                    <a:pt x="481965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22262" y="1062100"/>
            <a:ext cx="8618855" cy="241935"/>
            <a:chOff x="322262" y="1062100"/>
            <a:chExt cx="8618855" cy="241935"/>
          </a:xfrm>
        </p:grpSpPr>
        <p:sp>
          <p:nvSpPr>
            <p:cNvPr id="8" name="object 8"/>
            <p:cNvSpPr/>
            <p:nvPr/>
          </p:nvSpPr>
          <p:spPr>
            <a:xfrm>
              <a:off x="328612" y="1062100"/>
              <a:ext cx="8612505" cy="190500"/>
            </a:xfrm>
            <a:custGeom>
              <a:avLst/>
              <a:gdLst/>
              <a:ahLst/>
              <a:cxnLst/>
              <a:rect l="l" t="t" r="r" b="b"/>
              <a:pathLst>
                <a:path w="8612505" h="190500">
                  <a:moveTo>
                    <a:pt x="8421560" y="0"/>
                  </a:moveTo>
                  <a:lnTo>
                    <a:pt x="8421560" y="190500"/>
                  </a:lnTo>
                  <a:lnTo>
                    <a:pt x="8548560" y="127000"/>
                  </a:lnTo>
                  <a:lnTo>
                    <a:pt x="8453437" y="127000"/>
                  </a:lnTo>
                  <a:lnTo>
                    <a:pt x="8453437" y="63500"/>
                  </a:lnTo>
                  <a:lnTo>
                    <a:pt x="8548560" y="63500"/>
                  </a:lnTo>
                  <a:lnTo>
                    <a:pt x="8421560" y="0"/>
                  </a:lnTo>
                  <a:close/>
                </a:path>
                <a:path w="8612505" h="190500">
                  <a:moveTo>
                    <a:pt x="8421560" y="63500"/>
                  </a:moveTo>
                  <a:lnTo>
                    <a:pt x="0" y="63500"/>
                  </a:lnTo>
                  <a:lnTo>
                    <a:pt x="0" y="127000"/>
                  </a:lnTo>
                  <a:lnTo>
                    <a:pt x="8421560" y="127000"/>
                  </a:lnTo>
                  <a:lnTo>
                    <a:pt x="8421560" y="63500"/>
                  </a:lnTo>
                  <a:close/>
                </a:path>
                <a:path w="8612505" h="190500">
                  <a:moveTo>
                    <a:pt x="8548560" y="63500"/>
                  </a:moveTo>
                  <a:lnTo>
                    <a:pt x="8453437" y="63500"/>
                  </a:lnTo>
                  <a:lnTo>
                    <a:pt x="8453437" y="127000"/>
                  </a:lnTo>
                  <a:lnTo>
                    <a:pt x="8548560" y="127000"/>
                  </a:lnTo>
                  <a:lnTo>
                    <a:pt x="8612060" y="95250"/>
                  </a:lnTo>
                  <a:lnTo>
                    <a:pt x="854856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347662" y="1147825"/>
              <a:ext cx="4582160" cy="156210"/>
            </a:xfrm>
            <a:custGeom>
              <a:avLst/>
              <a:gdLst/>
              <a:ahLst/>
              <a:cxnLst/>
              <a:rect l="l" t="t" r="r" b="b"/>
              <a:pathLst>
                <a:path w="4582160" h="156209">
                  <a:moveTo>
                    <a:pt x="914400" y="146303"/>
                  </a:moveTo>
                  <a:lnTo>
                    <a:pt x="914400" y="9525"/>
                  </a:lnTo>
                </a:path>
                <a:path w="4582160" h="156209">
                  <a:moveTo>
                    <a:pt x="1828863" y="146303"/>
                  </a:moveTo>
                  <a:lnTo>
                    <a:pt x="1828736" y="9525"/>
                  </a:lnTo>
                </a:path>
                <a:path w="4582160" h="156209">
                  <a:moveTo>
                    <a:pt x="2733738" y="136778"/>
                  </a:moveTo>
                  <a:lnTo>
                    <a:pt x="2733611" y="0"/>
                  </a:lnTo>
                </a:path>
                <a:path w="4582160" h="156209">
                  <a:moveTo>
                    <a:pt x="3657663" y="155828"/>
                  </a:moveTo>
                  <a:lnTo>
                    <a:pt x="3657536" y="19050"/>
                  </a:lnTo>
                </a:path>
                <a:path w="4582160" h="156209">
                  <a:moveTo>
                    <a:pt x="4581588" y="146303"/>
                  </a:moveTo>
                  <a:lnTo>
                    <a:pt x="4581461" y="9525"/>
                  </a:lnTo>
                </a:path>
                <a:path w="4582160" h="156209">
                  <a:moveTo>
                    <a:pt x="0" y="146303"/>
                  </a:moveTo>
                  <a:lnTo>
                    <a:pt x="0" y="9525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8452" y="137102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8722" y="137102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85975" y="13639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10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07995" y="13639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15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09440" y="1382712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20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36159" y="1371028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25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Genome</a:t>
            </a:r>
            <a:r>
              <a:rPr spc="-55" dirty="0"/>
              <a:t> </a:t>
            </a:r>
            <a:r>
              <a:rPr dirty="0"/>
              <a:t>arithmetic</a:t>
            </a:r>
            <a:r>
              <a:rPr spc="-40" dirty="0"/>
              <a:t> </a:t>
            </a:r>
            <a:r>
              <a:rPr spc="-10" dirty="0"/>
              <a:t>operations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4325" y="1724025"/>
            <a:ext cx="8515350" cy="2752725"/>
            <a:chOff x="314325" y="1724025"/>
            <a:chExt cx="8515350" cy="2752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325" y="1724025"/>
              <a:ext cx="8515350" cy="26765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224651" y="3100387"/>
              <a:ext cx="2314575" cy="1371600"/>
            </a:xfrm>
            <a:custGeom>
              <a:avLst/>
              <a:gdLst/>
              <a:ahLst/>
              <a:cxnLst/>
              <a:rect l="l" t="t" r="r" b="b"/>
              <a:pathLst>
                <a:path w="2314575" h="1371600">
                  <a:moveTo>
                    <a:pt x="2314575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2314575" y="1371600"/>
                  </a:lnTo>
                  <a:lnTo>
                    <a:pt x="2314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6224651" y="3100387"/>
              <a:ext cx="2314575" cy="1371600"/>
            </a:xfrm>
            <a:custGeom>
              <a:avLst/>
              <a:gdLst/>
              <a:ahLst/>
              <a:cxnLst/>
              <a:rect l="l" t="t" r="r" b="b"/>
              <a:pathLst>
                <a:path w="2314575" h="1371600">
                  <a:moveTo>
                    <a:pt x="0" y="1371600"/>
                  </a:moveTo>
                  <a:lnTo>
                    <a:pt x="2314575" y="1371600"/>
                  </a:lnTo>
                  <a:lnTo>
                    <a:pt x="2314575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22262" y="1062100"/>
            <a:ext cx="8618855" cy="241935"/>
            <a:chOff x="322262" y="1062100"/>
            <a:chExt cx="8618855" cy="241935"/>
          </a:xfrm>
        </p:grpSpPr>
        <p:sp>
          <p:nvSpPr>
            <p:cNvPr id="8" name="object 8"/>
            <p:cNvSpPr/>
            <p:nvPr/>
          </p:nvSpPr>
          <p:spPr>
            <a:xfrm>
              <a:off x="328612" y="1062100"/>
              <a:ext cx="8612505" cy="190500"/>
            </a:xfrm>
            <a:custGeom>
              <a:avLst/>
              <a:gdLst/>
              <a:ahLst/>
              <a:cxnLst/>
              <a:rect l="l" t="t" r="r" b="b"/>
              <a:pathLst>
                <a:path w="8612505" h="190500">
                  <a:moveTo>
                    <a:pt x="8421560" y="0"/>
                  </a:moveTo>
                  <a:lnTo>
                    <a:pt x="8421560" y="190500"/>
                  </a:lnTo>
                  <a:lnTo>
                    <a:pt x="8548560" y="127000"/>
                  </a:lnTo>
                  <a:lnTo>
                    <a:pt x="8453437" y="127000"/>
                  </a:lnTo>
                  <a:lnTo>
                    <a:pt x="8453437" y="63500"/>
                  </a:lnTo>
                  <a:lnTo>
                    <a:pt x="8548560" y="63500"/>
                  </a:lnTo>
                  <a:lnTo>
                    <a:pt x="8421560" y="0"/>
                  </a:lnTo>
                  <a:close/>
                </a:path>
                <a:path w="8612505" h="190500">
                  <a:moveTo>
                    <a:pt x="8421560" y="63500"/>
                  </a:moveTo>
                  <a:lnTo>
                    <a:pt x="0" y="63500"/>
                  </a:lnTo>
                  <a:lnTo>
                    <a:pt x="0" y="127000"/>
                  </a:lnTo>
                  <a:lnTo>
                    <a:pt x="8421560" y="127000"/>
                  </a:lnTo>
                  <a:lnTo>
                    <a:pt x="8421560" y="63500"/>
                  </a:lnTo>
                  <a:close/>
                </a:path>
                <a:path w="8612505" h="190500">
                  <a:moveTo>
                    <a:pt x="8548560" y="63500"/>
                  </a:moveTo>
                  <a:lnTo>
                    <a:pt x="8453437" y="63500"/>
                  </a:lnTo>
                  <a:lnTo>
                    <a:pt x="8453437" y="127000"/>
                  </a:lnTo>
                  <a:lnTo>
                    <a:pt x="8548560" y="127000"/>
                  </a:lnTo>
                  <a:lnTo>
                    <a:pt x="8612060" y="95250"/>
                  </a:lnTo>
                  <a:lnTo>
                    <a:pt x="854856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347662" y="1147825"/>
              <a:ext cx="4582160" cy="156210"/>
            </a:xfrm>
            <a:custGeom>
              <a:avLst/>
              <a:gdLst/>
              <a:ahLst/>
              <a:cxnLst/>
              <a:rect l="l" t="t" r="r" b="b"/>
              <a:pathLst>
                <a:path w="4582160" h="156209">
                  <a:moveTo>
                    <a:pt x="914400" y="146303"/>
                  </a:moveTo>
                  <a:lnTo>
                    <a:pt x="914400" y="9525"/>
                  </a:lnTo>
                </a:path>
                <a:path w="4582160" h="156209">
                  <a:moveTo>
                    <a:pt x="1828863" y="146303"/>
                  </a:moveTo>
                  <a:lnTo>
                    <a:pt x="1828736" y="9525"/>
                  </a:lnTo>
                </a:path>
                <a:path w="4582160" h="156209">
                  <a:moveTo>
                    <a:pt x="2733738" y="136778"/>
                  </a:moveTo>
                  <a:lnTo>
                    <a:pt x="2733611" y="0"/>
                  </a:lnTo>
                </a:path>
                <a:path w="4582160" h="156209">
                  <a:moveTo>
                    <a:pt x="3657663" y="155828"/>
                  </a:moveTo>
                  <a:lnTo>
                    <a:pt x="3657536" y="19050"/>
                  </a:lnTo>
                </a:path>
                <a:path w="4582160" h="156209">
                  <a:moveTo>
                    <a:pt x="4581588" y="146303"/>
                  </a:moveTo>
                  <a:lnTo>
                    <a:pt x="4581461" y="9525"/>
                  </a:lnTo>
                </a:path>
                <a:path w="4582160" h="156209">
                  <a:moveTo>
                    <a:pt x="0" y="146303"/>
                  </a:moveTo>
                  <a:lnTo>
                    <a:pt x="0" y="9525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8452" y="137102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8722" y="137102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85975" y="13639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10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07995" y="13639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15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09440" y="1382712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20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36159" y="1371028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25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Genome</a:t>
            </a:r>
            <a:r>
              <a:rPr spc="-55" dirty="0"/>
              <a:t> </a:t>
            </a:r>
            <a:r>
              <a:rPr dirty="0"/>
              <a:t>arithmetic</a:t>
            </a:r>
            <a:r>
              <a:rPr spc="-40" dirty="0"/>
              <a:t> </a:t>
            </a:r>
            <a:r>
              <a:rPr spc="-10" dirty="0"/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325" y="1724025"/>
            <a:ext cx="8515350" cy="267652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22262" y="1062100"/>
            <a:ext cx="8618855" cy="241935"/>
            <a:chOff x="322262" y="1062100"/>
            <a:chExt cx="8618855" cy="241935"/>
          </a:xfrm>
        </p:grpSpPr>
        <p:sp>
          <p:nvSpPr>
            <p:cNvPr id="5" name="object 5"/>
            <p:cNvSpPr/>
            <p:nvPr/>
          </p:nvSpPr>
          <p:spPr>
            <a:xfrm>
              <a:off x="328612" y="1062100"/>
              <a:ext cx="8612505" cy="190500"/>
            </a:xfrm>
            <a:custGeom>
              <a:avLst/>
              <a:gdLst/>
              <a:ahLst/>
              <a:cxnLst/>
              <a:rect l="l" t="t" r="r" b="b"/>
              <a:pathLst>
                <a:path w="8612505" h="190500">
                  <a:moveTo>
                    <a:pt x="8421560" y="0"/>
                  </a:moveTo>
                  <a:lnTo>
                    <a:pt x="8421560" y="190500"/>
                  </a:lnTo>
                  <a:lnTo>
                    <a:pt x="8548560" y="127000"/>
                  </a:lnTo>
                  <a:lnTo>
                    <a:pt x="8453437" y="127000"/>
                  </a:lnTo>
                  <a:lnTo>
                    <a:pt x="8453437" y="63500"/>
                  </a:lnTo>
                  <a:lnTo>
                    <a:pt x="8548560" y="63500"/>
                  </a:lnTo>
                  <a:lnTo>
                    <a:pt x="8421560" y="0"/>
                  </a:lnTo>
                  <a:close/>
                </a:path>
                <a:path w="8612505" h="190500">
                  <a:moveTo>
                    <a:pt x="8421560" y="63500"/>
                  </a:moveTo>
                  <a:lnTo>
                    <a:pt x="0" y="63500"/>
                  </a:lnTo>
                  <a:lnTo>
                    <a:pt x="0" y="127000"/>
                  </a:lnTo>
                  <a:lnTo>
                    <a:pt x="8421560" y="127000"/>
                  </a:lnTo>
                  <a:lnTo>
                    <a:pt x="8421560" y="63500"/>
                  </a:lnTo>
                  <a:close/>
                </a:path>
                <a:path w="8612505" h="190500">
                  <a:moveTo>
                    <a:pt x="8548560" y="63500"/>
                  </a:moveTo>
                  <a:lnTo>
                    <a:pt x="8453437" y="63500"/>
                  </a:lnTo>
                  <a:lnTo>
                    <a:pt x="8453437" y="127000"/>
                  </a:lnTo>
                  <a:lnTo>
                    <a:pt x="8548560" y="127000"/>
                  </a:lnTo>
                  <a:lnTo>
                    <a:pt x="8612060" y="95250"/>
                  </a:lnTo>
                  <a:lnTo>
                    <a:pt x="854856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47662" y="1147825"/>
              <a:ext cx="4582160" cy="156210"/>
            </a:xfrm>
            <a:custGeom>
              <a:avLst/>
              <a:gdLst/>
              <a:ahLst/>
              <a:cxnLst/>
              <a:rect l="l" t="t" r="r" b="b"/>
              <a:pathLst>
                <a:path w="4582160" h="156209">
                  <a:moveTo>
                    <a:pt x="914400" y="146303"/>
                  </a:moveTo>
                  <a:lnTo>
                    <a:pt x="914400" y="9525"/>
                  </a:lnTo>
                </a:path>
                <a:path w="4582160" h="156209">
                  <a:moveTo>
                    <a:pt x="1828863" y="146303"/>
                  </a:moveTo>
                  <a:lnTo>
                    <a:pt x="1828736" y="9525"/>
                  </a:lnTo>
                </a:path>
                <a:path w="4582160" h="156209">
                  <a:moveTo>
                    <a:pt x="2733738" y="136778"/>
                  </a:moveTo>
                  <a:lnTo>
                    <a:pt x="2733611" y="0"/>
                  </a:lnTo>
                </a:path>
                <a:path w="4582160" h="156209">
                  <a:moveTo>
                    <a:pt x="3657663" y="155828"/>
                  </a:moveTo>
                  <a:lnTo>
                    <a:pt x="3657536" y="19050"/>
                  </a:lnTo>
                </a:path>
                <a:path w="4582160" h="156209">
                  <a:moveTo>
                    <a:pt x="4581588" y="146303"/>
                  </a:moveTo>
                  <a:lnTo>
                    <a:pt x="4581461" y="9525"/>
                  </a:lnTo>
                </a:path>
                <a:path w="4582160" h="156209">
                  <a:moveTo>
                    <a:pt x="0" y="146303"/>
                  </a:moveTo>
                  <a:lnTo>
                    <a:pt x="0" y="9525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18452" y="137102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8722" y="137102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85975" y="13639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10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07995" y="13639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15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09440" y="1382712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20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36159" y="1371028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25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42" y="156844"/>
            <a:ext cx="5900420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Do</a:t>
            </a:r>
            <a:r>
              <a:rPr spc="-45" dirty="0"/>
              <a:t> </a:t>
            </a:r>
            <a:r>
              <a:rPr dirty="0"/>
              <a:t>two</a:t>
            </a:r>
            <a:r>
              <a:rPr spc="-45" dirty="0"/>
              <a:t> </a:t>
            </a:r>
            <a:r>
              <a:rPr dirty="0"/>
              <a:t>intervals</a:t>
            </a:r>
            <a:r>
              <a:rPr spc="-30" dirty="0"/>
              <a:t> </a:t>
            </a:r>
            <a:r>
              <a:rPr dirty="0"/>
              <a:t>intersect</a:t>
            </a:r>
            <a:r>
              <a:rPr spc="-55" dirty="0"/>
              <a:t> </a:t>
            </a:r>
            <a:r>
              <a:rPr spc="-10" dirty="0"/>
              <a:t>(overlap)?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000125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4">
                <a:moveTo>
                  <a:pt x="0" y="0"/>
                </a:moveTo>
                <a:lnTo>
                  <a:pt x="1675511" y="0"/>
                </a:lnTo>
              </a:path>
            </a:pathLst>
          </a:custGeom>
          <a:ln w="76200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1685925" y="1352550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4">
                <a:moveTo>
                  <a:pt x="0" y="0"/>
                </a:moveTo>
                <a:lnTo>
                  <a:pt x="1675511" y="0"/>
                </a:lnTo>
              </a:path>
            </a:pathLst>
          </a:custGeom>
          <a:ln w="76200">
            <a:solidFill>
              <a:srgbClr val="1154C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516890" y="700087"/>
            <a:ext cx="17760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72260" algn="l"/>
              </a:tabLst>
            </a:pPr>
            <a:r>
              <a:rPr sz="1400" spc="-25" dirty="0">
                <a:latin typeface="Consolas"/>
                <a:cs typeface="Consolas"/>
              </a:rPr>
              <a:t>10</a:t>
            </a:r>
            <a:r>
              <a:rPr sz="1400" dirty="0">
                <a:latin typeface="Consolas"/>
                <a:cs typeface="Consolas"/>
              </a:rPr>
              <a:t>	</a:t>
            </a:r>
            <a:r>
              <a:rPr sz="1400" spc="-25" dirty="0">
                <a:latin typeface="Consolas"/>
                <a:cs typeface="Consolas"/>
              </a:rPr>
              <a:t>20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1160" y="1387157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17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1101" y="1387157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27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67500" y="1000125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5">
                <a:moveTo>
                  <a:pt x="0" y="0"/>
                </a:moveTo>
                <a:lnTo>
                  <a:pt x="1675510" y="0"/>
                </a:lnTo>
              </a:path>
            </a:pathLst>
          </a:custGeom>
          <a:ln w="76200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6619240" y="700087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17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79054" y="700087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27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24500" y="1352550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5">
                <a:moveTo>
                  <a:pt x="0" y="0"/>
                </a:moveTo>
                <a:lnTo>
                  <a:pt x="1675510" y="0"/>
                </a:lnTo>
              </a:path>
            </a:pathLst>
          </a:custGeom>
          <a:ln w="76200">
            <a:solidFill>
              <a:srgbClr val="1154C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5474970" y="1387157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34783" y="1387157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20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04900" y="2524125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4">
                <a:moveTo>
                  <a:pt x="0" y="0"/>
                </a:moveTo>
                <a:lnTo>
                  <a:pt x="1675511" y="0"/>
                </a:lnTo>
              </a:path>
            </a:pathLst>
          </a:custGeom>
          <a:ln w="76200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1609725" y="2876550"/>
            <a:ext cx="633095" cy="0"/>
          </a:xfrm>
          <a:custGeom>
            <a:avLst/>
            <a:gdLst/>
            <a:ahLst/>
            <a:cxnLst/>
            <a:rect l="l" t="t" r="r" b="b"/>
            <a:pathLst>
              <a:path w="633094">
                <a:moveTo>
                  <a:pt x="0" y="0"/>
                </a:moveTo>
                <a:lnTo>
                  <a:pt x="632713" y="0"/>
                </a:lnTo>
              </a:path>
            </a:pathLst>
          </a:custGeom>
          <a:ln w="76200">
            <a:solidFill>
              <a:srgbClr val="1154C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1050925" y="2226881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10866" y="2226881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20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08378" y="2914078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13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60904" y="2914078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16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210300" y="2981325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5">
                <a:moveTo>
                  <a:pt x="0" y="0"/>
                </a:moveTo>
                <a:lnTo>
                  <a:pt x="1675510" y="0"/>
                </a:lnTo>
              </a:path>
            </a:pathLst>
          </a:custGeom>
          <a:ln w="76200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6715125" y="2495550"/>
            <a:ext cx="633095" cy="0"/>
          </a:xfrm>
          <a:custGeom>
            <a:avLst/>
            <a:gdLst/>
            <a:ahLst/>
            <a:cxnLst/>
            <a:rect l="l" t="t" r="r" b="b"/>
            <a:pathLst>
              <a:path w="633095">
                <a:moveTo>
                  <a:pt x="0" y="0"/>
                </a:moveTo>
                <a:lnTo>
                  <a:pt x="632714" y="0"/>
                </a:lnTo>
              </a:path>
            </a:pathLst>
          </a:custGeom>
          <a:ln w="76200">
            <a:solidFill>
              <a:srgbClr val="1154C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6161404" y="2990278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21218" y="2990278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20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19240" y="2226881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13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71766" y="2226881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16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66620" y="3354387"/>
            <a:ext cx="3274695" cy="1732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6400" marR="5080" indent="-394335" algn="just">
              <a:lnSpc>
                <a:spcPct val="99900"/>
              </a:lnSpc>
              <a:spcBef>
                <a:spcPts val="130"/>
              </a:spcBef>
            </a:pPr>
            <a:r>
              <a:rPr sz="1400" dirty="0">
                <a:latin typeface="Consolas"/>
                <a:cs typeface="Consolas"/>
              </a:rPr>
              <a:t>if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((a.start</a:t>
            </a:r>
            <a:r>
              <a:rPr sz="1400" spc="-6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&lt;=</a:t>
            </a:r>
            <a:r>
              <a:rPr sz="1400" spc="-6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b.start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and</a:t>
            </a:r>
            <a:r>
              <a:rPr sz="1400" spc="-6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a.end </a:t>
            </a:r>
            <a:r>
              <a:rPr sz="1400" dirty="0">
                <a:latin typeface="Consolas"/>
                <a:cs typeface="Consolas"/>
              </a:rPr>
              <a:t>(b.start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&lt;=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a.start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and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20" dirty="0">
                <a:latin typeface="Consolas"/>
                <a:cs typeface="Consolas"/>
              </a:rPr>
              <a:t>b.end </a:t>
            </a:r>
            <a:r>
              <a:rPr sz="1400" dirty="0">
                <a:latin typeface="Consolas"/>
                <a:cs typeface="Consolas"/>
              </a:rPr>
              <a:t>(a.start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&lt;=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b.start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and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20" dirty="0">
                <a:latin typeface="Consolas"/>
                <a:cs typeface="Consolas"/>
              </a:rPr>
              <a:t>a.end </a:t>
            </a:r>
            <a:r>
              <a:rPr sz="1400" dirty="0">
                <a:latin typeface="Consolas"/>
                <a:cs typeface="Consolas"/>
              </a:rPr>
              <a:t>(b.start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&lt;=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a.start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and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20" dirty="0">
                <a:latin typeface="Consolas"/>
                <a:cs typeface="Consolas"/>
              </a:rPr>
              <a:t>b.end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ts val="1655"/>
              </a:lnSpc>
            </a:pPr>
            <a:r>
              <a:rPr sz="1400" spc="-50" dirty="0">
                <a:latin typeface="Consolas"/>
                <a:cs typeface="Consolas"/>
              </a:rPr>
              <a:t>{</a:t>
            </a:r>
            <a:endParaRPr sz="1400" dirty="0">
              <a:latin typeface="Consolas"/>
              <a:cs typeface="Consolas"/>
            </a:endParaRPr>
          </a:p>
          <a:p>
            <a:pPr marL="209550">
              <a:lnSpc>
                <a:spcPts val="1664"/>
              </a:lnSpc>
              <a:spcBef>
                <a:spcPts val="45"/>
              </a:spcBef>
            </a:pPr>
            <a:r>
              <a:rPr sz="1400" spc="-10" dirty="0">
                <a:latin typeface="Consolas"/>
                <a:cs typeface="Consolas"/>
              </a:rPr>
              <a:t>INTERSECTION!!!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ts val="1655"/>
              </a:lnSpc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Consolas"/>
                <a:cs typeface="Consolas"/>
              </a:rPr>
              <a:t>else </a:t>
            </a:r>
            <a:r>
              <a:rPr sz="1400" spc="-10" dirty="0">
                <a:latin typeface="Consolas"/>
                <a:cs typeface="Consolas"/>
              </a:rPr>
              <a:t>NADA!!!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06390" y="3354387"/>
            <a:ext cx="1409700" cy="8983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dirty="0">
                <a:latin typeface="Consolas"/>
                <a:cs typeface="Consolas"/>
              </a:rPr>
              <a:t>&gt;=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b.start)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25" dirty="0">
                <a:latin typeface="Consolas"/>
                <a:cs typeface="Consolas"/>
              </a:rPr>
              <a:t>or</a:t>
            </a:r>
            <a:endParaRPr sz="1400" dirty="0">
              <a:latin typeface="Consolas"/>
              <a:cs typeface="Consolas"/>
            </a:endParaRPr>
          </a:p>
          <a:p>
            <a:pPr marL="16510">
              <a:lnSpc>
                <a:spcPts val="1650"/>
              </a:lnSpc>
            </a:pPr>
            <a:r>
              <a:rPr sz="1400" dirty="0">
                <a:latin typeface="Consolas"/>
                <a:cs typeface="Consolas"/>
              </a:rPr>
              <a:t>&gt;=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a.start)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25" dirty="0">
                <a:latin typeface="Consolas"/>
                <a:cs typeface="Consolas"/>
              </a:rPr>
              <a:t>or</a:t>
            </a:r>
            <a:endParaRPr sz="1400" dirty="0">
              <a:latin typeface="Consolas"/>
              <a:cs typeface="Consolas"/>
            </a:endParaRPr>
          </a:p>
          <a:p>
            <a:pPr marL="16510">
              <a:lnSpc>
                <a:spcPts val="1664"/>
              </a:lnSpc>
              <a:tabLst>
                <a:tab pos="1196340" algn="l"/>
              </a:tabLst>
            </a:pPr>
            <a:r>
              <a:rPr sz="1400" dirty="0">
                <a:latin typeface="Consolas"/>
                <a:cs typeface="Consolas"/>
              </a:rPr>
              <a:t>&gt;=</a:t>
            </a:r>
            <a:r>
              <a:rPr sz="1400" spc="-10" dirty="0">
                <a:latin typeface="Consolas"/>
                <a:cs typeface="Consolas"/>
              </a:rPr>
              <a:t> b.end)</a:t>
            </a:r>
            <a:r>
              <a:rPr sz="1400" dirty="0">
                <a:latin typeface="Consolas"/>
                <a:cs typeface="Consolas"/>
              </a:rPr>
              <a:t>	</a:t>
            </a:r>
            <a:r>
              <a:rPr sz="1400" spc="-25" dirty="0">
                <a:latin typeface="Consolas"/>
                <a:cs typeface="Consolas"/>
              </a:rPr>
              <a:t>or</a:t>
            </a:r>
            <a:endParaRPr sz="1400" dirty="0">
              <a:latin typeface="Consolas"/>
              <a:cs typeface="Consolas"/>
            </a:endParaRPr>
          </a:p>
          <a:p>
            <a:pPr marL="1651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Consolas"/>
                <a:cs typeface="Consolas"/>
              </a:rPr>
              <a:t>&gt;=</a:t>
            </a:r>
            <a:r>
              <a:rPr sz="1400" spc="-10" dirty="0">
                <a:latin typeface="Consolas"/>
                <a:cs typeface="Consolas"/>
              </a:rPr>
              <a:t> a.end))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C0C4B1-0AE7-A817-747C-023A8CC2EE99}"/>
              </a:ext>
            </a:extLst>
          </p:cNvPr>
          <p:cNvSpPr txBox="1"/>
          <p:nvPr/>
        </p:nvSpPr>
        <p:spPr>
          <a:xfrm flipH="1">
            <a:off x="125159" y="1087096"/>
            <a:ext cx="789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 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B1CEB6-0479-5EFF-BAD6-16C0B4025612}"/>
              </a:ext>
            </a:extLst>
          </p:cNvPr>
          <p:cNvSpPr txBox="1"/>
          <p:nvPr/>
        </p:nvSpPr>
        <p:spPr>
          <a:xfrm flipH="1">
            <a:off x="1004634" y="1538726"/>
            <a:ext cx="826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 b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408" y="81582"/>
            <a:ext cx="8423530" cy="4629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Do</a:t>
            </a:r>
            <a:r>
              <a:rPr spc="-40" dirty="0"/>
              <a:t> </a:t>
            </a:r>
            <a:r>
              <a:rPr dirty="0"/>
              <a:t>two</a:t>
            </a:r>
            <a:r>
              <a:rPr spc="-40" dirty="0"/>
              <a:t> </a:t>
            </a:r>
            <a:r>
              <a:rPr dirty="0"/>
              <a:t>intervals</a:t>
            </a:r>
            <a:r>
              <a:rPr spc="-25" dirty="0"/>
              <a:t> </a:t>
            </a:r>
            <a:r>
              <a:rPr dirty="0"/>
              <a:t>intersect</a:t>
            </a:r>
            <a:r>
              <a:rPr spc="-50" dirty="0"/>
              <a:t> </a:t>
            </a:r>
            <a:r>
              <a:rPr dirty="0"/>
              <a:t>(overlap)?</a:t>
            </a:r>
            <a:r>
              <a:rPr spc="-3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10" dirty="0"/>
              <a:t>simpler</a:t>
            </a:r>
            <a:r>
              <a:rPr lang="en-US" spc="-10" dirty="0"/>
              <a:t> way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571500" y="1000125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4">
                <a:moveTo>
                  <a:pt x="0" y="0"/>
                </a:moveTo>
                <a:lnTo>
                  <a:pt x="1675511" y="0"/>
                </a:lnTo>
              </a:path>
            </a:pathLst>
          </a:custGeom>
          <a:ln w="76200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329628" y="514350"/>
            <a:ext cx="837565" cy="4629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endParaRPr sz="29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6704" y="700087"/>
            <a:ext cx="47586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554855" algn="l"/>
              </a:tabLst>
            </a:pPr>
            <a:r>
              <a:rPr sz="1400" spc="-25" dirty="0">
                <a:latin typeface="Consolas"/>
                <a:cs typeface="Consolas"/>
              </a:rPr>
              <a:t>20</a:t>
            </a:r>
            <a:r>
              <a:rPr sz="1400" dirty="0">
                <a:latin typeface="Consolas"/>
                <a:cs typeface="Consolas"/>
              </a:rPr>
              <a:t>	</a:t>
            </a:r>
            <a:r>
              <a:rPr sz="1400" spc="-25" dirty="0">
                <a:latin typeface="Consolas"/>
                <a:cs typeface="Consolas"/>
              </a:rPr>
              <a:t>17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67500" y="1000125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5">
                <a:moveTo>
                  <a:pt x="0" y="0"/>
                </a:moveTo>
                <a:lnTo>
                  <a:pt x="1675510" y="0"/>
                </a:lnTo>
              </a:path>
            </a:pathLst>
          </a:custGeom>
          <a:ln w="76200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8179054" y="700087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27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24500" y="1352550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5">
                <a:moveTo>
                  <a:pt x="0" y="0"/>
                </a:moveTo>
                <a:lnTo>
                  <a:pt x="1675510" y="0"/>
                </a:lnTo>
              </a:path>
            </a:pathLst>
          </a:custGeom>
          <a:ln w="76200">
            <a:solidFill>
              <a:srgbClr val="1154C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5474970" y="1387157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34783" y="1387157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20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04900" y="2524125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4">
                <a:moveTo>
                  <a:pt x="0" y="0"/>
                </a:moveTo>
                <a:lnTo>
                  <a:pt x="1675511" y="0"/>
                </a:lnTo>
              </a:path>
            </a:pathLst>
          </a:custGeom>
          <a:ln w="76200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1609725" y="2876550"/>
            <a:ext cx="633095" cy="0"/>
          </a:xfrm>
          <a:custGeom>
            <a:avLst/>
            <a:gdLst/>
            <a:ahLst/>
            <a:cxnLst/>
            <a:rect l="l" t="t" r="r" b="b"/>
            <a:pathLst>
              <a:path w="633094">
                <a:moveTo>
                  <a:pt x="0" y="0"/>
                </a:moveTo>
                <a:lnTo>
                  <a:pt x="632713" y="0"/>
                </a:lnTo>
              </a:path>
            </a:pathLst>
          </a:custGeom>
          <a:ln w="76200">
            <a:solidFill>
              <a:srgbClr val="1154C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1050925" y="2226881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10866" y="2226881"/>
            <a:ext cx="21653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20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08378" y="2914078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13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60904" y="2914078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16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10300" y="2981325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5">
                <a:moveTo>
                  <a:pt x="0" y="0"/>
                </a:moveTo>
                <a:lnTo>
                  <a:pt x="1675510" y="0"/>
                </a:lnTo>
              </a:path>
            </a:pathLst>
          </a:custGeom>
          <a:ln w="76200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6715125" y="2495550"/>
            <a:ext cx="633095" cy="0"/>
          </a:xfrm>
          <a:custGeom>
            <a:avLst/>
            <a:gdLst/>
            <a:ahLst/>
            <a:cxnLst/>
            <a:rect l="l" t="t" r="r" b="b"/>
            <a:pathLst>
              <a:path w="633095">
                <a:moveTo>
                  <a:pt x="0" y="0"/>
                </a:moveTo>
                <a:lnTo>
                  <a:pt x="632714" y="0"/>
                </a:lnTo>
              </a:path>
            </a:pathLst>
          </a:custGeom>
          <a:ln w="76200">
            <a:solidFill>
              <a:srgbClr val="1154C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6161404" y="2990278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21218" y="2990278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20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19240" y="2226881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13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71766" y="2226881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16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65375" y="3408362"/>
            <a:ext cx="4459605" cy="17081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Consolas"/>
                <a:cs typeface="Consolas"/>
              </a:rPr>
              <a:t>I =</a:t>
            </a:r>
            <a:r>
              <a:rPr sz="1400" spc="-7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min(a.end, b.end)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-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max(a.start,</a:t>
            </a:r>
            <a:r>
              <a:rPr sz="1400" spc="-7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b.start)</a:t>
            </a:r>
            <a:endParaRPr sz="1400" dirty="0">
              <a:latin typeface="Consolas"/>
              <a:cs typeface="Consolas"/>
            </a:endParaRPr>
          </a:p>
          <a:p>
            <a:pPr marR="27305" algn="ctr">
              <a:lnSpc>
                <a:spcPts val="1664"/>
              </a:lnSpc>
              <a:spcBef>
                <a:spcPts val="1320"/>
              </a:spcBef>
            </a:pPr>
            <a:r>
              <a:rPr sz="1400" dirty="0">
                <a:latin typeface="Consolas"/>
                <a:cs typeface="Consolas"/>
              </a:rPr>
              <a:t>if</a:t>
            </a:r>
            <a:r>
              <a:rPr sz="1400" spc="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</a:t>
            </a:r>
            <a:r>
              <a:rPr sz="1400" spc="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&gt;</a:t>
            </a:r>
            <a:r>
              <a:rPr sz="1400" spc="-4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0,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intersection,</a:t>
            </a:r>
            <a:endParaRPr sz="1400" dirty="0">
              <a:latin typeface="Consolas"/>
              <a:cs typeface="Consolas"/>
            </a:endParaRPr>
          </a:p>
          <a:p>
            <a:pPr marR="24765" algn="ctr">
              <a:lnSpc>
                <a:spcPts val="1664"/>
              </a:lnSpc>
            </a:pPr>
            <a:r>
              <a:rPr sz="1400" dirty="0">
                <a:latin typeface="Consolas"/>
                <a:cs typeface="Consolas"/>
              </a:rPr>
              <a:t>if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&lt;=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0,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distance</a:t>
            </a:r>
            <a:r>
              <a:rPr sz="1400" spc="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between</a:t>
            </a:r>
            <a:r>
              <a:rPr sz="1400" spc="-6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intervals</a:t>
            </a:r>
            <a:endParaRPr sz="1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400" dirty="0">
              <a:latin typeface="Consolas"/>
              <a:cs typeface="Consolas"/>
            </a:endParaRPr>
          </a:p>
          <a:p>
            <a:pPr marR="32384" algn="ctr">
              <a:lnSpc>
                <a:spcPts val="1664"/>
              </a:lnSpc>
            </a:pPr>
            <a:r>
              <a:rPr sz="1400" dirty="0">
                <a:latin typeface="Consolas"/>
                <a:cs typeface="Consolas"/>
              </a:rPr>
              <a:t>=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min(20,</a:t>
            </a:r>
            <a:r>
              <a:rPr sz="1400" spc="-6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27)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-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max(10,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spc="-25" dirty="0">
                <a:latin typeface="Consolas"/>
                <a:cs typeface="Consolas"/>
              </a:rPr>
              <a:t>17)</a:t>
            </a:r>
            <a:endParaRPr sz="1400" dirty="0">
              <a:latin typeface="Consolas"/>
              <a:cs typeface="Consolas"/>
            </a:endParaRPr>
          </a:p>
          <a:p>
            <a:pPr marR="25400" algn="ctr">
              <a:lnSpc>
                <a:spcPts val="1664"/>
              </a:lnSpc>
            </a:pPr>
            <a:r>
              <a:rPr sz="1400" dirty="0">
                <a:latin typeface="Consolas"/>
                <a:cs typeface="Consolas"/>
              </a:rPr>
              <a:t>=</a:t>
            </a:r>
            <a:r>
              <a:rPr sz="1400" spc="20" dirty="0">
                <a:latin typeface="Consolas"/>
                <a:cs typeface="Consolas"/>
              </a:rPr>
              <a:t> </a:t>
            </a:r>
            <a:r>
              <a:rPr sz="1400" spc="-20" dirty="0">
                <a:latin typeface="Consolas"/>
                <a:cs typeface="Consolas"/>
              </a:rPr>
              <a:t>20-</a:t>
            </a:r>
            <a:r>
              <a:rPr sz="1400" dirty="0">
                <a:latin typeface="Consolas"/>
                <a:cs typeface="Consolas"/>
              </a:rPr>
              <a:t>17</a:t>
            </a:r>
            <a:r>
              <a:rPr sz="1400" spc="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=</a:t>
            </a:r>
            <a:r>
              <a:rPr sz="1400" spc="20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3</a:t>
            </a:r>
            <a:endParaRPr lang="en-US" sz="1400" spc="-50" dirty="0">
              <a:latin typeface="Consolas"/>
              <a:cs typeface="Consolas"/>
            </a:endParaRPr>
          </a:p>
          <a:p>
            <a:pPr marR="25400" algn="ctr">
              <a:lnSpc>
                <a:spcPts val="1664"/>
              </a:lnSpc>
            </a:pPr>
            <a:r>
              <a:rPr lang="en-US" sz="1400" spc="-50" dirty="0">
                <a:latin typeface="Consolas"/>
                <a:cs typeface="Consolas"/>
              </a:rPr>
              <a:t>Positive! Intersection! 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85925" y="1352550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4">
                <a:moveTo>
                  <a:pt x="0" y="0"/>
                </a:moveTo>
                <a:lnTo>
                  <a:pt x="1675511" y="0"/>
                </a:lnTo>
              </a:path>
            </a:pathLst>
          </a:custGeom>
          <a:ln w="76200">
            <a:solidFill>
              <a:srgbClr val="1154C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1661160" y="1387157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17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21101" y="1387157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27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EB4D5106-0F35-B234-1336-6958068C1040}"/>
              </a:ext>
            </a:extLst>
          </p:cNvPr>
          <p:cNvSpPr txBox="1"/>
          <p:nvPr/>
        </p:nvSpPr>
        <p:spPr>
          <a:xfrm flipH="1">
            <a:off x="544831" y="742950"/>
            <a:ext cx="217169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</a:t>
            </a:r>
            <a:r>
              <a:rPr lang="en-US" sz="1400" spc="-25" dirty="0">
                <a:latin typeface="Consolas"/>
                <a:cs typeface="Consolas"/>
              </a:rPr>
              <a:t>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8D34C8-047F-1541-69F3-0403553689E4}"/>
              </a:ext>
            </a:extLst>
          </p:cNvPr>
          <p:cNvSpPr txBox="1"/>
          <p:nvPr/>
        </p:nvSpPr>
        <p:spPr>
          <a:xfrm flipH="1">
            <a:off x="0" y="1118658"/>
            <a:ext cx="789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 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E678E6-2222-3F5D-1E51-4BAD8E85F0FD}"/>
              </a:ext>
            </a:extLst>
          </p:cNvPr>
          <p:cNvSpPr txBox="1"/>
          <p:nvPr/>
        </p:nvSpPr>
        <p:spPr>
          <a:xfrm flipH="1">
            <a:off x="1029198" y="1494912"/>
            <a:ext cx="826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 b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42" y="156844"/>
            <a:ext cx="8387716" cy="4629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dirty="0"/>
              <a:t>Do</a:t>
            </a:r>
            <a:r>
              <a:rPr lang="en-US" spc="-40" dirty="0"/>
              <a:t> </a:t>
            </a:r>
            <a:r>
              <a:rPr lang="en-US" dirty="0"/>
              <a:t>two</a:t>
            </a:r>
            <a:r>
              <a:rPr lang="en-US" spc="-40" dirty="0"/>
              <a:t> </a:t>
            </a:r>
            <a:r>
              <a:rPr lang="en-US" dirty="0"/>
              <a:t>intervals</a:t>
            </a:r>
            <a:r>
              <a:rPr lang="en-US" spc="-25" dirty="0"/>
              <a:t> </a:t>
            </a:r>
            <a:r>
              <a:rPr lang="en-US" dirty="0"/>
              <a:t>intersect</a:t>
            </a:r>
            <a:r>
              <a:rPr lang="en-US" spc="-50" dirty="0"/>
              <a:t> </a:t>
            </a:r>
            <a:r>
              <a:rPr lang="en-US" dirty="0"/>
              <a:t>(overlap)?</a:t>
            </a:r>
            <a:r>
              <a:rPr lang="en-US" spc="-35" dirty="0"/>
              <a:t> </a:t>
            </a:r>
            <a:r>
              <a:rPr lang="en-US" dirty="0"/>
              <a:t>A</a:t>
            </a:r>
            <a:r>
              <a:rPr lang="en-US" spc="5" dirty="0"/>
              <a:t> </a:t>
            </a:r>
            <a:r>
              <a:rPr lang="en-US" spc="-10" dirty="0"/>
              <a:t>simpler way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571500" y="1000125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4">
                <a:moveTo>
                  <a:pt x="0" y="0"/>
                </a:moveTo>
                <a:lnTo>
                  <a:pt x="1675511" y="0"/>
                </a:lnTo>
              </a:path>
            </a:pathLst>
          </a:custGeom>
          <a:ln w="76200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2867025" y="971550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4">
                <a:moveTo>
                  <a:pt x="0" y="0"/>
                </a:moveTo>
                <a:lnTo>
                  <a:pt x="1675511" y="0"/>
                </a:lnTo>
              </a:path>
            </a:pathLst>
          </a:custGeom>
          <a:ln w="76200">
            <a:solidFill>
              <a:srgbClr val="1154C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6667500" y="1000125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5">
                <a:moveTo>
                  <a:pt x="0" y="0"/>
                </a:moveTo>
                <a:lnTo>
                  <a:pt x="1675510" y="0"/>
                </a:lnTo>
              </a:path>
            </a:pathLst>
          </a:custGeom>
          <a:ln w="76200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076704" y="612203"/>
            <a:ext cx="4758690" cy="63627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  <a:tabLst>
                <a:tab pos="4554855" algn="l"/>
              </a:tabLst>
            </a:pPr>
            <a:r>
              <a:rPr sz="1400" spc="-25" dirty="0">
                <a:latin typeface="Consolas"/>
                <a:cs typeface="Consolas"/>
              </a:rPr>
              <a:t>20</a:t>
            </a:r>
            <a:r>
              <a:rPr sz="1400" dirty="0">
                <a:latin typeface="Consolas"/>
                <a:cs typeface="Consolas"/>
              </a:rPr>
              <a:t>	</a:t>
            </a:r>
            <a:r>
              <a:rPr sz="1400" spc="-25" dirty="0">
                <a:latin typeface="Consolas"/>
                <a:cs typeface="Consolas"/>
              </a:rPr>
              <a:t>17</a:t>
            </a:r>
            <a:endParaRPr sz="1400" dirty="0">
              <a:latin typeface="Consolas"/>
              <a:cs typeface="Consolas"/>
            </a:endParaRPr>
          </a:p>
          <a:p>
            <a:pPr marL="782320">
              <a:lnSpc>
                <a:spcPct val="100000"/>
              </a:lnSpc>
              <a:spcBef>
                <a:spcPts val="725"/>
              </a:spcBef>
              <a:tabLst>
                <a:tab pos="2342515" algn="l"/>
              </a:tabLst>
            </a:pPr>
            <a:r>
              <a:rPr sz="1400" spc="-25" dirty="0">
                <a:latin typeface="Consolas"/>
                <a:cs typeface="Consolas"/>
              </a:rPr>
              <a:t>25</a:t>
            </a:r>
            <a:r>
              <a:rPr sz="1400" dirty="0">
                <a:latin typeface="Consolas"/>
                <a:cs typeface="Consolas"/>
              </a:rPr>
              <a:t>	</a:t>
            </a:r>
            <a:r>
              <a:rPr sz="1400" spc="-25" dirty="0">
                <a:latin typeface="Consolas"/>
                <a:cs typeface="Consolas"/>
              </a:rPr>
              <a:t>27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79054" y="700087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27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24500" y="1352550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5">
                <a:moveTo>
                  <a:pt x="0" y="0"/>
                </a:moveTo>
                <a:lnTo>
                  <a:pt x="1675510" y="0"/>
                </a:lnTo>
              </a:path>
            </a:pathLst>
          </a:custGeom>
          <a:ln w="76200">
            <a:solidFill>
              <a:srgbClr val="1154C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5474970" y="1387157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34783" y="1387157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20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04900" y="2524125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4">
                <a:moveTo>
                  <a:pt x="0" y="0"/>
                </a:moveTo>
                <a:lnTo>
                  <a:pt x="1675511" y="0"/>
                </a:lnTo>
              </a:path>
            </a:pathLst>
          </a:custGeom>
          <a:ln w="76200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1609725" y="2876550"/>
            <a:ext cx="633095" cy="0"/>
          </a:xfrm>
          <a:custGeom>
            <a:avLst/>
            <a:gdLst/>
            <a:ahLst/>
            <a:cxnLst/>
            <a:rect l="l" t="t" r="r" b="b"/>
            <a:pathLst>
              <a:path w="633094">
                <a:moveTo>
                  <a:pt x="0" y="0"/>
                </a:moveTo>
                <a:lnTo>
                  <a:pt x="632713" y="0"/>
                </a:lnTo>
              </a:path>
            </a:pathLst>
          </a:custGeom>
          <a:ln w="76200">
            <a:solidFill>
              <a:srgbClr val="1154C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 txBox="1"/>
          <p:nvPr/>
        </p:nvSpPr>
        <p:spPr>
          <a:xfrm>
            <a:off x="1050925" y="2226881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10866" y="2226881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20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08378" y="2914078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13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60904" y="2914078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16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210300" y="2981325"/>
            <a:ext cx="1675764" cy="0"/>
          </a:xfrm>
          <a:custGeom>
            <a:avLst/>
            <a:gdLst/>
            <a:ahLst/>
            <a:cxnLst/>
            <a:rect l="l" t="t" r="r" b="b"/>
            <a:pathLst>
              <a:path w="1675765">
                <a:moveTo>
                  <a:pt x="0" y="0"/>
                </a:moveTo>
                <a:lnTo>
                  <a:pt x="1675510" y="0"/>
                </a:lnTo>
              </a:path>
            </a:pathLst>
          </a:custGeom>
          <a:ln w="76200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6715125" y="2495550"/>
            <a:ext cx="633095" cy="0"/>
          </a:xfrm>
          <a:custGeom>
            <a:avLst/>
            <a:gdLst/>
            <a:ahLst/>
            <a:cxnLst/>
            <a:rect l="l" t="t" r="r" b="b"/>
            <a:pathLst>
              <a:path w="633095">
                <a:moveTo>
                  <a:pt x="0" y="0"/>
                </a:moveTo>
                <a:lnTo>
                  <a:pt x="632714" y="0"/>
                </a:lnTo>
              </a:path>
            </a:pathLst>
          </a:custGeom>
          <a:ln w="76200">
            <a:solidFill>
              <a:srgbClr val="1154C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6161404" y="2990278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21218" y="2990278"/>
            <a:ext cx="2171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20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19240" y="2226881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13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71766" y="2226881"/>
            <a:ext cx="216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16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65375" y="3408362"/>
            <a:ext cx="4459605" cy="17081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Consolas"/>
                <a:cs typeface="Consolas"/>
              </a:rPr>
              <a:t>I =</a:t>
            </a:r>
            <a:r>
              <a:rPr sz="1400" spc="-7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min(a.end, b.end)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-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max(a.start,</a:t>
            </a:r>
            <a:r>
              <a:rPr sz="1400" spc="-7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b.start)</a:t>
            </a:r>
            <a:endParaRPr sz="1400" dirty="0">
              <a:latin typeface="Consolas"/>
              <a:cs typeface="Consolas"/>
            </a:endParaRPr>
          </a:p>
          <a:p>
            <a:pPr marR="27305" algn="ctr">
              <a:lnSpc>
                <a:spcPts val="1664"/>
              </a:lnSpc>
              <a:spcBef>
                <a:spcPts val="1320"/>
              </a:spcBef>
            </a:pPr>
            <a:r>
              <a:rPr sz="1400" dirty="0">
                <a:latin typeface="Consolas"/>
                <a:cs typeface="Consolas"/>
              </a:rPr>
              <a:t>if</a:t>
            </a:r>
            <a:r>
              <a:rPr sz="1400" spc="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</a:t>
            </a:r>
            <a:r>
              <a:rPr sz="1400" spc="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&gt;</a:t>
            </a:r>
            <a:r>
              <a:rPr sz="1400" spc="-4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0,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intersection,</a:t>
            </a:r>
            <a:endParaRPr sz="1400" dirty="0">
              <a:latin typeface="Consolas"/>
              <a:cs typeface="Consolas"/>
            </a:endParaRPr>
          </a:p>
          <a:p>
            <a:pPr marR="24765" algn="ctr">
              <a:lnSpc>
                <a:spcPts val="1664"/>
              </a:lnSpc>
            </a:pPr>
            <a:r>
              <a:rPr sz="1400" dirty="0">
                <a:latin typeface="Consolas"/>
                <a:cs typeface="Consolas"/>
              </a:rPr>
              <a:t>if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&lt;=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0,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distance</a:t>
            </a:r>
            <a:r>
              <a:rPr sz="1400" spc="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between</a:t>
            </a:r>
            <a:r>
              <a:rPr sz="1400" spc="-6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intervals</a:t>
            </a:r>
            <a:endParaRPr sz="1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400" dirty="0">
              <a:latin typeface="Consolas"/>
              <a:cs typeface="Consolas"/>
            </a:endParaRPr>
          </a:p>
          <a:p>
            <a:pPr marR="32384" algn="ctr">
              <a:lnSpc>
                <a:spcPts val="1664"/>
              </a:lnSpc>
            </a:pPr>
            <a:r>
              <a:rPr sz="1400" dirty="0">
                <a:latin typeface="Consolas"/>
                <a:cs typeface="Consolas"/>
              </a:rPr>
              <a:t>=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min(20,</a:t>
            </a:r>
            <a:r>
              <a:rPr sz="1400" spc="-65" dirty="0">
                <a:latin typeface="Consolas"/>
                <a:cs typeface="Consolas"/>
              </a:rPr>
              <a:t> </a:t>
            </a:r>
            <a:r>
              <a:rPr lang="en-US" sz="1400" dirty="0">
                <a:latin typeface="Consolas"/>
                <a:cs typeface="Consolas"/>
              </a:rPr>
              <a:t>27</a:t>
            </a:r>
            <a:r>
              <a:rPr sz="1400" dirty="0">
                <a:latin typeface="Consolas"/>
                <a:cs typeface="Consolas"/>
              </a:rPr>
              <a:t>)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-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max(10,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lang="en-US" sz="1400" spc="-25" dirty="0">
                <a:latin typeface="Consolas"/>
                <a:cs typeface="Consolas"/>
              </a:rPr>
              <a:t>25</a:t>
            </a:r>
            <a:r>
              <a:rPr sz="1400" spc="-25" dirty="0">
                <a:latin typeface="Consolas"/>
                <a:cs typeface="Consolas"/>
              </a:rPr>
              <a:t>)</a:t>
            </a:r>
            <a:endParaRPr sz="1400" dirty="0">
              <a:latin typeface="Consolas"/>
              <a:cs typeface="Consolas"/>
            </a:endParaRPr>
          </a:p>
          <a:p>
            <a:pPr marR="25400" algn="ctr">
              <a:lnSpc>
                <a:spcPts val="1664"/>
              </a:lnSpc>
            </a:pPr>
            <a:r>
              <a:rPr sz="1400" dirty="0">
                <a:latin typeface="Consolas"/>
                <a:cs typeface="Consolas"/>
              </a:rPr>
              <a:t>=</a:t>
            </a:r>
            <a:r>
              <a:rPr sz="1400" spc="20" dirty="0">
                <a:latin typeface="Consolas"/>
                <a:cs typeface="Consolas"/>
              </a:rPr>
              <a:t> </a:t>
            </a:r>
            <a:r>
              <a:rPr sz="1400" spc="-20" dirty="0">
                <a:latin typeface="Consolas"/>
                <a:cs typeface="Consolas"/>
              </a:rPr>
              <a:t>20-</a:t>
            </a:r>
            <a:r>
              <a:rPr lang="en-US" sz="1400" dirty="0">
                <a:latin typeface="Consolas"/>
                <a:cs typeface="Consolas"/>
              </a:rPr>
              <a:t>25</a:t>
            </a:r>
            <a:r>
              <a:rPr sz="1400" spc="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=</a:t>
            </a:r>
            <a:r>
              <a:rPr sz="1400" spc="20" dirty="0">
                <a:latin typeface="Consolas"/>
                <a:cs typeface="Consolas"/>
              </a:rPr>
              <a:t> </a:t>
            </a:r>
            <a:r>
              <a:rPr lang="en-US" sz="1400" spc="-50" dirty="0">
                <a:latin typeface="Consolas"/>
                <a:cs typeface="Consolas"/>
              </a:rPr>
              <a:t>-5 </a:t>
            </a:r>
          </a:p>
          <a:p>
            <a:pPr marR="25400" algn="ctr">
              <a:lnSpc>
                <a:spcPts val="1664"/>
              </a:lnSpc>
            </a:pPr>
            <a:r>
              <a:rPr lang="en-US" sz="1400" spc="-50" dirty="0">
                <a:latin typeface="Consolas"/>
                <a:cs typeface="Consolas"/>
              </a:rPr>
              <a:t>Negative – No intersection! 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1A931CD3-E7C3-DA32-2017-D9C5A588797F}"/>
              </a:ext>
            </a:extLst>
          </p:cNvPr>
          <p:cNvSpPr txBox="1"/>
          <p:nvPr/>
        </p:nvSpPr>
        <p:spPr>
          <a:xfrm flipH="1">
            <a:off x="544831" y="742950"/>
            <a:ext cx="217169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Consolas"/>
                <a:cs typeface="Consolas"/>
              </a:rPr>
              <a:t>1</a:t>
            </a:r>
            <a:r>
              <a:rPr lang="en-US" sz="1400" spc="-25" dirty="0">
                <a:latin typeface="Consolas"/>
                <a:cs typeface="Consolas"/>
              </a:rPr>
              <a:t>0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93AB36-8088-096A-0FDC-880D6B6F4499}"/>
              </a:ext>
            </a:extLst>
          </p:cNvPr>
          <p:cNvSpPr txBox="1"/>
          <p:nvPr/>
        </p:nvSpPr>
        <p:spPr>
          <a:xfrm flipH="1">
            <a:off x="49912" y="1134373"/>
            <a:ext cx="789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 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82AFD4-F726-6C8A-3285-7F0A93F1C6AD}"/>
              </a:ext>
            </a:extLst>
          </p:cNvPr>
          <p:cNvSpPr txBox="1"/>
          <p:nvPr/>
        </p:nvSpPr>
        <p:spPr>
          <a:xfrm flipH="1">
            <a:off x="2269489" y="1130221"/>
            <a:ext cx="826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 b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4230" y="225424"/>
            <a:ext cx="7515859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b="1" dirty="0">
                <a:latin typeface="Calibri"/>
                <a:cs typeface="Calibri"/>
              </a:rPr>
              <a:t>Manipulation</a:t>
            </a:r>
            <a:r>
              <a:rPr sz="3450" b="1" spc="15" dirty="0">
                <a:latin typeface="Calibri"/>
                <a:cs typeface="Calibri"/>
              </a:rPr>
              <a:t> </a:t>
            </a:r>
            <a:r>
              <a:rPr sz="3450" b="1" dirty="0">
                <a:latin typeface="Calibri"/>
                <a:cs typeface="Calibri"/>
              </a:rPr>
              <a:t>of</a:t>
            </a:r>
            <a:r>
              <a:rPr sz="3450" b="1" spc="25" dirty="0">
                <a:latin typeface="Calibri"/>
                <a:cs typeface="Calibri"/>
              </a:rPr>
              <a:t> </a:t>
            </a:r>
            <a:r>
              <a:rPr sz="3450" b="1" dirty="0">
                <a:latin typeface="Calibri"/>
                <a:cs typeface="Calibri"/>
              </a:rPr>
              <a:t>SAM/BAM</a:t>
            </a:r>
            <a:r>
              <a:rPr sz="3450" b="1" spc="55" dirty="0">
                <a:latin typeface="Calibri"/>
                <a:cs typeface="Calibri"/>
              </a:rPr>
              <a:t> </a:t>
            </a:r>
            <a:r>
              <a:rPr sz="3450" b="1" dirty="0">
                <a:latin typeface="Calibri"/>
                <a:cs typeface="Calibri"/>
              </a:rPr>
              <a:t>and</a:t>
            </a:r>
            <a:r>
              <a:rPr sz="3450" b="1" spc="10" dirty="0">
                <a:latin typeface="Calibri"/>
                <a:cs typeface="Calibri"/>
              </a:rPr>
              <a:t> </a:t>
            </a:r>
            <a:r>
              <a:rPr sz="3450" b="1" dirty="0">
                <a:latin typeface="Calibri"/>
                <a:cs typeface="Calibri"/>
              </a:rPr>
              <a:t>BED</a:t>
            </a:r>
            <a:r>
              <a:rPr sz="3450" b="1" spc="-15" dirty="0">
                <a:latin typeface="Calibri"/>
                <a:cs typeface="Calibri"/>
              </a:rPr>
              <a:t> </a:t>
            </a:r>
            <a:r>
              <a:rPr sz="3450" b="1" spc="-10" dirty="0">
                <a:latin typeface="Calibri"/>
                <a:cs typeface="Calibri"/>
              </a:rPr>
              <a:t>files</a:t>
            </a:r>
            <a:endParaRPr sz="34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5122" y="1048130"/>
            <a:ext cx="7719695" cy="3687933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227965" marR="5080" indent="-215900">
              <a:lnSpc>
                <a:spcPct val="69800"/>
              </a:lnSpc>
              <a:spcBef>
                <a:spcPts val="1070"/>
              </a:spcBef>
              <a:buFont typeface="Arial MT"/>
              <a:buChar char="•"/>
              <a:tabLst>
                <a:tab pos="227965" algn="l"/>
              </a:tabLst>
            </a:pPr>
            <a:r>
              <a:rPr sz="2600" dirty="0">
                <a:latin typeface="Calibri"/>
                <a:cs typeface="Calibri"/>
              </a:rPr>
              <a:t>Several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ubiquitously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analysis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manipulate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these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files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2600" dirty="0">
              <a:latin typeface="Calibri"/>
              <a:cs typeface="Calibri"/>
            </a:endParaRPr>
          </a:p>
          <a:p>
            <a:pPr marL="227965" indent="-215265">
              <a:lnSpc>
                <a:spcPts val="2985"/>
              </a:lnSpc>
              <a:buFont typeface="Arial MT"/>
              <a:buChar char="•"/>
              <a:tabLst>
                <a:tab pos="227965" algn="l"/>
              </a:tabLst>
            </a:pPr>
            <a:r>
              <a:rPr sz="2600" dirty="0">
                <a:latin typeface="Calibri"/>
                <a:cs typeface="Calibri"/>
              </a:rPr>
              <a:t>SAM/BAM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files</a:t>
            </a:r>
            <a:endParaRPr sz="2600" dirty="0">
              <a:latin typeface="Calibri"/>
              <a:cs typeface="Calibri"/>
            </a:endParaRPr>
          </a:p>
          <a:p>
            <a:pPr marL="685165" lvl="1" indent="-217170">
              <a:lnSpc>
                <a:spcPts val="2360"/>
              </a:lnSpc>
              <a:buFont typeface="Arial MT"/>
              <a:buChar char="•"/>
              <a:tabLst>
                <a:tab pos="685165" algn="l"/>
              </a:tabLst>
            </a:pPr>
            <a:r>
              <a:rPr sz="2150" spc="-10" dirty="0">
                <a:latin typeface="Calibri"/>
                <a:cs typeface="Calibri"/>
              </a:rPr>
              <a:t>samtools</a:t>
            </a:r>
            <a:endParaRPr sz="2150" dirty="0">
              <a:latin typeface="Calibri"/>
              <a:cs typeface="Calibri"/>
            </a:endParaRPr>
          </a:p>
          <a:p>
            <a:pPr marL="685165" lvl="1" indent="-217170">
              <a:lnSpc>
                <a:spcPts val="2365"/>
              </a:lnSpc>
              <a:buFont typeface="Arial MT"/>
              <a:buChar char="•"/>
              <a:tabLst>
                <a:tab pos="685165" algn="l"/>
              </a:tabLst>
            </a:pPr>
            <a:r>
              <a:rPr sz="2150" spc="-10" dirty="0">
                <a:latin typeface="Calibri"/>
                <a:cs typeface="Calibri"/>
              </a:rPr>
              <a:t>bamtools</a:t>
            </a:r>
            <a:endParaRPr sz="2150" dirty="0">
              <a:latin typeface="Calibri"/>
              <a:cs typeface="Calibri"/>
            </a:endParaRPr>
          </a:p>
          <a:p>
            <a:pPr marL="685800" lvl="1" indent="-217804">
              <a:lnSpc>
                <a:spcPts val="2455"/>
              </a:lnSpc>
              <a:buFont typeface="Arial MT"/>
              <a:buChar char="•"/>
              <a:tabLst>
                <a:tab pos="685800" algn="l"/>
              </a:tabLst>
            </a:pPr>
            <a:r>
              <a:rPr sz="2150" spc="-10" dirty="0">
                <a:latin typeface="Calibri"/>
                <a:cs typeface="Calibri"/>
              </a:rPr>
              <a:t>Picard</a:t>
            </a:r>
            <a:endParaRPr sz="2150" dirty="0">
              <a:latin typeface="Calibri"/>
              <a:cs typeface="Calibri"/>
            </a:endParaRPr>
          </a:p>
          <a:p>
            <a:pPr marL="227965" indent="-215265">
              <a:lnSpc>
                <a:spcPts val="2985"/>
              </a:lnSpc>
              <a:spcBef>
                <a:spcPts val="1930"/>
              </a:spcBef>
              <a:buFont typeface="Arial MT"/>
              <a:buChar char="•"/>
              <a:tabLst>
                <a:tab pos="227965" algn="l"/>
              </a:tabLst>
            </a:pPr>
            <a:r>
              <a:rPr sz="2600" dirty="0">
                <a:latin typeface="Calibri"/>
                <a:cs typeface="Calibri"/>
              </a:rPr>
              <a:t>BED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files</a:t>
            </a:r>
            <a:endParaRPr sz="2600" dirty="0">
              <a:latin typeface="Calibri"/>
              <a:cs typeface="Calibri"/>
            </a:endParaRPr>
          </a:p>
          <a:p>
            <a:pPr marL="685165" lvl="1" indent="-217170">
              <a:lnSpc>
                <a:spcPts val="2360"/>
              </a:lnSpc>
              <a:buFont typeface="Arial MT"/>
              <a:buChar char="•"/>
              <a:tabLst>
                <a:tab pos="685165" algn="l"/>
              </a:tabLst>
            </a:pPr>
            <a:r>
              <a:rPr sz="2150" spc="-10" dirty="0">
                <a:latin typeface="Calibri"/>
                <a:cs typeface="Calibri"/>
              </a:rPr>
              <a:t>bedtools</a:t>
            </a:r>
            <a:endParaRPr sz="2150" dirty="0">
              <a:latin typeface="Calibri"/>
              <a:cs typeface="Calibri"/>
            </a:endParaRPr>
          </a:p>
          <a:p>
            <a:pPr marL="685165" lvl="1" indent="-217170">
              <a:lnSpc>
                <a:spcPts val="2490"/>
              </a:lnSpc>
              <a:buFont typeface="Arial MT"/>
              <a:buChar char="•"/>
              <a:tabLst>
                <a:tab pos="685165" algn="l"/>
              </a:tabLst>
            </a:pPr>
            <a:r>
              <a:rPr sz="2150" spc="-10" dirty="0">
                <a:latin typeface="Calibri"/>
                <a:cs typeface="Calibri"/>
              </a:rPr>
              <a:t>bedops</a:t>
            </a:r>
            <a:endParaRPr sz="215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2133600"/>
            <a:ext cx="138112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20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252" y="194246"/>
            <a:ext cx="8659494" cy="4629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Bedtools:</a:t>
            </a:r>
            <a:r>
              <a:rPr spc="-5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swiss</a:t>
            </a:r>
            <a:r>
              <a:rPr spc="-25" dirty="0"/>
              <a:t> </a:t>
            </a:r>
            <a:r>
              <a:rPr dirty="0"/>
              <a:t>army</a:t>
            </a:r>
            <a:r>
              <a:rPr spc="-30" dirty="0"/>
              <a:t> </a:t>
            </a:r>
            <a:r>
              <a:rPr dirty="0"/>
              <a:t>knife</a:t>
            </a:r>
            <a:r>
              <a:rPr spc="-40" dirty="0"/>
              <a:t> </a:t>
            </a:r>
            <a:r>
              <a:rPr dirty="0"/>
              <a:t>for</a:t>
            </a:r>
            <a:r>
              <a:rPr spc="5" dirty="0"/>
              <a:t> </a:t>
            </a:r>
            <a:r>
              <a:rPr dirty="0"/>
              <a:t>genome</a:t>
            </a:r>
            <a:r>
              <a:rPr spc="-4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4942522"/>
            <a:ext cx="219456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alibri"/>
                <a:cs typeface="Calibri"/>
                <a:hlinkClick r:id="rId2"/>
              </a:rPr>
              <a:t>http://bedtools.readthedocs.io/en/latest/</a:t>
            </a:r>
            <a:endParaRPr sz="95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863" y="1816068"/>
            <a:ext cx="1304925" cy="18764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17539" y="1069975"/>
            <a:ext cx="3200400" cy="37147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34000" y="3692493"/>
            <a:ext cx="3295650" cy="945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spc="-10" dirty="0">
                <a:latin typeface="Arial"/>
                <a:cs typeface="Arial"/>
              </a:rPr>
              <a:t>Papers:</a:t>
            </a:r>
            <a:endParaRPr sz="1800" dirty="0">
              <a:latin typeface="Arial"/>
              <a:cs typeface="Arial"/>
            </a:endParaRPr>
          </a:p>
          <a:p>
            <a:pPr marL="196850" marR="5080" indent="-184785">
              <a:lnSpc>
                <a:spcPct val="105200"/>
              </a:lnSpc>
              <a:spcBef>
                <a:spcPts val="1914"/>
              </a:spcBef>
            </a:pPr>
            <a:r>
              <a:rPr sz="1250" spc="-10" dirty="0">
                <a:latin typeface="Arial MT"/>
                <a:cs typeface="Arial MT"/>
              </a:rPr>
              <a:t>https://doi.org/10.1093/bioinformatics/btq033</a:t>
            </a:r>
            <a:r>
              <a:rPr sz="1250" spc="50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DOI:</a:t>
            </a:r>
            <a:r>
              <a:rPr sz="1250" spc="120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10.1002/0471250953.bi1112s47</a:t>
            </a:r>
            <a:endParaRPr sz="12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8490" y="4784725"/>
            <a:ext cx="177228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spc="-10" dirty="0">
                <a:latin typeface="Arial"/>
                <a:cs typeface="Arial"/>
              </a:rPr>
              <a:t>Documentation: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097FEE-3B01-FFD6-9DF6-A2336673B1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939" y="870553"/>
            <a:ext cx="3464062" cy="28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263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42" y="156844"/>
            <a:ext cx="7455534" cy="91122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254"/>
              </a:spcBef>
            </a:pPr>
            <a:r>
              <a:rPr dirty="0"/>
              <a:t>Supports</a:t>
            </a:r>
            <a:r>
              <a:rPr spc="-45" dirty="0"/>
              <a:t> </a:t>
            </a:r>
            <a:r>
              <a:rPr dirty="0"/>
              <a:t>most interval</a:t>
            </a:r>
            <a:r>
              <a:rPr spc="-50" dirty="0"/>
              <a:t> </a:t>
            </a:r>
            <a:r>
              <a:rPr dirty="0"/>
              <a:t>formats</a:t>
            </a:r>
            <a:r>
              <a:rPr spc="-4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handles</a:t>
            </a:r>
            <a:r>
              <a:rPr spc="-45" dirty="0"/>
              <a:t> </a:t>
            </a:r>
            <a:r>
              <a:rPr spc="-10" dirty="0"/>
              <a:t>diff. </a:t>
            </a:r>
            <a:r>
              <a:rPr dirty="0"/>
              <a:t>coordinate</a:t>
            </a:r>
            <a:r>
              <a:rPr spc="-6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4942522"/>
            <a:ext cx="219456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alibri"/>
                <a:cs typeface="Calibri"/>
                <a:hlinkClick r:id="rId2"/>
              </a:rPr>
              <a:t>http://bedtools.readthedocs.io/en/latest/</a:t>
            </a:r>
            <a:endParaRPr sz="95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4650" y="2381250"/>
            <a:ext cx="914400" cy="131445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76056" y="1343025"/>
            <a:ext cx="772160" cy="957580"/>
            <a:chOff x="276056" y="1343025"/>
            <a:chExt cx="772160" cy="95758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056" y="1361875"/>
              <a:ext cx="748048" cy="93848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1475" y="1343025"/>
              <a:ext cx="676275" cy="8667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60375" y="1736788"/>
            <a:ext cx="43053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FFFFFF"/>
                </a:solidFill>
                <a:latin typeface="Arial"/>
                <a:cs typeface="Arial"/>
              </a:rPr>
              <a:t>BED</a:t>
            </a:r>
            <a:endParaRPr sz="1500" dirty="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57131" y="1600200"/>
            <a:ext cx="772160" cy="957580"/>
            <a:chOff x="1257131" y="1600200"/>
            <a:chExt cx="772160" cy="95758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7131" y="1619050"/>
              <a:ext cx="748048" cy="93848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2549" y="1600200"/>
              <a:ext cx="676275" cy="86677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377061" y="2037714"/>
            <a:ext cx="596900" cy="29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065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BEDGRAP</a:t>
            </a:r>
            <a:endParaRPr sz="900" dirty="0">
              <a:latin typeface="Arial"/>
              <a:cs typeface="Arial"/>
            </a:endParaRPr>
          </a:p>
          <a:p>
            <a:pPr marL="635" algn="ctr">
              <a:lnSpc>
                <a:spcPts val="1065"/>
              </a:lnSpc>
            </a:pPr>
            <a:r>
              <a:rPr sz="900" b="1" spc="-5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6056" y="2390775"/>
            <a:ext cx="772160" cy="957580"/>
            <a:chOff x="276056" y="2390775"/>
            <a:chExt cx="772160" cy="95758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056" y="2409625"/>
              <a:ext cx="748048" cy="93848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1475" y="2390775"/>
              <a:ext cx="676275" cy="866775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276056" y="3505200"/>
            <a:ext cx="772160" cy="957580"/>
            <a:chOff x="276056" y="3505200"/>
            <a:chExt cx="772160" cy="95758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056" y="3524113"/>
              <a:ext cx="748048" cy="93848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1475" y="3505200"/>
              <a:ext cx="676275" cy="866775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1257131" y="2714625"/>
            <a:ext cx="772160" cy="957580"/>
            <a:chOff x="1257131" y="2714625"/>
            <a:chExt cx="772160" cy="95758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7131" y="2733602"/>
              <a:ext cx="748048" cy="93848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2549" y="2714625"/>
              <a:ext cx="676275" cy="866775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1257131" y="3838575"/>
            <a:ext cx="772160" cy="948055"/>
            <a:chOff x="1257131" y="3838575"/>
            <a:chExt cx="772160" cy="948055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7131" y="3857487"/>
              <a:ext cx="748048" cy="92896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52549" y="3838575"/>
              <a:ext cx="676275" cy="85725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71487" y="2688233"/>
            <a:ext cx="1416050" cy="180213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890"/>
              </a:spcBef>
            </a:pPr>
            <a:r>
              <a:rPr sz="1500" b="1" spc="-25" dirty="0">
                <a:solidFill>
                  <a:srgbClr val="FFFFFF"/>
                </a:solidFill>
                <a:latin typeface="Arial"/>
                <a:cs typeface="Arial"/>
              </a:rPr>
              <a:t>GFF</a:t>
            </a:r>
            <a:endParaRPr sz="1500" dirty="0">
              <a:latin typeface="Arial"/>
              <a:cs typeface="Arial"/>
            </a:endParaRPr>
          </a:p>
          <a:p>
            <a:pPr marL="976630">
              <a:lnSpc>
                <a:spcPct val="100000"/>
              </a:lnSpc>
              <a:spcBef>
                <a:spcPts val="790"/>
              </a:spcBef>
            </a:pPr>
            <a:r>
              <a:rPr sz="1500" b="1" spc="-25" dirty="0">
                <a:solidFill>
                  <a:srgbClr val="FFFFFF"/>
                </a:solidFill>
                <a:latin typeface="Arial"/>
                <a:cs typeface="Arial"/>
              </a:rPr>
              <a:t>SAM</a:t>
            </a:r>
            <a:endParaRPr sz="1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00" b="1" spc="-25" dirty="0">
                <a:solidFill>
                  <a:srgbClr val="FFFFFF"/>
                </a:solidFill>
                <a:latin typeface="Arial"/>
                <a:cs typeface="Arial"/>
              </a:rPr>
              <a:t>VCF</a:t>
            </a:r>
            <a:endParaRPr sz="1500" dirty="0">
              <a:latin typeface="Arial"/>
              <a:cs typeface="Arial"/>
            </a:endParaRPr>
          </a:p>
          <a:p>
            <a:pPr marL="998855">
              <a:lnSpc>
                <a:spcPct val="100000"/>
              </a:lnSpc>
              <a:spcBef>
                <a:spcPts val="790"/>
              </a:spcBef>
            </a:pPr>
            <a:r>
              <a:rPr sz="1500" b="1" spc="-25" dirty="0">
                <a:solidFill>
                  <a:srgbClr val="FFFFFF"/>
                </a:solidFill>
                <a:latin typeface="Arial"/>
                <a:cs typeface="Arial"/>
              </a:rPr>
              <a:t>GTF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281301" y="2990850"/>
            <a:ext cx="480695" cy="85725"/>
          </a:xfrm>
          <a:custGeom>
            <a:avLst/>
            <a:gdLst/>
            <a:ahLst/>
            <a:cxnLst/>
            <a:rect l="l" t="t" r="r" b="b"/>
            <a:pathLst>
              <a:path w="480694" h="85725">
                <a:moveTo>
                  <a:pt x="423037" y="42925"/>
                </a:moveTo>
                <a:lnTo>
                  <a:pt x="394462" y="85725"/>
                </a:lnTo>
                <a:lnTo>
                  <a:pt x="451696" y="57150"/>
                </a:lnTo>
                <a:lnTo>
                  <a:pt x="423037" y="57150"/>
                </a:lnTo>
                <a:lnTo>
                  <a:pt x="423037" y="42925"/>
                </a:lnTo>
                <a:close/>
              </a:path>
              <a:path w="480694" h="85725">
                <a:moveTo>
                  <a:pt x="413483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413540" y="57150"/>
                </a:lnTo>
                <a:lnTo>
                  <a:pt x="423037" y="42925"/>
                </a:lnTo>
                <a:lnTo>
                  <a:pt x="413483" y="28575"/>
                </a:lnTo>
                <a:close/>
              </a:path>
              <a:path w="480694" h="85725">
                <a:moveTo>
                  <a:pt x="451527" y="28575"/>
                </a:moveTo>
                <a:lnTo>
                  <a:pt x="423037" y="28575"/>
                </a:lnTo>
                <a:lnTo>
                  <a:pt x="423037" y="57150"/>
                </a:lnTo>
                <a:lnTo>
                  <a:pt x="451696" y="57150"/>
                </a:lnTo>
                <a:lnTo>
                  <a:pt x="480187" y="42925"/>
                </a:lnTo>
                <a:lnTo>
                  <a:pt x="451527" y="28575"/>
                </a:lnTo>
                <a:close/>
              </a:path>
              <a:path w="480694" h="85725">
                <a:moveTo>
                  <a:pt x="394462" y="0"/>
                </a:moveTo>
                <a:lnTo>
                  <a:pt x="423037" y="42925"/>
                </a:lnTo>
                <a:lnTo>
                  <a:pt x="423037" y="28575"/>
                </a:lnTo>
                <a:lnTo>
                  <a:pt x="451527" y="28575"/>
                </a:lnTo>
                <a:lnTo>
                  <a:pt x="3944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27" name="object 27"/>
          <p:cNvGrpSpPr/>
          <p:nvPr/>
        </p:nvGrpSpPr>
        <p:grpSpPr>
          <a:xfrm>
            <a:off x="3928998" y="2343150"/>
            <a:ext cx="5005705" cy="1447800"/>
            <a:chOff x="3928998" y="2343150"/>
            <a:chExt cx="5005705" cy="1447800"/>
          </a:xfrm>
        </p:grpSpPr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05299" y="2343150"/>
              <a:ext cx="4629150" cy="14478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28998" y="2990850"/>
              <a:ext cx="480695" cy="85725"/>
            </a:xfrm>
            <a:custGeom>
              <a:avLst/>
              <a:gdLst/>
              <a:ahLst/>
              <a:cxnLst/>
              <a:rect l="l" t="t" r="r" b="b"/>
              <a:pathLst>
                <a:path w="480695" h="85725">
                  <a:moveTo>
                    <a:pt x="423163" y="42925"/>
                  </a:moveTo>
                  <a:lnTo>
                    <a:pt x="394588" y="85725"/>
                  </a:lnTo>
                  <a:lnTo>
                    <a:pt x="451823" y="57150"/>
                  </a:lnTo>
                  <a:lnTo>
                    <a:pt x="423163" y="57150"/>
                  </a:lnTo>
                  <a:lnTo>
                    <a:pt x="423163" y="42925"/>
                  </a:lnTo>
                  <a:close/>
                </a:path>
                <a:path w="480695" h="85725">
                  <a:moveTo>
                    <a:pt x="413610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413667" y="57150"/>
                  </a:lnTo>
                  <a:lnTo>
                    <a:pt x="423163" y="42925"/>
                  </a:lnTo>
                  <a:lnTo>
                    <a:pt x="413610" y="28575"/>
                  </a:lnTo>
                  <a:close/>
                </a:path>
                <a:path w="480695" h="85725">
                  <a:moveTo>
                    <a:pt x="451654" y="28575"/>
                  </a:moveTo>
                  <a:lnTo>
                    <a:pt x="423163" y="28575"/>
                  </a:lnTo>
                  <a:lnTo>
                    <a:pt x="423163" y="57150"/>
                  </a:lnTo>
                  <a:lnTo>
                    <a:pt x="451823" y="57150"/>
                  </a:lnTo>
                  <a:lnTo>
                    <a:pt x="480313" y="42925"/>
                  </a:lnTo>
                  <a:lnTo>
                    <a:pt x="451654" y="28575"/>
                  </a:lnTo>
                  <a:close/>
                </a:path>
                <a:path w="480695" h="85725">
                  <a:moveTo>
                    <a:pt x="394588" y="0"/>
                  </a:moveTo>
                  <a:lnTo>
                    <a:pt x="423163" y="42925"/>
                  </a:lnTo>
                  <a:lnTo>
                    <a:pt x="423163" y="28575"/>
                  </a:lnTo>
                  <a:lnTo>
                    <a:pt x="451654" y="28575"/>
                  </a:lnTo>
                  <a:lnTo>
                    <a:pt x="3945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743960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025" y="1200150"/>
            <a:ext cx="6006148" cy="4629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Unsorted</a:t>
            </a:r>
            <a:r>
              <a:rPr spc="15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slow!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841355"/>
              </p:ext>
            </p:extLst>
          </p:nvPr>
        </p:nvGraphicFramePr>
        <p:xfrm>
          <a:off x="639381" y="2114550"/>
          <a:ext cx="6522084" cy="2552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891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0"/>
                        </a:lnSpc>
                      </a:pPr>
                      <a:r>
                        <a:rPr sz="1400" b="1" spc="-2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lang="en-US"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796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5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5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5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31750" marR="3175">
                        <a:lnSpc>
                          <a:spcPts val="1440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40"/>
                        </a:lnSpc>
                      </a:pPr>
                      <a:r>
                        <a:rPr lang="en-US"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lang="en-US"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962400" y="2165032"/>
            <a:ext cx="359410" cy="76200"/>
          </a:xfrm>
          <a:custGeom>
            <a:avLst/>
            <a:gdLst/>
            <a:ahLst/>
            <a:cxnLst/>
            <a:rect l="l" t="t" r="r" b="b"/>
            <a:pathLst>
              <a:path w="359410" h="76200">
                <a:moveTo>
                  <a:pt x="282701" y="0"/>
                </a:moveTo>
                <a:lnTo>
                  <a:pt x="282701" y="76200"/>
                </a:lnTo>
                <a:lnTo>
                  <a:pt x="349503" y="42799"/>
                </a:lnTo>
                <a:lnTo>
                  <a:pt x="295401" y="42799"/>
                </a:lnTo>
                <a:lnTo>
                  <a:pt x="295401" y="33274"/>
                </a:lnTo>
                <a:lnTo>
                  <a:pt x="349250" y="33274"/>
                </a:lnTo>
                <a:lnTo>
                  <a:pt x="282701" y="0"/>
                </a:lnTo>
                <a:close/>
              </a:path>
              <a:path w="359410" h="76200">
                <a:moveTo>
                  <a:pt x="282701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82701" y="42799"/>
                </a:lnTo>
                <a:lnTo>
                  <a:pt x="282701" y="33274"/>
                </a:lnTo>
                <a:close/>
              </a:path>
              <a:path w="359410" h="76200">
                <a:moveTo>
                  <a:pt x="349250" y="33274"/>
                </a:moveTo>
                <a:lnTo>
                  <a:pt x="295401" y="33274"/>
                </a:lnTo>
                <a:lnTo>
                  <a:pt x="295401" y="42799"/>
                </a:lnTo>
                <a:lnTo>
                  <a:pt x="349503" y="42799"/>
                </a:lnTo>
                <a:lnTo>
                  <a:pt x="358901" y="38100"/>
                </a:lnTo>
                <a:lnTo>
                  <a:pt x="349250" y="332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6D4212C7-61FF-0AC7-E8AD-B21DCAFD8060}"/>
              </a:ext>
            </a:extLst>
          </p:cNvPr>
          <p:cNvSpPr txBox="1">
            <a:spLocks/>
          </p:cNvSpPr>
          <p:nvPr/>
        </p:nvSpPr>
        <p:spPr>
          <a:xfrm>
            <a:off x="116805" y="133350"/>
            <a:ext cx="8621395" cy="90922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60655">
              <a:spcBef>
                <a:spcPts val="130"/>
              </a:spcBef>
            </a:pPr>
            <a:r>
              <a:rPr lang="en-US" dirty="0"/>
              <a:t>Many bedtools functions require the data to be sorted. Why? </a:t>
            </a:r>
            <a:endParaRPr lang="en-US" spc="-1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Unsorted</a:t>
            </a:r>
            <a:r>
              <a:rPr spc="15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slow!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0382" y="1328779"/>
          <a:ext cx="6522084" cy="2552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891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0"/>
                        </a:lnSpc>
                      </a:pPr>
                      <a:r>
                        <a:rPr sz="1400" b="1" spc="-2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345"/>
                        </a:lnSpc>
                      </a:pPr>
                      <a:r>
                        <a:rPr sz="1400" b="1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1345"/>
                        </a:lnSpc>
                      </a:pPr>
                      <a:r>
                        <a:rPr sz="1400" b="1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796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31750" marR="3175"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900423" y="1566925"/>
            <a:ext cx="359410" cy="76200"/>
          </a:xfrm>
          <a:custGeom>
            <a:avLst/>
            <a:gdLst/>
            <a:ahLst/>
            <a:cxnLst/>
            <a:rect l="l" t="t" r="r" b="b"/>
            <a:pathLst>
              <a:path w="359410" h="76200">
                <a:moveTo>
                  <a:pt x="282701" y="0"/>
                </a:moveTo>
                <a:lnTo>
                  <a:pt x="282701" y="76200"/>
                </a:lnTo>
                <a:lnTo>
                  <a:pt x="349503" y="42799"/>
                </a:lnTo>
                <a:lnTo>
                  <a:pt x="295401" y="42799"/>
                </a:lnTo>
                <a:lnTo>
                  <a:pt x="295401" y="33274"/>
                </a:lnTo>
                <a:lnTo>
                  <a:pt x="349250" y="33274"/>
                </a:lnTo>
                <a:lnTo>
                  <a:pt x="282701" y="0"/>
                </a:lnTo>
                <a:close/>
              </a:path>
              <a:path w="359410" h="76200">
                <a:moveTo>
                  <a:pt x="282701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82701" y="42799"/>
                </a:lnTo>
                <a:lnTo>
                  <a:pt x="282701" y="33274"/>
                </a:lnTo>
                <a:close/>
              </a:path>
              <a:path w="359410" h="76200">
                <a:moveTo>
                  <a:pt x="349250" y="33274"/>
                </a:moveTo>
                <a:lnTo>
                  <a:pt x="295401" y="33274"/>
                </a:lnTo>
                <a:lnTo>
                  <a:pt x="295401" y="42799"/>
                </a:lnTo>
                <a:lnTo>
                  <a:pt x="349503" y="42799"/>
                </a:lnTo>
                <a:lnTo>
                  <a:pt x="358901" y="38100"/>
                </a:lnTo>
                <a:lnTo>
                  <a:pt x="349250" y="332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Unsorted</a:t>
            </a:r>
            <a:r>
              <a:rPr spc="15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slow!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0382" y="1328779"/>
          <a:ext cx="6522084" cy="2552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891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0"/>
                        </a:lnSpc>
                      </a:pPr>
                      <a:r>
                        <a:rPr sz="1400" b="1" spc="-2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345"/>
                        </a:lnSpc>
                      </a:pPr>
                      <a:r>
                        <a:rPr sz="1400" b="1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1345"/>
                        </a:lnSpc>
                      </a:pPr>
                      <a:r>
                        <a:rPr sz="1400" b="1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796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31750" marR="3175"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900423" y="1795526"/>
            <a:ext cx="359410" cy="76200"/>
          </a:xfrm>
          <a:custGeom>
            <a:avLst/>
            <a:gdLst/>
            <a:ahLst/>
            <a:cxnLst/>
            <a:rect l="l" t="t" r="r" b="b"/>
            <a:pathLst>
              <a:path w="359410" h="76200">
                <a:moveTo>
                  <a:pt x="282701" y="0"/>
                </a:moveTo>
                <a:lnTo>
                  <a:pt x="282701" y="76200"/>
                </a:lnTo>
                <a:lnTo>
                  <a:pt x="349503" y="42799"/>
                </a:lnTo>
                <a:lnTo>
                  <a:pt x="295401" y="42799"/>
                </a:lnTo>
                <a:lnTo>
                  <a:pt x="295401" y="33274"/>
                </a:lnTo>
                <a:lnTo>
                  <a:pt x="349250" y="33274"/>
                </a:lnTo>
                <a:lnTo>
                  <a:pt x="282701" y="0"/>
                </a:lnTo>
                <a:close/>
              </a:path>
              <a:path w="359410" h="76200">
                <a:moveTo>
                  <a:pt x="282701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82701" y="42799"/>
                </a:lnTo>
                <a:lnTo>
                  <a:pt x="282701" y="33274"/>
                </a:lnTo>
                <a:close/>
              </a:path>
              <a:path w="359410" h="76200">
                <a:moveTo>
                  <a:pt x="349250" y="33274"/>
                </a:moveTo>
                <a:lnTo>
                  <a:pt x="295401" y="33274"/>
                </a:lnTo>
                <a:lnTo>
                  <a:pt x="295401" y="42799"/>
                </a:lnTo>
                <a:lnTo>
                  <a:pt x="349503" y="42799"/>
                </a:lnTo>
                <a:lnTo>
                  <a:pt x="358901" y="38100"/>
                </a:lnTo>
                <a:lnTo>
                  <a:pt x="349250" y="332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Unsorted</a:t>
            </a:r>
            <a:r>
              <a:rPr spc="15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slow!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0382" y="1328779"/>
          <a:ext cx="6522084" cy="2552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891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0"/>
                        </a:lnSpc>
                      </a:pPr>
                      <a:r>
                        <a:rPr sz="1400" b="1" spc="-2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b="1" spc="-2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345"/>
                        </a:lnSpc>
                      </a:pPr>
                      <a:r>
                        <a:rPr sz="1400" b="1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1345"/>
                        </a:lnSpc>
                      </a:pPr>
                      <a:r>
                        <a:rPr sz="1400" b="1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796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31750" marR="3175"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900423" y="3319526"/>
            <a:ext cx="359410" cy="76200"/>
          </a:xfrm>
          <a:custGeom>
            <a:avLst/>
            <a:gdLst/>
            <a:ahLst/>
            <a:cxnLst/>
            <a:rect l="l" t="t" r="r" b="b"/>
            <a:pathLst>
              <a:path w="359410" h="76200">
                <a:moveTo>
                  <a:pt x="282701" y="0"/>
                </a:moveTo>
                <a:lnTo>
                  <a:pt x="282701" y="76200"/>
                </a:lnTo>
                <a:lnTo>
                  <a:pt x="349503" y="42799"/>
                </a:lnTo>
                <a:lnTo>
                  <a:pt x="295401" y="42799"/>
                </a:lnTo>
                <a:lnTo>
                  <a:pt x="295401" y="33274"/>
                </a:lnTo>
                <a:lnTo>
                  <a:pt x="349250" y="33274"/>
                </a:lnTo>
                <a:lnTo>
                  <a:pt x="282701" y="0"/>
                </a:lnTo>
                <a:close/>
              </a:path>
              <a:path w="359410" h="76200">
                <a:moveTo>
                  <a:pt x="282701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82701" y="42799"/>
                </a:lnTo>
                <a:lnTo>
                  <a:pt x="282701" y="33274"/>
                </a:lnTo>
                <a:close/>
              </a:path>
              <a:path w="359410" h="76200">
                <a:moveTo>
                  <a:pt x="349250" y="33274"/>
                </a:moveTo>
                <a:lnTo>
                  <a:pt x="295401" y="33274"/>
                </a:lnTo>
                <a:lnTo>
                  <a:pt x="295401" y="42799"/>
                </a:lnTo>
                <a:lnTo>
                  <a:pt x="349503" y="42799"/>
                </a:lnTo>
                <a:lnTo>
                  <a:pt x="358901" y="38100"/>
                </a:lnTo>
                <a:lnTo>
                  <a:pt x="349250" y="332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Unsorted</a:t>
            </a:r>
            <a:r>
              <a:rPr spc="15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slow!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0382" y="1328779"/>
          <a:ext cx="6522084" cy="2552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891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5"/>
                        </a:lnSpc>
                      </a:pPr>
                      <a:r>
                        <a:rPr sz="1400" b="1" spc="-2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345"/>
                        </a:lnSpc>
                      </a:pPr>
                      <a:r>
                        <a:rPr sz="1400" b="1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1345"/>
                        </a:lnSpc>
                      </a:pPr>
                      <a:r>
                        <a:rPr sz="1400" b="1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796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31750" marR="3175"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900423" y="1414525"/>
            <a:ext cx="359410" cy="76200"/>
          </a:xfrm>
          <a:custGeom>
            <a:avLst/>
            <a:gdLst/>
            <a:ahLst/>
            <a:cxnLst/>
            <a:rect l="l" t="t" r="r" b="b"/>
            <a:pathLst>
              <a:path w="359410" h="76200">
                <a:moveTo>
                  <a:pt x="282701" y="0"/>
                </a:moveTo>
                <a:lnTo>
                  <a:pt x="282701" y="76200"/>
                </a:lnTo>
                <a:lnTo>
                  <a:pt x="349503" y="42799"/>
                </a:lnTo>
                <a:lnTo>
                  <a:pt x="295401" y="42799"/>
                </a:lnTo>
                <a:lnTo>
                  <a:pt x="295401" y="33274"/>
                </a:lnTo>
                <a:lnTo>
                  <a:pt x="349250" y="33274"/>
                </a:lnTo>
                <a:lnTo>
                  <a:pt x="282701" y="0"/>
                </a:lnTo>
                <a:close/>
              </a:path>
              <a:path w="359410" h="76200">
                <a:moveTo>
                  <a:pt x="282701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82701" y="42799"/>
                </a:lnTo>
                <a:lnTo>
                  <a:pt x="282701" y="33274"/>
                </a:lnTo>
                <a:close/>
              </a:path>
              <a:path w="359410" h="76200">
                <a:moveTo>
                  <a:pt x="349250" y="33274"/>
                </a:moveTo>
                <a:lnTo>
                  <a:pt x="295401" y="33274"/>
                </a:lnTo>
                <a:lnTo>
                  <a:pt x="295401" y="42799"/>
                </a:lnTo>
                <a:lnTo>
                  <a:pt x="349503" y="42799"/>
                </a:lnTo>
                <a:lnTo>
                  <a:pt x="358901" y="38100"/>
                </a:lnTo>
                <a:lnTo>
                  <a:pt x="349250" y="332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Unsorted</a:t>
            </a:r>
            <a:r>
              <a:rPr spc="15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slow!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0382" y="1328779"/>
          <a:ext cx="6522084" cy="2552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891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5"/>
                        </a:lnSpc>
                      </a:pPr>
                      <a:r>
                        <a:rPr sz="1400" b="1" spc="-2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345"/>
                        </a:lnSpc>
                      </a:pPr>
                      <a:r>
                        <a:rPr sz="1400" b="1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1345"/>
                        </a:lnSpc>
                      </a:pPr>
                      <a:r>
                        <a:rPr sz="1400" b="1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796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31750" marR="3175"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900423" y="1566925"/>
            <a:ext cx="359410" cy="76200"/>
          </a:xfrm>
          <a:custGeom>
            <a:avLst/>
            <a:gdLst/>
            <a:ahLst/>
            <a:cxnLst/>
            <a:rect l="l" t="t" r="r" b="b"/>
            <a:pathLst>
              <a:path w="359410" h="76200">
                <a:moveTo>
                  <a:pt x="282701" y="0"/>
                </a:moveTo>
                <a:lnTo>
                  <a:pt x="282701" y="76200"/>
                </a:lnTo>
                <a:lnTo>
                  <a:pt x="349503" y="42799"/>
                </a:lnTo>
                <a:lnTo>
                  <a:pt x="295401" y="42799"/>
                </a:lnTo>
                <a:lnTo>
                  <a:pt x="295401" y="33274"/>
                </a:lnTo>
                <a:lnTo>
                  <a:pt x="349250" y="33274"/>
                </a:lnTo>
                <a:lnTo>
                  <a:pt x="282701" y="0"/>
                </a:lnTo>
                <a:close/>
              </a:path>
              <a:path w="359410" h="76200">
                <a:moveTo>
                  <a:pt x="282701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82701" y="42799"/>
                </a:lnTo>
                <a:lnTo>
                  <a:pt x="282701" y="33274"/>
                </a:lnTo>
                <a:close/>
              </a:path>
              <a:path w="359410" h="76200">
                <a:moveTo>
                  <a:pt x="349250" y="33274"/>
                </a:moveTo>
                <a:lnTo>
                  <a:pt x="295401" y="33274"/>
                </a:lnTo>
                <a:lnTo>
                  <a:pt x="295401" y="42799"/>
                </a:lnTo>
                <a:lnTo>
                  <a:pt x="349503" y="42799"/>
                </a:lnTo>
                <a:lnTo>
                  <a:pt x="358901" y="38100"/>
                </a:lnTo>
                <a:lnTo>
                  <a:pt x="349250" y="332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Unsorted</a:t>
            </a:r>
            <a:r>
              <a:rPr spc="15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slow!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0382" y="1328779"/>
          <a:ext cx="6522084" cy="2552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891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5"/>
                        </a:lnSpc>
                      </a:pPr>
                      <a:r>
                        <a:rPr sz="1400" b="1" spc="-2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345"/>
                        </a:lnSpc>
                      </a:pPr>
                      <a:r>
                        <a:rPr sz="1400" b="1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1345"/>
                        </a:lnSpc>
                      </a:pPr>
                      <a:r>
                        <a:rPr sz="1400" b="1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796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31750" marR="3175"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900423" y="1795526"/>
            <a:ext cx="359410" cy="76200"/>
          </a:xfrm>
          <a:custGeom>
            <a:avLst/>
            <a:gdLst/>
            <a:ahLst/>
            <a:cxnLst/>
            <a:rect l="l" t="t" r="r" b="b"/>
            <a:pathLst>
              <a:path w="359410" h="76200">
                <a:moveTo>
                  <a:pt x="282701" y="0"/>
                </a:moveTo>
                <a:lnTo>
                  <a:pt x="282701" y="76200"/>
                </a:lnTo>
                <a:lnTo>
                  <a:pt x="349503" y="42799"/>
                </a:lnTo>
                <a:lnTo>
                  <a:pt x="295401" y="42799"/>
                </a:lnTo>
                <a:lnTo>
                  <a:pt x="295401" y="33274"/>
                </a:lnTo>
                <a:lnTo>
                  <a:pt x="349250" y="33274"/>
                </a:lnTo>
                <a:lnTo>
                  <a:pt x="282701" y="0"/>
                </a:lnTo>
                <a:close/>
              </a:path>
              <a:path w="359410" h="76200">
                <a:moveTo>
                  <a:pt x="282701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82701" y="42799"/>
                </a:lnTo>
                <a:lnTo>
                  <a:pt x="282701" y="33274"/>
                </a:lnTo>
                <a:close/>
              </a:path>
              <a:path w="359410" h="76200">
                <a:moveTo>
                  <a:pt x="349250" y="33274"/>
                </a:moveTo>
                <a:lnTo>
                  <a:pt x="295401" y="33274"/>
                </a:lnTo>
                <a:lnTo>
                  <a:pt x="295401" y="42799"/>
                </a:lnTo>
                <a:lnTo>
                  <a:pt x="349503" y="42799"/>
                </a:lnTo>
                <a:lnTo>
                  <a:pt x="358901" y="38100"/>
                </a:lnTo>
                <a:lnTo>
                  <a:pt x="349250" y="332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Unsorted</a:t>
            </a:r>
            <a:r>
              <a:rPr spc="15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slow!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0382" y="1328779"/>
          <a:ext cx="6522084" cy="2552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891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5"/>
                        </a:lnSpc>
                      </a:pPr>
                      <a:r>
                        <a:rPr sz="1400" b="1" spc="-2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b="1" spc="-2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345"/>
                        </a:lnSpc>
                      </a:pPr>
                      <a:r>
                        <a:rPr sz="1400" b="1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1345"/>
                        </a:lnSpc>
                      </a:pPr>
                      <a:r>
                        <a:rPr sz="1400" b="1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796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31750" marR="3175"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900423" y="2405126"/>
            <a:ext cx="359410" cy="76200"/>
          </a:xfrm>
          <a:custGeom>
            <a:avLst/>
            <a:gdLst/>
            <a:ahLst/>
            <a:cxnLst/>
            <a:rect l="l" t="t" r="r" b="b"/>
            <a:pathLst>
              <a:path w="359410" h="76200">
                <a:moveTo>
                  <a:pt x="282701" y="0"/>
                </a:moveTo>
                <a:lnTo>
                  <a:pt x="282701" y="76200"/>
                </a:lnTo>
                <a:lnTo>
                  <a:pt x="349503" y="42799"/>
                </a:lnTo>
                <a:lnTo>
                  <a:pt x="295401" y="42799"/>
                </a:lnTo>
                <a:lnTo>
                  <a:pt x="295401" y="33274"/>
                </a:lnTo>
                <a:lnTo>
                  <a:pt x="349250" y="33274"/>
                </a:lnTo>
                <a:lnTo>
                  <a:pt x="282701" y="0"/>
                </a:lnTo>
                <a:close/>
              </a:path>
              <a:path w="359410" h="76200">
                <a:moveTo>
                  <a:pt x="282701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82701" y="42799"/>
                </a:lnTo>
                <a:lnTo>
                  <a:pt x="282701" y="33274"/>
                </a:lnTo>
                <a:close/>
              </a:path>
              <a:path w="359410" h="76200">
                <a:moveTo>
                  <a:pt x="349250" y="33274"/>
                </a:moveTo>
                <a:lnTo>
                  <a:pt x="295401" y="33274"/>
                </a:lnTo>
                <a:lnTo>
                  <a:pt x="295401" y="42799"/>
                </a:lnTo>
                <a:lnTo>
                  <a:pt x="349503" y="42799"/>
                </a:lnTo>
                <a:lnTo>
                  <a:pt x="358901" y="38100"/>
                </a:lnTo>
                <a:lnTo>
                  <a:pt x="349250" y="332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Sorting</a:t>
            </a:r>
            <a:r>
              <a:rPr spc="-70" dirty="0"/>
              <a:t> </a:t>
            </a:r>
            <a:r>
              <a:rPr dirty="0"/>
              <a:t>the files</a:t>
            </a:r>
            <a:r>
              <a:rPr spc="-55" dirty="0"/>
              <a:t> </a:t>
            </a:r>
            <a:r>
              <a:rPr spc="-10" dirty="0"/>
              <a:t>helps!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0382" y="1328779"/>
          <a:ext cx="6532878" cy="2552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5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6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891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0"/>
                        </a:lnSpc>
                      </a:pPr>
                      <a:r>
                        <a:rPr sz="1400" b="1" spc="-2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0"/>
                        </a:lnSpc>
                      </a:pPr>
                      <a:r>
                        <a:rPr sz="1400" b="1" spc="-2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890898" y="1376425"/>
            <a:ext cx="359410" cy="76200"/>
          </a:xfrm>
          <a:custGeom>
            <a:avLst/>
            <a:gdLst/>
            <a:ahLst/>
            <a:cxnLst/>
            <a:rect l="l" t="t" r="r" b="b"/>
            <a:pathLst>
              <a:path w="359410" h="76200">
                <a:moveTo>
                  <a:pt x="282701" y="0"/>
                </a:moveTo>
                <a:lnTo>
                  <a:pt x="282701" y="76200"/>
                </a:lnTo>
                <a:lnTo>
                  <a:pt x="349503" y="42799"/>
                </a:lnTo>
                <a:lnTo>
                  <a:pt x="295401" y="42799"/>
                </a:lnTo>
                <a:lnTo>
                  <a:pt x="295401" y="33274"/>
                </a:lnTo>
                <a:lnTo>
                  <a:pt x="349250" y="33274"/>
                </a:lnTo>
                <a:lnTo>
                  <a:pt x="282701" y="0"/>
                </a:lnTo>
                <a:close/>
              </a:path>
              <a:path w="359410" h="76200">
                <a:moveTo>
                  <a:pt x="282701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82701" y="42799"/>
                </a:lnTo>
                <a:lnTo>
                  <a:pt x="282701" y="33274"/>
                </a:lnTo>
                <a:close/>
              </a:path>
              <a:path w="359410" h="76200">
                <a:moveTo>
                  <a:pt x="349250" y="33274"/>
                </a:moveTo>
                <a:lnTo>
                  <a:pt x="295401" y="33274"/>
                </a:lnTo>
                <a:lnTo>
                  <a:pt x="295401" y="42799"/>
                </a:lnTo>
                <a:lnTo>
                  <a:pt x="349503" y="42799"/>
                </a:lnTo>
                <a:lnTo>
                  <a:pt x="358901" y="38100"/>
                </a:lnTo>
                <a:lnTo>
                  <a:pt x="349250" y="332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09537" y="1395475"/>
            <a:ext cx="359410" cy="76200"/>
          </a:xfrm>
          <a:custGeom>
            <a:avLst/>
            <a:gdLst/>
            <a:ahLst/>
            <a:cxnLst/>
            <a:rect l="l" t="t" r="r" b="b"/>
            <a:pathLst>
              <a:path w="359409" h="76200">
                <a:moveTo>
                  <a:pt x="282600" y="0"/>
                </a:moveTo>
                <a:lnTo>
                  <a:pt x="282600" y="76200"/>
                </a:lnTo>
                <a:lnTo>
                  <a:pt x="349402" y="42799"/>
                </a:lnTo>
                <a:lnTo>
                  <a:pt x="295300" y="42799"/>
                </a:lnTo>
                <a:lnTo>
                  <a:pt x="295300" y="33274"/>
                </a:lnTo>
                <a:lnTo>
                  <a:pt x="349148" y="33274"/>
                </a:lnTo>
                <a:lnTo>
                  <a:pt x="282600" y="0"/>
                </a:lnTo>
                <a:close/>
              </a:path>
              <a:path w="359409" h="76200">
                <a:moveTo>
                  <a:pt x="28260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82600" y="42799"/>
                </a:lnTo>
                <a:lnTo>
                  <a:pt x="282600" y="33274"/>
                </a:lnTo>
                <a:close/>
              </a:path>
              <a:path w="359409" h="76200">
                <a:moveTo>
                  <a:pt x="349148" y="33274"/>
                </a:moveTo>
                <a:lnTo>
                  <a:pt x="295300" y="33274"/>
                </a:lnTo>
                <a:lnTo>
                  <a:pt x="295300" y="42799"/>
                </a:lnTo>
                <a:lnTo>
                  <a:pt x="349402" y="42799"/>
                </a:lnTo>
                <a:lnTo>
                  <a:pt x="358800" y="38100"/>
                </a:lnTo>
                <a:lnTo>
                  <a:pt x="349148" y="332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Sorting</a:t>
            </a:r>
            <a:r>
              <a:rPr spc="-70" dirty="0"/>
              <a:t> </a:t>
            </a:r>
            <a:r>
              <a:rPr dirty="0"/>
              <a:t>the files</a:t>
            </a:r>
            <a:r>
              <a:rPr spc="-55" dirty="0"/>
              <a:t> </a:t>
            </a:r>
            <a:r>
              <a:rPr spc="-10" dirty="0"/>
              <a:t>helps!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0382" y="1328779"/>
          <a:ext cx="6532878" cy="2552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5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6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891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0"/>
                        </a:lnSpc>
                      </a:pPr>
                      <a:r>
                        <a:rPr sz="1400" b="1" spc="-2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0"/>
                        </a:lnSpc>
                      </a:pPr>
                      <a:r>
                        <a:rPr sz="1400" b="1" spc="-2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890898" y="1605025"/>
            <a:ext cx="359410" cy="76200"/>
          </a:xfrm>
          <a:custGeom>
            <a:avLst/>
            <a:gdLst/>
            <a:ahLst/>
            <a:cxnLst/>
            <a:rect l="l" t="t" r="r" b="b"/>
            <a:pathLst>
              <a:path w="359410" h="76200">
                <a:moveTo>
                  <a:pt x="282701" y="0"/>
                </a:moveTo>
                <a:lnTo>
                  <a:pt x="282701" y="76200"/>
                </a:lnTo>
                <a:lnTo>
                  <a:pt x="349503" y="42799"/>
                </a:lnTo>
                <a:lnTo>
                  <a:pt x="295401" y="42799"/>
                </a:lnTo>
                <a:lnTo>
                  <a:pt x="295401" y="33274"/>
                </a:lnTo>
                <a:lnTo>
                  <a:pt x="349250" y="33274"/>
                </a:lnTo>
                <a:lnTo>
                  <a:pt x="282701" y="0"/>
                </a:lnTo>
                <a:close/>
              </a:path>
              <a:path w="359410" h="76200">
                <a:moveTo>
                  <a:pt x="282701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82701" y="42799"/>
                </a:lnTo>
                <a:lnTo>
                  <a:pt x="282701" y="33274"/>
                </a:lnTo>
                <a:close/>
              </a:path>
              <a:path w="359410" h="76200">
                <a:moveTo>
                  <a:pt x="349250" y="33274"/>
                </a:moveTo>
                <a:lnTo>
                  <a:pt x="295401" y="33274"/>
                </a:lnTo>
                <a:lnTo>
                  <a:pt x="295401" y="42799"/>
                </a:lnTo>
                <a:lnTo>
                  <a:pt x="349503" y="42799"/>
                </a:lnTo>
                <a:lnTo>
                  <a:pt x="358901" y="38100"/>
                </a:lnTo>
                <a:lnTo>
                  <a:pt x="349250" y="332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09537" y="1395475"/>
            <a:ext cx="359410" cy="76200"/>
          </a:xfrm>
          <a:custGeom>
            <a:avLst/>
            <a:gdLst/>
            <a:ahLst/>
            <a:cxnLst/>
            <a:rect l="l" t="t" r="r" b="b"/>
            <a:pathLst>
              <a:path w="359409" h="76200">
                <a:moveTo>
                  <a:pt x="282600" y="0"/>
                </a:moveTo>
                <a:lnTo>
                  <a:pt x="282600" y="76200"/>
                </a:lnTo>
                <a:lnTo>
                  <a:pt x="349402" y="42799"/>
                </a:lnTo>
                <a:lnTo>
                  <a:pt x="295300" y="42799"/>
                </a:lnTo>
                <a:lnTo>
                  <a:pt x="295300" y="33274"/>
                </a:lnTo>
                <a:lnTo>
                  <a:pt x="349148" y="33274"/>
                </a:lnTo>
                <a:lnTo>
                  <a:pt x="282600" y="0"/>
                </a:lnTo>
                <a:close/>
              </a:path>
              <a:path w="359409" h="76200">
                <a:moveTo>
                  <a:pt x="28260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82600" y="42799"/>
                </a:lnTo>
                <a:lnTo>
                  <a:pt x="282600" y="33274"/>
                </a:lnTo>
                <a:close/>
              </a:path>
              <a:path w="359409" h="76200">
                <a:moveTo>
                  <a:pt x="349148" y="33274"/>
                </a:moveTo>
                <a:lnTo>
                  <a:pt x="295300" y="33274"/>
                </a:lnTo>
                <a:lnTo>
                  <a:pt x="295300" y="42799"/>
                </a:lnTo>
                <a:lnTo>
                  <a:pt x="349402" y="42799"/>
                </a:lnTo>
                <a:lnTo>
                  <a:pt x="358800" y="38100"/>
                </a:lnTo>
                <a:lnTo>
                  <a:pt x="349148" y="332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Sorting</a:t>
            </a:r>
            <a:r>
              <a:rPr spc="-70" dirty="0"/>
              <a:t> </a:t>
            </a:r>
            <a:r>
              <a:rPr dirty="0"/>
              <a:t>the files</a:t>
            </a:r>
            <a:r>
              <a:rPr spc="-55" dirty="0"/>
              <a:t> </a:t>
            </a:r>
            <a:r>
              <a:rPr spc="-10" dirty="0"/>
              <a:t>helps!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0382" y="1328779"/>
          <a:ext cx="6531607" cy="2552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5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7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5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891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223779899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223845972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5"/>
                        </a:lnSpc>
                      </a:pPr>
                      <a:r>
                        <a:rPr sz="14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44885903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44951306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128934731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128943399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43403061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43510728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7661779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3175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7687550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chr17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29566052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29573157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24077433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24085861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34704290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34713439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6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45372563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45407889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31750" marR="317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chr20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46684365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8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46689779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 marL="31750" marR="3175">
                        <a:lnSpc>
                          <a:spcPts val="1550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3175">
                        <a:lnSpc>
                          <a:spcPts val="1345"/>
                        </a:lnSpc>
                      </a:pPr>
                      <a:r>
                        <a:rPr sz="1400" spc="-20" dirty="0">
                          <a:latin typeface="Consolas"/>
                          <a:cs typeface="Consolas"/>
                        </a:rPr>
                        <a:t>chr8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94925972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34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94949411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09537" y="1624075"/>
            <a:ext cx="359410" cy="76200"/>
          </a:xfrm>
          <a:custGeom>
            <a:avLst/>
            <a:gdLst/>
            <a:ahLst/>
            <a:cxnLst/>
            <a:rect l="l" t="t" r="r" b="b"/>
            <a:pathLst>
              <a:path w="359409" h="76200">
                <a:moveTo>
                  <a:pt x="282600" y="0"/>
                </a:moveTo>
                <a:lnTo>
                  <a:pt x="282600" y="76200"/>
                </a:lnTo>
                <a:lnTo>
                  <a:pt x="349402" y="42799"/>
                </a:lnTo>
                <a:lnTo>
                  <a:pt x="295300" y="42799"/>
                </a:lnTo>
                <a:lnTo>
                  <a:pt x="295300" y="33274"/>
                </a:lnTo>
                <a:lnTo>
                  <a:pt x="349148" y="33274"/>
                </a:lnTo>
                <a:lnTo>
                  <a:pt x="282600" y="0"/>
                </a:lnTo>
                <a:close/>
              </a:path>
              <a:path w="359409" h="76200">
                <a:moveTo>
                  <a:pt x="28260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82600" y="42799"/>
                </a:lnTo>
                <a:lnTo>
                  <a:pt x="282600" y="33274"/>
                </a:lnTo>
                <a:close/>
              </a:path>
              <a:path w="359409" h="76200">
                <a:moveTo>
                  <a:pt x="349148" y="33274"/>
                </a:moveTo>
                <a:lnTo>
                  <a:pt x="295300" y="33274"/>
                </a:lnTo>
                <a:lnTo>
                  <a:pt x="295300" y="42799"/>
                </a:lnTo>
                <a:lnTo>
                  <a:pt x="349402" y="42799"/>
                </a:lnTo>
                <a:lnTo>
                  <a:pt x="358800" y="38100"/>
                </a:lnTo>
                <a:lnTo>
                  <a:pt x="349148" y="332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3862323" y="1595500"/>
            <a:ext cx="359410" cy="76200"/>
          </a:xfrm>
          <a:custGeom>
            <a:avLst/>
            <a:gdLst/>
            <a:ahLst/>
            <a:cxnLst/>
            <a:rect l="l" t="t" r="r" b="b"/>
            <a:pathLst>
              <a:path w="359410" h="76200">
                <a:moveTo>
                  <a:pt x="282701" y="0"/>
                </a:moveTo>
                <a:lnTo>
                  <a:pt x="282701" y="76200"/>
                </a:lnTo>
                <a:lnTo>
                  <a:pt x="349503" y="42799"/>
                </a:lnTo>
                <a:lnTo>
                  <a:pt x="295401" y="42799"/>
                </a:lnTo>
                <a:lnTo>
                  <a:pt x="295401" y="33274"/>
                </a:lnTo>
                <a:lnTo>
                  <a:pt x="349250" y="33274"/>
                </a:lnTo>
                <a:lnTo>
                  <a:pt x="282701" y="0"/>
                </a:lnTo>
                <a:close/>
              </a:path>
              <a:path w="359410" h="76200">
                <a:moveTo>
                  <a:pt x="282701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82701" y="42799"/>
                </a:lnTo>
                <a:lnTo>
                  <a:pt x="282701" y="33274"/>
                </a:lnTo>
                <a:close/>
              </a:path>
              <a:path w="359410" h="76200">
                <a:moveTo>
                  <a:pt x="349250" y="33274"/>
                </a:moveTo>
                <a:lnTo>
                  <a:pt x="295401" y="33274"/>
                </a:lnTo>
                <a:lnTo>
                  <a:pt x="295401" y="42799"/>
                </a:lnTo>
                <a:lnTo>
                  <a:pt x="349503" y="42799"/>
                </a:lnTo>
                <a:lnTo>
                  <a:pt x="358901" y="38100"/>
                </a:lnTo>
                <a:lnTo>
                  <a:pt x="349250" y="33274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27;p63">
            <a:extLst>
              <a:ext uri="{FF2B5EF4-FFF2-40B4-BE49-F238E27FC236}">
                <a16:creationId xmlns:a16="http://schemas.microsoft.com/office/drawing/2014/main" id="{CB87ADD4-EA4F-71EF-9891-1A7C425D84E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541" y="287634"/>
            <a:ext cx="4279116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635;p64">
            <a:extLst>
              <a:ext uri="{FF2B5EF4-FFF2-40B4-BE49-F238E27FC236}">
                <a16:creationId xmlns:a16="http://schemas.microsoft.com/office/drawing/2014/main" id="{A1126259-1320-09AE-8FCE-D136E5E2B8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9926"/>
          <a:stretch/>
        </p:blipFill>
        <p:spPr>
          <a:xfrm>
            <a:off x="4583723" y="742950"/>
            <a:ext cx="4255670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5A1D2C4A-7689-3E84-414E-513AC2877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2252" y="194246"/>
            <a:ext cx="8659494" cy="4629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lang="en-US" dirty="0"/>
              <a:t>Data….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1106364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116" y="72571"/>
            <a:ext cx="8915400" cy="91122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254"/>
              </a:spcBef>
            </a:pPr>
            <a:r>
              <a:rPr dirty="0"/>
              <a:t>Genome</a:t>
            </a:r>
            <a:r>
              <a:rPr spc="-35" dirty="0"/>
              <a:t> </a:t>
            </a:r>
            <a:r>
              <a:rPr dirty="0"/>
              <a:t>arithmetic</a:t>
            </a:r>
            <a:r>
              <a:rPr spc="-20" dirty="0"/>
              <a:t> </a:t>
            </a:r>
            <a:r>
              <a:rPr dirty="0"/>
              <a:t>depends</a:t>
            </a:r>
            <a:r>
              <a:rPr spc="-20" dirty="0"/>
              <a:t> </a:t>
            </a:r>
            <a:r>
              <a:rPr dirty="0"/>
              <a:t>upon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genome</a:t>
            </a:r>
            <a:r>
              <a:rPr lang="en-US" spc="-10" dirty="0"/>
              <a:t> and the </a:t>
            </a:r>
            <a:r>
              <a:rPr spc="-10" dirty="0"/>
              <a:t> </a:t>
            </a:r>
            <a:r>
              <a:rPr dirty="0"/>
              <a:t>coordinate</a:t>
            </a:r>
            <a:r>
              <a:rPr spc="-60" dirty="0"/>
              <a:t> </a:t>
            </a:r>
            <a:r>
              <a:rPr spc="-10" dirty="0"/>
              <a:t>system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47749" y="2141092"/>
            <a:ext cx="7331709" cy="255270"/>
            <a:chOff x="1547749" y="2141092"/>
            <a:chExt cx="7331709" cy="255270"/>
          </a:xfrm>
        </p:grpSpPr>
        <p:sp>
          <p:nvSpPr>
            <p:cNvPr id="4" name="object 4"/>
            <p:cNvSpPr/>
            <p:nvPr/>
          </p:nvSpPr>
          <p:spPr>
            <a:xfrm>
              <a:off x="1547749" y="2141092"/>
              <a:ext cx="7331709" cy="190500"/>
            </a:xfrm>
            <a:custGeom>
              <a:avLst/>
              <a:gdLst/>
              <a:ahLst/>
              <a:cxnLst/>
              <a:rect l="l" t="t" r="r" b="b"/>
              <a:pathLst>
                <a:path w="7331709" h="190500">
                  <a:moveTo>
                    <a:pt x="7141464" y="0"/>
                  </a:moveTo>
                  <a:lnTo>
                    <a:pt x="7141361" y="51181"/>
                  </a:lnTo>
                  <a:lnTo>
                    <a:pt x="7141336" y="63626"/>
                  </a:lnTo>
                  <a:lnTo>
                    <a:pt x="7141209" y="127126"/>
                  </a:lnTo>
                  <a:lnTo>
                    <a:pt x="7141083" y="190500"/>
                  </a:lnTo>
                  <a:lnTo>
                    <a:pt x="7268422" y="127126"/>
                  </a:lnTo>
                  <a:lnTo>
                    <a:pt x="7172959" y="127126"/>
                  </a:lnTo>
                  <a:lnTo>
                    <a:pt x="7173086" y="63626"/>
                  </a:lnTo>
                  <a:lnTo>
                    <a:pt x="7268042" y="63626"/>
                  </a:lnTo>
                  <a:lnTo>
                    <a:pt x="7141464" y="0"/>
                  </a:lnTo>
                  <a:close/>
                </a:path>
                <a:path w="7331709" h="190500">
                  <a:moveTo>
                    <a:pt x="126" y="51181"/>
                  </a:moveTo>
                  <a:lnTo>
                    <a:pt x="0" y="114681"/>
                  </a:lnTo>
                  <a:lnTo>
                    <a:pt x="7172960" y="127126"/>
                  </a:lnTo>
                  <a:lnTo>
                    <a:pt x="7141209" y="127126"/>
                  </a:lnTo>
                  <a:lnTo>
                    <a:pt x="7141336" y="63626"/>
                  </a:lnTo>
                  <a:lnTo>
                    <a:pt x="7173087" y="63626"/>
                  </a:lnTo>
                  <a:lnTo>
                    <a:pt x="126" y="51181"/>
                  </a:lnTo>
                  <a:close/>
                </a:path>
                <a:path w="7331709" h="190500">
                  <a:moveTo>
                    <a:pt x="7268042" y="63626"/>
                  </a:moveTo>
                  <a:lnTo>
                    <a:pt x="7173086" y="63626"/>
                  </a:lnTo>
                  <a:lnTo>
                    <a:pt x="7172959" y="127126"/>
                  </a:lnTo>
                  <a:lnTo>
                    <a:pt x="7268422" y="127126"/>
                  </a:lnTo>
                  <a:lnTo>
                    <a:pt x="7331709" y="95631"/>
                  </a:lnTo>
                  <a:lnTo>
                    <a:pt x="7268042" y="63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2481199" y="2214625"/>
              <a:ext cx="3667760" cy="156210"/>
            </a:xfrm>
            <a:custGeom>
              <a:avLst/>
              <a:gdLst/>
              <a:ahLst/>
              <a:cxnLst/>
              <a:rect l="l" t="t" r="r" b="b"/>
              <a:pathLst>
                <a:path w="3667760" h="156210">
                  <a:moveTo>
                    <a:pt x="126" y="146304"/>
                  </a:moveTo>
                  <a:lnTo>
                    <a:pt x="0" y="9525"/>
                  </a:lnTo>
                </a:path>
                <a:path w="3667760" h="156210">
                  <a:moveTo>
                    <a:pt x="914526" y="146304"/>
                  </a:moveTo>
                  <a:lnTo>
                    <a:pt x="914400" y="9525"/>
                  </a:lnTo>
                </a:path>
                <a:path w="3667760" h="156210">
                  <a:moveTo>
                    <a:pt x="1819402" y="136779"/>
                  </a:moveTo>
                  <a:lnTo>
                    <a:pt x="1819275" y="0"/>
                  </a:lnTo>
                </a:path>
                <a:path w="3667760" h="156210">
                  <a:moveTo>
                    <a:pt x="2743327" y="155829"/>
                  </a:moveTo>
                  <a:lnTo>
                    <a:pt x="2743200" y="19050"/>
                  </a:lnTo>
                </a:path>
                <a:path w="3667760" h="156210">
                  <a:moveTo>
                    <a:pt x="3667252" y="146304"/>
                  </a:moveTo>
                  <a:lnTo>
                    <a:pt x="3667125" y="9525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86535" y="1659254"/>
            <a:ext cx="6733540" cy="11061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spc="-10" dirty="0">
                <a:latin typeface="Consolas"/>
                <a:cs typeface="Consolas"/>
              </a:rPr>
              <a:t>CAGTCGACATAGACTGATATGACACCACACTGAG...</a:t>
            </a:r>
            <a:endParaRPr sz="2600" dirty="0">
              <a:latin typeface="Consolas"/>
              <a:cs typeface="Consolas"/>
            </a:endParaRPr>
          </a:p>
          <a:p>
            <a:pPr marL="17145">
              <a:lnSpc>
                <a:spcPct val="100000"/>
              </a:lnSpc>
              <a:spcBef>
                <a:spcPts val="2115"/>
              </a:spcBef>
              <a:tabLst>
                <a:tab pos="907415" algn="l"/>
                <a:tab pos="1736725" algn="l"/>
                <a:tab pos="2658745" algn="l"/>
                <a:tab pos="3560445" algn="l"/>
                <a:tab pos="4486910" algn="l"/>
              </a:tabLst>
            </a:pPr>
            <a:r>
              <a:rPr sz="4050" spc="-75" baseline="2057" dirty="0">
                <a:latin typeface="Calibri"/>
                <a:cs typeface="Calibri"/>
              </a:rPr>
              <a:t>0</a:t>
            </a:r>
            <a:r>
              <a:rPr sz="4050" baseline="2057" dirty="0">
                <a:latin typeface="Calibri"/>
                <a:cs typeface="Calibri"/>
              </a:rPr>
              <a:t>	</a:t>
            </a:r>
            <a:r>
              <a:rPr sz="4050" spc="-75" baseline="2057" dirty="0">
                <a:latin typeface="Calibri"/>
                <a:cs typeface="Calibri"/>
              </a:rPr>
              <a:t>5</a:t>
            </a:r>
            <a:r>
              <a:rPr sz="4050" baseline="2057" dirty="0">
                <a:latin typeface="Calibri"/>
                <a:cs typeface="Calibri"/>
              </a:rPr>
              <a:t>	</a:t>
            </a:r>
            <a:r>
              <a:rPr sz="4050" spc="-37" baseline="3086" dirty="0">
                <a:latin typeface="Calibri"/>
                <a:cs typeface="Calibri"/>
              </a:rPr>
              <a:t>10</a:t>
            </a:r>
            <a:r>
              <a:rPr sz="4050" baseline="3086" dirty="0">
                <a:latin typeface="Calibri"/>
                <a:cs typeface="Calibri"/>
              </a:rPr>
              <a:t>	</a:t>
            </a:r>
            <a:r>
              <a:rPr sz="4050" spc="-37" baseline="3086" dirty="0">
                <a:latin typeface="Calibri"/>
                <a:cs typeface="Calibri"/>
              </a:rPr>
              <a:t>15</a:t>
            </a:r>
            <a:r>
              <a:rPr sz="4050" baseline="3086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20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4050" spc="-37" baseline="2057" dirty="0">
                <a:latin typeface="Calibri"/>
                <a:cs typeface="Calibri"/>
              </a:rPr>
              <a:t>25</a:t>
            </a:r>
            <a:endParaRPr sz="4050" baseline="2057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9402" y="2047239"/>
            <a:ext cx="64706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20" dirty="0">
                <a:latin typeface="Calibri"/>
                <a:cs typeface="Calibri"/>
              </a:rPr>
              <a:t>chr3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66799" y="2224151"/>
            <a:ext cx="635" cy="137160"/>
          </a:xfrm>
          <a:custGeom>
            <a:avLst/>
            <a:gdLst/>
            <a:ahLst/>
            <a:cxnLst/>
            <a:rect l="l" t="t" r="r" b="b"/>
            <a:pathLst>
              <a:path w="634" h="137160">
                <a:moveTo>
                  <a:pt x="126" y="136779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1471675" y="1338325"/>
            <a:ext cx="1148080" cy="0"/>
          </a:xfrm>
          <a:custGeom>
            <a:avLst/>
            <a:gdLst/>
            <a:ahLst/>
            <a:cxnLst/>
            <a:rect l="l" t="t" r="r" b="b"/>
            <a:pathLst>
              <a:path w="1148080">
                <a:moveTo>
                  <a:pt x="0" y="0"/>
                </a:moveTo>
                <a:lnTo>
                  <a:pt x="1148080" y="0"/>
                </a:lnTo>
              </a:path>
            </a:pathLst>
          </a:custGeom>
          <a:ln w="28575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139185" y="3512421"/>
          <a:ext cx="2755263" cy="763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9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635">
                <a:tc>
                  <a:txBody>
                    <a:bodyPr/>
                    <a:lstStyle/>
                    <a:p>
                      <a:pPr marL="31750">
                        <a:lnSpc>
                          <a:spcPts val="2265"/>
                        </a:lnSpc>
                      </a:pPr>
                      <a:r>
                        <a:rPr sz="2400" spc="-20" dirty="0">
                          <a:solidFill>
                            <a:srgbClr val="38761D"/>
                          </a:solidFill>
                          <a:latin typeface="Consolas"/>
                          <a:cs typeface="Consolas"/>
                        </a:rPr>
                        <a:t>chr3</a:t>
                      </a:r>
                      <a:endParaRPr sz="2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7470" algn="ctr">
                        <a:lnSpc>
                          <a:spcPts val="2265"/>
                        </a:lnSpc>
                      </a:pPr>
                      <a:r>
                        <a:rPr sz="2400" spc="-50" dirty="0">
                          <a:solidFill>
                            <a:srgbClr val="38761D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sz="2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0370">
                        <a:lnSpc>
                          <a:spcPts val="2265"/>
                        </a:lnSpc>
                      </a:pPr>
                      <a:r>
                        <a:rPr sz="2400" spc="-50" dirty="0">
                          <a:solidFill>
                            <a:srgbClr val="38761D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2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35">
                <a:tc>
                  <a:txBody>
                    <a:bodyPr/>
                    <a:lstStyle/>
                    <a:p>
                      <a:pPr marL="31750">
                        <a:lnSpc>
                          <a:spcPts val="2865"/>
                        </a:lnSpc>
                      </a:pPr>
                      <a:r>
                        <a:rPr sz="2400" spc="-20" dirty="0">
                          <a:solidFill>
                            <a:srgbClr val="38761D"/>
                          </a:solidFill>
                          <a:latin typeface="Consolas"/>
                          <a:cs typeface="Consolas"/>
                        </a:rPr>
                        <a:t>chr3</a:t>
                      </a:r>
                      <a:endParaRPr sz="2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7470" algn="ctr">
                        <a:lnSpc>
                          <a:spcPts val="2865"/>
                        </a:lnSpc>
                      </a:pPr>
                      <a:r>
                        <a:rPr sz="2400" spc="-50" dirty="0">
                          <a:solidFill>
                            <a:srgbClr val="38761D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2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0370">
                        <a:lnSpc>
                          <a:spcPts val="2865"/>
                        </a:lnSpc>
                      </a:pPr>
                      <a:r>
                        <a:rPr sz="2400" spc="-25" dirty="0">
                          <a:solidFill>
                            <a:srgbClr val="38761D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endParaRPr sz="24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2214626" y="1605025"/>
            <a:ext cx="1102360" cy="0"/>
          </a:xfrm>
          <a:custGeom>
            <a:avLst/>
            <a:gdLst/>
            <a:ahLst/>
            <a:cxnLst/>
            <a:rect l="l" t="t" r="r" b="b"/>
            <a:pathLst>
              <a:path w="1102360">
                <a:moveTo>
                  <a:pt x="0" y="0"/>
                </a:moveTo>
                <a:lnTo>
                  <a:pt x="1101852" y="0"/>
                </a:lnTo>
              </a:path>
            </a:pathLst>
          </a:custGeom>
          <a:ln w="28575">
            <a:solidFill>
              <a:srgbClr val="38761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D32820-F6B6-1D1D-29DA-9441A9AF5CC1}"/>
              </a:ext>
            </a:extLst>
          </p:cNvPr>
          <p:cNvSpPr txBox="1"/>
          <p:nvPr/>
        </p:nvSpPr>
        <p:spPr>
          <a:xfrm>
            <a:off x="2490635" y="1047750"/>
            <a:ext cx="260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37AA4F-294C-BC0A-80F2-E86A7F057343}"/>
              </a:ext>
            </a:extLst>
          </p:cNvPr>
          <p:cNvSpPr txBox="1"/>
          <p:nvPr/>
        </p:nvSpPr>
        <p:spPr>
          <a:xfrm>
            <a:off x="1340303" y="1036382"/>
            <a:ext cx="204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09187A-6BB2-23D9-BDF3-6FAA38C09ED4}"/>
              </a:ext>
            </a:extLst>
          </p:cNvPr>
          <p:cNvSpPr txBox="1"/>
          <p:nvPr/>
        </p:nvSpPr>
        <p:spPr>
          <a:xfrm>
            <a:off x="2056360" y="1289922"/>
            <a:ext cx="204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D8487B-B0B7-3A6C-E10B-EC6F5175EB9D}"/>
              </a:ext>
            </a:extLst>
          </p:cNvPr>
          <p:cNvSpPr txBox="1"/>
          <p:nvPr/>
        </p:nvSpPr>
        <p:spPr>
          <a:xfrm>
            <a:off x="3124200" y="1288018"/>
            <a:ext cx="481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015" y="107949"/>
            <a:ext cx="590550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dirty="0"/>
              <a:t>Genomic</a:t>
            </a:r>
            <a:r>
              <a:rPr sz="2850" spc="15" dirty="0"/>
              <a:t> </a:t>
            </a:r>
            <a:r>
              <a:rPr sz="2850" dirty="0"/>
              <a:t>coordinates</a:t>
            </a:r>
            <a:r>
              <a:rPr sz="2850" spc="-10" dirty="0"/>
              <a:t> </a:t>
            </a:r>
            <a:r>
              <a:rPr sz="2850" dirty="0"/>
              <a:t>–</a:t>
            </a:r>
            <a:r>
              <a:rPr sz="2850" spc="-20" dirty="0"/>
              <a:t> </a:t>
            </a:r>
            <a:r>
              <a:rPr sz="2850" dirty="0"/>
              <a:t>1</a:t>
            </a:r>
            <a:r>
              <a:rPr sz="2850" spc="10" dirty="0"/>
              <a:t> </a:t>
            </a:r>
            <a:r>
              <a:rPr sz="2850" dirty="0"/>
              <a:t>vs</a:t>
            </a:r>
            <a:r>
              <a:rPr sz="2850" spc="-65" dirty="0"/>
              <a:t> </a:t>
            </a:r>
            <a:r>
              <a:rPr sz="2850" dirty="0"/>
              <a:t>0</a:t>
            </a:r>
            <a:r>
              <a:rPr sz="2850" spc="5" dirty="0"/>
              <a:t> </a:t>
            </a:r>
            <a:r>
              <a:rPr sz="2850" spc="-10" dirty="0"/>
              <a:t>based</a:t>
            </a:r>
            <a:endParaRPr sz="285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71841" y="2160777"/>
          <a:ext cx="6657339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4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1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1-based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0-based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Indicate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single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nucleotide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chr1:4-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400" spc="16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G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chr1:3-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400" spc="17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G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Indicate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range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nucleotides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chr1:2-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400" spc="16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ACG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chr1:1-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400" spc="17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ACG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Indicate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single nucleotide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variant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chr1:5-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16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T/A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chr1:4-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17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T/A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665985" y="1034541"/>
            <a:ext cx="0" cy="620395"/>
          </a:xfrm>
          <a:custGeom>
            <a:avLst/>
            <a:gdLst/>
            <a:ahLst/>
            <a:cxnLst/>
            <a:rect l="l" t="t" r="r" b="b"/>
            <a:pathLst>
              <a:path h="620394">
                <a:moveTo>
                  <a:pt x="0" y="0"/>
                </a:moveTo>
                <a:lnTo>
                  <a:pt x="0" y="62039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2125217" y="1034541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14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2584323" y="1034541"/>
            <a:ext cx="0" cy="620395"/>
          </a:xfrm>
          <a:custGeom>
            <a:avLst/>
            <a:gdLst/>
            <a:ahLst/>
            <a:cxnLst/>
            <a:rect l="l" t="t" r="r" b="b"/>
            <a:pathLst>
              <a:path h="620394">
                <a:moveTo>
                  <a:pt x="0" y="0"/>
                </a:moveTo>
                <a:lnTo>
                  <a:pt x="0" y="62039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3043554" y="1034541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14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502659" y="1034541"/>
            <a:ext cx="0" cy="620395"/>
          </a:xfrm>
          <a:custGeom>
            <a:avLst/>
            <a:gdLst/>
            <a:ahLst/>
            <a:cxnLst/>
            <a:rect l="l" t="t" r="r" b="b"/>
            <a:pathLst>
              <a:path h="620394">
                <a:moveTo>
                  <a:pt x="0" y="0"/>
                </a:moveTo>
                <a:lnTo>
                  <a:pt x="0" y="62039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961891" y="1034541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14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4420996" y="1034541"/>
            <a:ext cx="0" cy="620395"/>
          </a:xfrm>
          <a:custGeom>
            <a:avLst/>
            <a:gdLst/>
            <a:ahLst/>
            <a:cxnLst/>
            <a:rect l="l" t="t" r="r" b="b"/>
            <a:pathLst>
              <a:path h="620394">
                <a:moveTo>
                  <a:pt x="0" y="0"/>
                </a:moveTo>
                <a:lnTo>
                  <a:pt x="0" y="62039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4880228" y="1034541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14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5339460" y="1034541"/>
            <a:ext cx="0" cy="620395"/>
          </a:xfrm>
          <a:custGeom>
            <a:avLst/>
            <a:gdLst/>
            <a:ahLst/>
            <a:cxnLst/>
            <a:rect l="l" t="t" r="r" b="b"/>
            <a:pathLst>
              <a:path h="620394">
                <a:moveTo>
                  <a:pt x="0" y="0"/>
                </a:moveTo>
                <a:lnTo>
                  <a:pt x="0" y="62039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5798565" y="1034541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14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6257797" y="1034541"/>
            <a:ext cx="0" cy="620395"/>
          </a:xfrm>
          <a:custGeom>
            <a:avLst/>
            <a:gdLst/>
            <a:ahLst/>
            <a:cxnLst/>
            <a:rect l="l" t="t" r="r" b="b"/>
            <a:pathLst>
              <a:path h="620394">
                <a:moveTo>
                  <a:pt x="0" y="0"/>
                </a:moveTo>
                <a:lnTo>
                  <a:pt x="0" y="62039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6716903" y="1034541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14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7176134" y="1034541"/>
            <a:ext cx="0" cy="620395"/>
          </a:xfrm>
          <a:custGeom>
            <a:avLst/>
            <a:gdLst/>
            <a:ahLst/>
            <a:cxnLst/>
            <a:rect l="l" t="t" r="r" b="b"/>
            <a:pathLst>
              <a:path h="620394">
                <a:moveTo>
                  <a:pt x="0" y="0"/>
                </a:moveTo>
                <a:lnTo>
                  <a:pt x="0" y="62039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7635240" y="1034541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14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8094471" y="1034541"/>
            <a:ext cx="0" cy="620395"/>
          </a:xfrm>
          <a:custGeom>
            <a:avLst/>
            <a:gdLst/>
            <a:ahLst/>
            <a:cxnLst/>
            <a:rect l="l" t="t" r="r" b="b"/>
            <a:pathLst>
              <a:path h="620394">
                <a:moveTo>
                  <a:pt x="0" y="0"/>
                </a:moveTo>
                <a:lnTo>
                  <a:pt x="0" y="62039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61315" y="765238"/>
          <a:ext cx="7832086" cy="1188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8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24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13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62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marL="407670">
                        <a:lnSpc>
                          <a:spcPts val="1639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chr1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8275" algn="r">
                        <a:lnSpc>
                          <a:spcPts val="1639"/>
                        </a:lnSpc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T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ts val="1639"/>
                        </a:lnSpc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A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0" algn="r">
                        <a:lnSpc>
                          <a:spcPts val="1639"/>
                        </a:lnSpc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C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9385" algn="r">
                        <a:lnSpc>
                          <a:spcPts val="1639"/>
                        </a:lnSpc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G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7640" algn="r">
                        <a:lnSpc>
                          <a:spcPts val="1639"/>
                        </a:lnSpc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T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0" algn="r">
                        <a:lnSpc>
                          <a:spcPts val="1639"/>
                        </a:lnSpc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C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40335" algn="ctr">
                        <a:lnSpc>
                          <a:spcPts val="1639"/>
                        </a:lnSpc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A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1-based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6637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1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7018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2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6764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3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4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6637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5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6764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6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1403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7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31750">
                        <a:lnSpc>
                          <a:spcPts val="2030"/>
                        </a:lnSpc>
                        <a:spcBef>
                          <a:spcPts val="58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0-based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2030"/>
                        </a:lnSpc>
                        <a:spcBef>
                          <a:spcPts val="580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0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2030"/>
                        </a:lnSpc>
                        <a:spcBef>
                          <a:spcPts val="580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1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2030"/>
                        </a:lnSpc>
                        <a:spcBef>
                          <a:spcPts val="580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2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030"/>
                        </a:lnSpc>
                        <a:spcBef>
                          <a:spcPts val="580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3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030"/>
                        </a:lnSpc>
                        <a:spcBef>
                          <a:spcPts val="580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4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2030"/>
                        </a:lnSpc>
                        <a:spcBef>
                          <a:spcPts val="580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5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2030"/>
                        </a:lnSpc>
                        <a:spcBef>
                          <a:spcPts val="580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6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30"/>
                        </a:lnSpc>
                        <a:spcBef>
                          <a:spcPts val="580"/>
                        </a:spcBef>
                      </a:pPr>
                      <a:r>
                        <a:rPr sz="1700" spc="-50" dirty="0">
                          <a:latin typeface="Calibri"/>
                          <a:cs typeface="Calibri"/>
                        </a:rPr>
                        <a:t>7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7366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327977" y="3483673"/>
            <a:ext cx="8225790" cy="15811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14960" marR="5080" indent="-302895">
              <a:lnSpc>
                <a:spcPct val="81600"/>
              </a:lnSpc>
              <a:spcBef>
                <a:spcPts val="500"/>
              </a:spcBef>
              <a:buFont typeface="Arial MT"/>
              <a:buChar char="•"/>
              <a:tabLst>
                <a:tab pos="314960" algn="l"/>
              </a:tabLst>
            </a:pPr>
            <a:r>
              <a:rPr sz="1700" spc="-10" dirty="0">
                <a:latin typeface="Calibri"/>
                <a:cs typeface="Calibri"/>
              </a:rPr>
              <a:t>1-</a:t>
            </a:r>
            <a:r>
              <a:rPr sz="1700" dirty="0">
                <a:latin typeface="Calibri"/>
                <a:cs typeface="Calibri"/>
              </a:rPr>
              <a:t>based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: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Single nucleotides, variant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positions,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ranges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 specified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directly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their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corresponding </a:t>
            </a:r>
            <a:r>
              <a:rPr sz="1500" dirty="0">
                <a:latin typeface="Calibri"/>
                <a:cs typeface="Calibri"/>
              </a:rPr>
              <a:t>nucleotide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numbers</a:t>
            </a:r>
            <a:endParaRPr sz="1500" dirty="0">
              <a:latin typeface="Calibri"/>
              <a:cs typeface="Calibri"/>
            </a:endParaRPr>
          </a:p>
          <a:p>
            <a:pPr marL="715010" lvl="1" indent="-249554">
              <a:lnSpc>
                <a:spcPct val="100000"/>
              </a:lnSpc>
              <a:spcBef>
                <a:spcPts val="80"/>
              </a:spcBef>
              <a:buFont typeface="Arial MT"/>
              <a:buChar char="–"/>
              <a:tabLst>
                <a:tab pos="715010" algn="l"/>
              </a:tabLst>
            </a:pPr>
            <a:r>
              <a:rPr sz="1500" dirty="0">
                <a:latin typeface="Calibri"/>
                <a:cs typeface="Calibri"/>
              </a:rPr>
              <a:t>GFF,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SAM,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VCF,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Ensembl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browser,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…</a:t>
            </a:r>
            <a:endParaRPr sz="15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75"/>
              </a:spcBef>
              <a:buFont typeface="Arial MT"/>
              <a:buChar char="–"/>
            </a:pPr>
            <a:endParaRPr sz="1500" dirty="0">
              <a:latin typeface="Calibri"/>
              <a:cs typeface="Calibri"/>
            </a:endParaRPr>
          </a:p>
          <a:p>
            <a:pPr marL="314960" marR="209550" indent="-302895">
              <a:lnSpc>
                <a:spcPct val="81700"/>
              </a:lnSpc>
              <a:buFont typeface="Arial MT"/>
              <a:buChar char="•"/>
              <a:tabLst>
                <a:tab pos="314960" algn="l"/>
              </a:tabLst>
            </a:pPr>
            <a:r>
              <a:rPr sz="1700" spc="-10" dirty="0">
                <a:latin typeface="Calibri"/>
                <a:cs typeface="Calibri"/>
              </a:rPr>
              <a:t>0-</a:t>
            </a:r>
            <a:r>
              <a:rPr sz="1700" dirty="0">
                <a:latin typeface="Calibri"/>
                <a:cs typeface="Calibri"/>
              </a:rPr>
              <a:t>based: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Single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nucleotides,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variant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positions,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ranges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specified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coordinates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that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flank </a:t>
            </a:r>
            <a:r>
              <a:rPr sz="1500" spc="-20" dirty="0">
                <a:latin typeface="Calibri"/>
                <a:cs typeface="Calibri"/>
              </a:rPr>
              <a:t>them</a:t>
            </a:r>
            <a:endParaRPr sz="1500" dirty="0">
              <a:latin typeface="Calibri"/>
              <a:cs typeface="Calibri"/>
            </a:endParaRPr>
          </a:p>
          <a:p>
            <a:pPr marL="715010" lvl="1" indent="-249554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15010" algn="l"/>
              </a:tabLst>
            </a:pPr>
            <a:r>
              <a:rPr sz="1500" dirty="0">
                <a:latin typeface="Calibri"/>
                <a:cs typeface="Calibri"/>
              </a:rPr>
              <a:t>BED,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BAM, UCSC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browser,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…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0555" y="23113"/>
            <a:ext cx="275463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Genome</a:t>
            </a:r>
            <a:r>
              <a:rPr sz="3200" spc="-55" dirty="0"/>
              <a:t> </a:t>
            </a:r>
            <a:r>
              <a:rPr sz="3200" spc="-10" dirty="0"/>
              <a:t>builds</a:t>
            </a:r>
            <a:endParaRPr sz="32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7275" y="1457325"/>
            <a:ext cx="4019550" cy="1533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19471" y="2956496"/>
            <a:ext cx="11760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Calibri"/>
                <a:cs typeface="Calibri"/>
              </a:rPr>
              <a:t>Human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GRCh38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9471" y="2403538"/>
            <a:ext cx="9563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Calibri"/>
                <a:cs typeface="Calibri"/>
              </a:rPr>
              <a:t>Human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hg19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9471" y="1691322"/>
            <a:ext cx="10325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Calibri"/>
                <a:cs typeface="Calibri"/>
              </a:rPr>
              <a:t>Mouse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mm10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902" y="917193"/>
            <a:ext cx="287972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dirty="0">
                <a:latin typeface="Calibri"/>
                <a:cs typeface="Calibri"/>
              </a:rPr>
              <a:t>Reference</a:t>
            </a:r>
            <a:r>
              <a:rPr sz="2100" b="1" spc="-8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Genome</a:t>
            </a:r>
            <a:r>
              <a:rPr sz="2100" b="1" spc="-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builds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02" y="1566481"/>
            <a:ext cx="319913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dirty="0">
                <a:latin typeface="Calibri"/>
                <a:cs typeface="Calibri"/>
              </a:rPr>
              <a:t>Current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human:</a:t>
            </a:r>
            <a:r>
              <a:rPr sz="1700" spc="3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GRCh38,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hg38,</a:t>
            </a:r>
            <a:r>
              <a:rPr sz="1700" spc="-9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b38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2902" y="2081847"/>
            <a:ext cx="3757295" cy="5467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035"/>
              </a:lnSpc>
              <a:spcBef>
                <a:spcPts val="125"/>
              </a:spcBef>
            </a:pPr>
            <a:r>
              <a:rPr sz="1700" dirty="0">
                <a:latin typeface="Calibri"/>
                <a:cs typeface="Calibri"/>
              </a:rPr>
              <a:t>alternates:</a:t>
            </a:r>
            <a:r>
              <a:rPr sz="1700" spc="3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GRCh38v2_ccdg,</a:t>
            </a:r>
            <a:endParaRPr sz="1700" dirty="0">
              <a:latin typeface="Calibri"/>
              <a:cs typeface="Calibri"/>
            </a:endParaRPr>
          </a:p>
          <a:p>
            <a:pPr marL="12700">
              <a:lnSpc>
                <a:spcPts val="2035"/>
              </a:lnSpc>
            </a:pPr>
            <a:r>
              <a:rPr sz="1700" spc="-10" dirty="0">
                <a:latin typeface="Calibri"/>
                <a:cs typeface="Calibri"/>
              </a:rPr>
              <a:t>GRCh38_full_analysis_set_plus_decoy_hla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2902" y="2854325"/>
            <a:ext cx="322897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dirty="0">
                <a:latin typeface="Calibri"/>
                <a:cs typeface="Calibri"/>
              </a:rPr>
              <a:t>Previous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human: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GRCh37,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hg19,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b37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2902" y="3379215"/>
            <a:ext cx="2980690" cy="5473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035"/>
              </a:lnSpc>
              <a:spcBef>
                <a:spcPts val="130"/>
              </a:spcBef>
              <a:tabLst>
                <a:tab pos="1529715" algn="l"/>
              </a:tabLst>
            </a:pPr>
            <a:r>
              <a:rPr sz="1700" dirty="0">
                <a:latin typeface="Calibri"/>
                <a:cs typeface="Calibri"/>
              </a:rPr>
              <a:t>Current </a:t>
            </a:r>
            <a:r>
              <a:rPr sz="1700" spc="-10" dirty="0">
                <a:latin typeface="Calibri"/>
                <a:cs typeface="Calibri"/>
              </a:rPr>
              <a:t>mouse:</a:t>
            </a:r>
            <a:r>
              <a:rPr sz="1700" dirty="0">
                <a:latin typeface="Calibri"/>
                <a:cs typeface="Calibri"/>
              </a:rPr>
              <a:t>	GRCm39,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mm39</a:t>
            </a:r>
            <a:endParaRPr sz="1700" dirty="0">
              <a:latin typeface="Calibri"/>
              <a:cs typeface="Calibri"/>
            </a:endParaRPr>
          </a:p>
          <a:p>
            <a:pPr marL="12700">
              <a:lnSpc>
                <a:spcPts val="2035"/>
              </a:lnSpc>
            </a:pPr>
            <a:r>
              <a:rPr sz="1700" dirty="0">
                <a:latin typeface="Calibri"/>
                <a:cs typeface="Calibri"/>
              </a:rPr>
              <a:t>Previous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mouse: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GRCm38,</a:t>
            </a:r>
            <a:r>
              <a:rPr sz="1700" spc="-20" dirty="0">
                <a:latin typeface="Calibri"/>
                <a:cs typeface="Calibri"/>
              </a:rPr>
              <a:t> mm10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2902" y="4419282"/>
            <a:ext cx="445135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dirty="0">
                <a:latin typeface="Calibri"/>
                <a:cs typeface="Calibri"/>
              </a:rPr>
              <a:t>New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human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assembly:</a:t>
            </a:r>
            <a:r>
              <a:rPr sz="1700" spc="434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T2T-</a:t>
            </a:r>
            <a:r>
              <a:rPr sz="1700" dirty="0">
                <a:latin typeface="Calibri"/>
                <a:cs typeface="Calibri"/>
              </a:rPr>
              <a:t>CHM13,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pan-</a:t>
            </a:r>
            <a:r>
              <a:rPr sz="1700" spc="-10" dirty="0">
                <a:latin typeface="Calibri"/>
                <a:cs typeface="Calibri"/>
              </a:rPr>
              <a:t>genomes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66334" y="731138"/>
            <a:ext cx="956944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spc="-10" dirty="0">
                <a:latin typeface="Calibri"/>
                <a:cs typeface="Calibri"/>
              </a:rPr>
              <a:t>Lift-</a:t>
            </a:r>
            <a:r>
              <a:rPr sz="2100" b="1" spc="-20" dirty="0">
                <a:latin typeface="Calibri"/>
                <a:cs typeface="Calibri"/>
              </a:rPr>
              <a:t>over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80126" y="3971925"/>
            <a:ext cx="238887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02590" algn="l"/>
              </a:tabLst>
            </a:pPr>
            <a:r>
              <a:rPr sz="1250" spc="-25" dirty="0">
                <a:solidFill>
                  <a:srgbClr val="585858"/>
                </a:solidFill>
                <a:latin typeface="Courier New"/>
                <a:cs typeface="Courier New"/>
              </a:rPr>
              <a:t>17</a:t>
            </a:r>
            <a:r>
              <a:rPr sz="1250" dirty="0">
                <a:solidFill>
                  <a:srgbClr val="585858"/>
                </a:solidFill>
                <a:latin typeface="Courier New"/>
                <a:cs typeface="Courier New"/>
              </a:rPr>
              <a:t>	7661779</a:t>
            </a:r>
            <a:r>
              <a:rPr sz="1250" spc="190" dirty="0">
                <a:solidFill>
                  <a:srgbClr val="585858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585858"/>
                </a:solidFill>
                <a:latin typeface="Courier New"/>
                <a:cs typeface="Courier New"/>
              </a:rPr>
              <a:t>7687550</a:t>
            </a:r>
            <a:r>
              <a:rPr sz="1250" spc="190" dirty="0">
                <a:solidFill>
                  <a:srgbClr val="585858"/>
                </a:solidFill>
                <a:latin typeface="Courier New"/>
                <a:cs typeface="Courier New"/>
              </a:rPr>
              <a:t> </a:t>
            </a:r>
            <a:r>
              <a:rPr sz="1250" spc="-20" dirty="0">
                <a:solidFill>
                  <a:srgbClr val="585858"/>
                </a:solidFill>
                <a:latin typeface="Courier New"/>
                <a:cs typeface="Courier New"/>
              </a:rPr>
              <a:t>TP53</a:t>
            </a:r>
            <a:endParaRPr sz="1250" dirty="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80126" y="3859593"/>
            <a:ext cx="3247390" cy="74041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15"/>
              </a:spcBef>
            </a:pPr>
            <a:r>
              <a:rPr sz="1500" dirty="0">
                <a:solidFill>
                  <a:srgbClr val="585858"/>
                </a:solidFill>
                <a:latin typeface="Arial MT"/>
                <a:cs typeface="Arial MT"/>
              </a:rPr>
              <a:t>build</a:t>
            </a:r>
            <a:r>
              <a:rPr sz="1500" spc="-3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585858"/>
                </a:solidFill>
                <a:latin typeface="Arial MT"/>
                <a:cs typeface="Arial MT"/>
              </a:rPr>
              <a:t>38</a:t>
            </a:r>
            <a:endParaRPr sz="1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  <a:tabLst>
                <a:tab pos="402590" algn="l"/>
                <a:tab pos="2564130" algn="l"/>
              </a:tabLst>
            </a:pPr>
            <a:r>
              <a:rPr sz="1250" spc="-25" dirty="0">
                <a:solidFill>
                  <a:srgbClr val="585858"/>
                </a:solidFill>
                <a:latin typeface="Courier New"/>
                <a:cs typeface="Courier New"/>
              </a:rPr>
              <a:t>17</a:t>
            </a:r>
            <a:r>
              <a:rPr sz="1250" dirty="0">
                <a:solidFill>
                  <a:srgbClr val="585858"/>
                </a:solidFill>
                <a:latin typeface="Courier New"/>
                <a:cs typeface="Courier New"/>
              </a:rPr>
              <a:t>	7565256</a:t>
            </a:r>
            <a:r>
              <a:rPr sz="1250" spc="190" dirty="0">
                <a:solidFill>
                  <a:srgbClr val="585858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585858"/>
                </a:solidFill>
                <a:latin typeface="Courier New"/>
                <a:cs typeface="Courier New"/>
              </a:rPr>
              <a:t>7590863</a:t>
            </a:r>
            <a:r>
              <a:rPr sz="1250" spc="190" dirty="0">
                <a:solidFill>
                  <a:srgbClr val="585858"/>
                </a:solidFill>
                <a:latin typeface="Courier New"/>
                <a:cs typeface="Courier New"/>
              </a:rPr>
              <a:t> </a:t>
            </a:r>
            <a:r>
              <a:rPr sz="1250" spc="-20" dirty="0">
                <a:solidFill>
                  <a:srgbClr val="585858"/>
                </a:solidFill>
                <a:latin typeface="Courier New"/>
                <a:cs typeface="Courier New"/>
              </a:rPr>
              <a:t>TP53</a:t>
            </a:r>
            <a:r>
              <a:rPr sz="1250" dirty="0">
                <a:solidFill>
                  <a:srgbClr val="585858"/>
                </a:solidFill>
                <a:latin typeface="Courier New"/>
                <a:cs typeface="Courier New"/>
              </a:rPr>
              <a:t>	</a:t>
            </a:r>
            <a:r>
              <a:rPr sz="1500" dirty="0">
                <a:solidFill>
                  <a:srgbClr val="585858"/>
                </a:solidFill>
                <a:latin typeface="Arial MT"/>
                <a:cs typeface="Arial MT"/>
              </a:rPr>
              <a:t>build</a:t>
            </a:r>
            <a:r>
              <a:rPr sz="1500" spc="-3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500" spc="-35" dirty="0">
                <a:solidFill>
                  <a:srgbClr val="585858"/>
                </a:solidFill>
                <a:latin typeface="Arial MT"/>
                <a:cs typeface="Arial MT"/>
              </a:rPr>
              <a:t>37</a:t>
            </a:r>
            <a:endParaRPr sz="15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F9988F-4A10-8378-AAF1-D7AEAD266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177979"/>
            <a:ext cx="8537048" cy="483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930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252" y="194246"/>
            <a:ext cx="8659494" cy="4629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rPr dirty="0"/>
              <a:t>Bedtools:</a:t>
            </a:r>
            <a:r>
              <a:rPr spc="-45" dirty="0"/>
              <a:t> </a:t>
            </a:r>
            <a:r>
              <a:rPr dirty="0"/>
              <a:t>example</a:t>
            </a:r>
            <a:r>
              <a:rPr spc="-30" dirty="0"/>
              <a:t> </a:t>
            </a:r>
            <a:r>
              <a:rPr spc="-10" dirty="0"/>
              <a:t>analyses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4942522"/>
            <a:ext cx="219456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alibri"/>
                <a:cs typeface="Calibri"/>
                <a:hlinkClick r:id="rId2"/>
              </a:rPr>
              <a:t>http://bedtools.readthedocs.io/en/latest/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865" y="1109980"/>
            <a:ext cx="7447915" cy="3096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5"/>
              </a:spcBef>
              <a:buChar char="•"/>
              <a:tabLst>
                <a:tab pos="393700" algn="l"/>
              </a:tabLst>
            </a:pPr>
            <a:r>
              <a:rPr sz="1800" dirty="0">
                <a:latin typeface="Arial MT"/>
                <a:cs typeface="Arial MT"/>
              </a:rPr>
              <a:t>Closest gene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 err="1">
                <a:latin typeface="Arial MT"/>
                <a:cs typeface="Arial MT"/>
              </a:rPr>
              <a:t>ChIP</a:t>
            </a:r>
            <a:r>
              <a:rPr sz="1800" dirty="0">
                <a:latin typeface="Arial MT"/>
                <a:cs typeface="Arial MT"/>
              </a:rPr>
              <a:t>-seq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peak.</a:t>
            </a:r>
            <a:endParaRPr sz="1800" dirty="0">
              <a:latin typeface="Arial MT"/>
              <a:cs typeface="Arial MT"/>
            </a:endParaRPr>
          </a:p>
          <a:p>
            <a:pPr marL="393700" indent="-381000">
              <a:lnSpc>
                <a:spcPct val="100000"/>
              </a:lnSpc>
              <a:spcBef>
                <a:spcPts val="1520"/>
              </a:spcBef>
              <a:buChar char="•"/>
              <a:tabLst>
                <a:tab pos="393700" algn="l"/>
              </a:tabLst>
            </a:pPr>
            <a:r>
              <a:rPr sz="1800" dirty="0">
                <a:latin typeface="Arial MT"/>
                <a:cs typeface="Arial MT"/>
              </a:rPr>
              <a:t>Is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latest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discovery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novel?</a:t>
            </a:r>
            <a:endParaRPr sz="1800" dirty="0">
              <a:latin typeface="Arial MT"/>
              <a:cs typeface="Arial MT"/>
            </a:endParaRPr>
          </a:p>
          <a:p>
            <a:pPr marL="393700" indent="-381000">
              <a:lnSpc>
                <a:spcPct val="100000"/>
              </a:lnSpc>
              <a:spcBef>
                <a:spcPts val="1525"/>
              </a:spcBef>
              <a:buChar char="•"/>
              <a:tabLst>
                <a:tab pos="393700" algn="l"/>
              </a:tabLst>
            </a:pPr>
            <a:r>
              <a:rPr sz="1800" dirty="0">
                <a:latin typeface="Arial MT"/>
                <a:cs typeface="Arial MT"/>
              </a:rPr>
              <a:t>Is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bias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data?</a:t>
            </a:r>
            <a:endParaRPr sz="1800" dirty="0">
              <a:latin typeface="Arial MT"/>
              <a:cs typeface="Arial MT"/>
            </a:endParaRPr>
          </a:p>
          <a:p>
            <a:pPr marL="393700" indent="-381000">
              <a:lnSpc>
                <a:spcPct val="100000"/>
              </a:lnSpc>
              <a:spcBef>
                <a:spcPts val="1520"/>
              </a:spcBef>
              <a:buChar char="•"/>
              <a:tabLst>
                <a:tab pos="393700" algn="l"/>
              </a:tabLst>
            </a:pPr>
            <a:r>
              <a:rPr sz="1800" dirty="0">
                <a:latin typeface="Arial MT"/>
                <a:cs typeface="Arial MT"/>
              </a:rPr>
              <a:t>How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mutation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affect?</a:t>
            </a:r>
            <a:endParaRPr sz="1800" dirty="0">
              <a:latin typeface="Arial MT"/>
              <a:cs typeface="Arial MT"/>
            </a:endParaRPr>
          </a:p>
          <a:p>
            <a:pPr marL="393700" indent="-381000">
              <a:lnSpc>
                <a:spcPct val="100000"/>
              </a:lnSpc>
              <a:spcBef>
                <a:spcPts val="1520"/>
              </a:spcBef>
              <a:buChar char="•"/>
              <a:tabLst>
                <a:tab pos="393700" algn="l"/>
              </a:tabLst>
            </a:pPr>
            <a:r>
              <a:rPr sz="1800" dirty="0">
                <a:latin typeface="Arial MT"/>
                <a:cs typeface="Arial MT"/>
              </a:rPr>
              <a:t>Where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fail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collect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sequence</a:t>
            </a:r>
            <a:r>
              <a:rPr sz="1800" spc="-10" dirty="0">
                <a:latin typeface="Arial MT"/>
                <a:cs typeface="Arial MT"/>
              </a:rPr>
              <a:t> coverage?</a:t>
            </a:r>
            <a:endParaRPr sz="1800" dirty="0">
              <a:latin typeface="Arial MT"/>
              <a:cs typeface="Arial MT"/>
            </a:endParaRPr>
          </a:p>
          <a:p>
            <a:pPr marL="393700" indent="-381000">
              <a:lnSpc>
                <a:spcPct val="100000"/>
              </a:lnSpc>
              <a:spcBef>
                <a:spcPts val="1450"/>
              </a:spcBef>
              <a:buChar char="•"/>
              <a:tabLst>
                <a:tab pos="393700" algn="l"/>
              </a:tabLst>
            </a:pPr>
            <a:r>
              <a:rPr sz="1800" dirty="0">
                <a:latin typeface="Arial MT"/>
                <a:cs typeface="Arial MT"/>
              </a:rPr>
              <a:t>Is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favorite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feature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significantly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correlated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some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feature?</a:t>
            </a:r>
            <a:endParaRPr sz="1800" dirty="0">
              <a:latin typeface="Arial MT"/>
              <a:cs typeface="Arial MT"/>
            </a:endParaRPr>
          </a:p>
          <a:p>
            <a:pPr marL="393700" indent="-381000">
              <a:lnSpc>
                <a:spcPct val="100000"/>
              </a:lnSpc>
              <a:spcBef>
                <a:spcPts val="1520"/>
              </a:spcBef>
              <a:buChar char="•"/>
              <a:tabLst>
                <a:tab pos="393700" algn="l"/>
              </a:tabLst>
            </a:pPr>
            <a:r>
              <a:rPr sz="1800" dirty="0">
                <a:latin typeface="Arial MT"/>
                <a:cs typeface="Arial MT"/>
              </a:rPr>
              <a:t>What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density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variants 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"windows"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along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genome?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0"/>
              </a:spcBef>
            </a:pPr>
            <a:r>
              <a:t>Assignment:</a:t>
            </a:r>
            <a:r>
              <a:rPr spc="-45"/>
              <a:t> </a:t>
            </a:r>
            <a:r>
              <a:t>work</a:t>
            </a:r>
            <a:r>
              <a:rPr spc="-20"/>
              <a:t> </a:t>
            </a:r>
            <a:r>
              <a:t>through</a:t>
            </a:r>
            <a:r>
              <a:rPr spc="-35"/>
              <a:t> </a:t>
            </a:r>
            <a:r>
              <a:t>the</a:t>
            </a:r>
            <a:r>
              <a:rPr spc="-35"/>
              <a:t> </a:t>
            </a:r>
            <a:r>
              <a:t>bedtools</a:t>
            </a:r>
            <a:r>
              <a:rPr spc="-20"/>
              <a:t> </a:t>
            </a:r>
            <a:r>
              <a:rPr spc="-10"/>
              <a:t>tutorial.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295" y="4142740"/>
            <a:ext cx="786384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20">
                <a:latin typeface="Arial MT"/>
                <a:cs typeface="Arial MT"/>
              </a:rPr>
              <a:t>Non-</a:t>
            </a:r>
            <a:r>
              <a:rPr sz="2100" spc="-10">
                <a:latin typeface="Arial MT"/>
                <a:cs typeface="Arial MT"/>
              </a:rPr>
              <a:t>interactive</a:t>
            </a:r>
            <a:r>
              <a:rPr sz="2100" spc="-55">
                <a:latin typeface="Arial MT"/>
                <a:cs typeface="Arial MT"/>
              </a:rPr>
              <a:t> </a:t>
            </a:r>
            <a:r>
              <a:rPr sz="2100">
                <a:latin typeface="Arial MT"/>
                <a:cs typeface="Arial MT"/>
              </a:rPr>
              <a:t>version:</a:t>
            </a:r>
            <a:r>
              <a:rPr sz="2100" spc="-65">
                <a:latin typeface="Arial MT"/>
                <a:cs typeface="Arial MT"/>
              </a:rPr>
              <a:t> </a:t>
            </a:r>
            <a:r>
              <a:rPr sz="2100" spc="-10">
                <a:latin typeface="Arial MT"/>
                <a:cs typeface="Arial MT"/>
                <a:hlinkClick r:id="rId2"/>
              </a:rPr>
              <a:t>http://quinlanlab.org/tutorials/bedtools.html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534" y="1982088"/>
            <a:ext cx="568007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>
                <a:latin typeface="Arial MT"/>
                <a:cs typeface="Arial MT"/>
              </a:rPr>
              <a:t>https://sandbox.bio/tutorials/bedtools-intro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1270</TotalTime>
  <Words>2021</Words>
  <Application>Microsoft Macintosh PowerPoint</Application>
  <PresentationFormat>On-screen Show (16:9)</PresentationFormat>
  <Paragraphs>1049</Paragraphs>
  <Slides>39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Aptos</vt:lpstr>
      <vt:lpstr>Arial</vt:lpstr>
      <vt:lpstr>Arial MT</vt:lpstr>
      <vt:lpstr>Calibri</vt:lpstr>
      <vt:lpstr>Consolas</vt:lpstr>
      <vt:lpstr>Courier New</vt:lpstr>
      <vt:lpstr>Economica</vt:lpstr>
      <vt:lpstr>Gill Sans</vt:lpstr>
      <vt:lpstr>Lato</vt:lpstr>
      <vt:lpstr>Open Sans</vt:lpstr>
      <vt:lpstr>Times New Roman</vt:lpstr>
      <vt:lpstr>Office Theme</vt:lpstr>
      <vt:lpstr>Genome Arithmetic and Bedtools </vt:lpstr>
      <vt:lpstr>A common class of problems:</vt:lpstr>
      <vt:lpstr>What is a genome interval?</vt:lpstr>
      <vt:lpstr>BED (browser extensible data) format</vt:lpstr>
      <vt:lpstr>BED annotations also support "names" or "labels" (4th column)</vt:lpstr>
      <vt:lpstr>GFF/GTF format</vt:lpstr>
      <vt:lpstr>Examples of genome intervals</vt:lpstr>
      <vt:lpstr>Genome arithmetic</vt:lpstr>
      <vt:lpstr>Genome arithmetic operations</vt:lpstr>
      <vt:lpstr>Genome arithmetic operations</vt:lpstr>
      <vt:lpstr>Genome arithmetic operations</vt:lpstr>
      <vt:lpstr>Genome arithmetic operations</vt:lpstr>
      <vt:lpstr>Genome arithmetic operations</vt:lpstr>
      <vt:lpstr>Genome arithmetic operations</vt:lpstr>
      <vt:lpstr>Genome arithmetic operations</vt:lpstr>
      <vt:lpstr>Do two intervals intersect (overlap)?</vt:lpstr>
      <vt:lpstr>Do two intervals intersect (overlap)? A simpler way</vt:lpstr>
      <vt:lpstr>Do two intervals intersect (overlap)? A simpler way</vt:lpstr>
      <vt:lpstr>Manipulation of SAM/BAM and BED files</vt:lpstr>
      <vt:lpstr>Bedtools: a swiss army knife for genome analysis</vt:lpstr>
      <vt:lpstr>Supports most interval formats &amp; handles diff. coordinate systems</vt:lpstr>
      <vt:lpstr>Unsorted data is slow!</vt:lpstr>
      <vt:lpstr>Unsorted data is slow!</vt:lpstr>
      <vt:lpstr>Unsorted data is slow!</vt:lpstr>
      <vt:lpstr>Unsorted data is slow!</vt:lpstr>
      <vt:lpstr>Unsorted data is slow!</vt:lpstr>
      <vt:lpstr>Unsorted data is slow!</vt:lpstr>
      <vt:lpstr>Unsorted data is slow!</vt:lpstr>
      <vt:lpstr>Unsorted data is slow!</vt:lpstr>
      <vt:lpstr>Sorting the files helps!</vt:lpstr>
      <vt:lpstr>Sorting the files helps!</vt:lpstr>
      <vt:lpstr>Sorting the files helps!</vt:lpstr>
      <vt:lpstr>Data….</vt:lpstr>
      <vt:lpstr>Genome arithmetic depends upon the genome and the  coordinate system</vt:lpstr>
      <vt:lpstr>Genomic coordinates – 1 vs 0 based</vt:lpstr>
      <vt:lpstr>Genome builds</vt:lpstr>
      <vt:lpstr>PowerPoint Presentation</vt:lpstr>
      <vt:lpstr>Bedtools: example analyses</vt:lpstr>
      <vt:lpstr>Assignment: work through the bedtools tutorial.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Gomez, Felicia</cp:lastModifiedBy>
  <cp:revision>4</cp:revision>
  <dcterms:created xsi:type="dcterms:W3CDTF">2025-11-10T00:25:43Z</dcterms:created>
  <dcterms:modified xsi:type="dcterms:W3CDTF">2025-11-13T04:25:21Z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2025-01-15T00:00:00Z</vt:filetime>
  </property>
  <property fmtid="{D5CDD505-2E9C-101B-9397-08002B2CF9AE}" pid="3" name="LastSaved">
    <vt:filetime>2025-11-10T00:00:00Z</vt:filetime>
  </property>
</Properties>
</file>